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nue-1.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0908">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10515600" cy="365760"/>
          </a:xfrm>
          <a:prstGeom prst="rect">
            <a:avLst/>
          </a:prstGeom>
          <a:noFill/>
        </p:spPr>
        <p:txBody>
          <a:bodyPr wrap="square" lIns="0" rIns="0" tIns="0" bIns="0" anchor="t">
            <a:spAutoFit/>
          </a:bodyPr>
          <a:lstStyle/>
          <a:p>
            <a:pPr algn="l"/>
            <a:r>
              <a:rPr sz="1000" b="0" i="0" spc="400">
                <a:solidFill>
                  <a:srgbClr val="F0C674"/>
                </a:solidFill>
                <a:latin typeface="JetBrains Mono"/>
              </a:rPr>
              <a:t>AN IMMERSIVE THEATRE EXPERIENCE · LOS ANGELES · 2026</a:t>
            </a:r>
          </a:p>
        </p:txBody>
      </p:sp>
      <p:cxnSp>
        <p:nvCxnSpPr>
          <p:cNvPr id="6" name="Connector 5"/>
          <p:cNvCxnSpPr/>
          <p:nvPr/>
        </p:nvCxnSpPr>
        <p:spPr>
          <a:xfrm>
            <a:off x="731520" y="1051560"/>
            <a:ext cx="1828800" cy="0"/>
          </a:xfrm>
          <a:prstGeom prst="line">
            <a:avLst/>
          </a:prstGeom>
          <a:ln w="9525">
            <a:solidFill>
              <a:srgbClr val="F0C67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331720"/>
            <a:ext cx="10515600" cy="1828800"/>
          </a:xfrm>
          <a:prstGeom prst="rect">
            <a:avLst/>
          </a:prstGeom>
          <a:noFill/>
        </p:spPr>
        <p:txBody>
          <a:bodyPr wrap="square" lIns="0" rIns="0" tIns="0" bIns="0" anchor="t">
            <a:spAutoFit/>
          </a:bodyPr>
          <a:lstStyle/>
          <a:p>
            <a:pPr algn="l"/>
            <a:r>
              <a:rPr sz="7200" b="0" i="1">
                <a:solidFill>
                  <a:srgbClr val="F0C674"/>
                </a:solidFill>
                <a:latin typeface="Playfair Display"/>
              </a:rPr>
              <a:t>If I Awaken in Los Angeles</a:t>
            </a:r>
          </a:p>
        </p:txBody>
      </p:sp>
      <p:cxnSp>
        <p:nvCxnSpPr>
          <p:cNvPr id="8" name="Connector 7"/>
          <p:cNvCxnSpPr/>
          <p:nvPr/>
        </p:nvCxnSpPr>
        <p:spPr>
          <a:xfrm>
            <a:off x="731520" y="6263640"/>
            <a:ext cx="1828800" cy="0"/>
          </a:xfrm>
          <a:prstGeom prst="line">
            <a:avLst/>
          </a:prstGeom>
          <a:ln w="9525">
            <a:solidFill>
              <a:srgbClr val="F0C67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6355080"/>
            <a:ext cx="10515600" cy="365760"/>
          </a:xfrm>
          <a:prstGeom prst="rect">
            <a:avLst/>
          </a:prstGeom>
          <a:noFill/>
        </p:spPr>
        <p:txBody>
          <a:bodyPr wrap="square" lIns="0" rIns="0" tIns="0" bIns="0" anchor="t">
            <a:spAutoFit/>
          </a:bodyPr>
          <a:lstStyle/>
          <a:p>
            <a:pPr algn="l"/>
            <a:r>
              <a:rPr sz="1000" b="0" i="0" spc="400">
                <a:solidFill>
                  <a:srgbClr val="F0C674"/>
                </a:solidFill>
                <a:latin typeface="JetBrains Mono"/>
              </a:rPr>
              <a:t>ANDREW SCOVILLE   ·   DERRICK HODGE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pace1-3.jpg"/>
          <p:cNvPicPr>
            <a:picLocks noChangeAspect="1"/>
          </p:cNvPicPr>
          <p:nvPr/>
        </p:nvPicPr>
        <p:blipFill>
          <a:blip r:embed="rId2"/>
          <a:stretch>
            <a:fillRect/>
          </a:stretch>
        </p:blipFill>
        <p:spPr>
          <a:xfrm>
            <a:off x="0" y="0"/>
            <a:ext cx="5669280" cy="6858000"/>
          </a:xfrm>
          <a:prstGeom prst="rect">
            <a:avLst/>
          </a:prstGeom>
        </p:spPr>
      </p:pic>
      <p:sp>
        <p:nvSpPr>
          <p:cNvPr id="4" name="Rectangle 3"/>
          <p:cNvSpPr/>
          <p:nvPr/>
        </p:nvSpPr>
        <p:spPr>
          <a:xfrm>
            <a:off x="0" y="0"/>
            <a:ext cx="5669280" cy="6858000"/>
          </a:xfrm>
          <a:prstGeom prst="rect">
            <a:avLst/>
          </a:prstGeom>
          <a:solidFill>
            <a:srgbClr val="0A0908">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0" y="640080"/>
            <a:ext cx="5486400" cy="365760"/>
          </a:xfrm>
          <a:prstGeom prst="rect">
            <a:avLst/>
          </a:prstGeom>
          <a:noFill/>
        </p:spPr>
        <p:txBody>
          <a:bodyPr wrap="square" lIns="0" rIns="0" tIns="0" bIns="0" anchor="t">
            <a:spAutoFit/>
          </a:bodyPr>
          <a:lstStyle/>
          <a:p>
            <a:pPr algn="l"/>
            <a:r>
              <a:rPr sz="1000" b="0" i="0" spc="400">
                <a:solidFill>
                  <a:srgbClr val="D4A24C"/>
                </a:solidFill>
                <a:latin typeface="JetBrains Mono"/>
              </a:rPr>
              <a:t>02 · THE JOURNEY</a:t>
            </a:r>
          </a:p>
        </p:txBody>
      </p:sp>
      <p:cxnSp>
        <p:nvCxnSpPr>
          <p:cNvPr id="6" name="Connector 5"/>
          <p:cNvCxnSpPr/>
          <p:nvPr/>
        </p:nvCxnSpPr>
        <p:spPr>
          <a:xfrm>
            <a:off x="6126480" y="1051560"/>
            <a:ext cx="1280160" cy="0"/>
          </a:xfrm>
          <a:prstGeom prst="line">
            <a:avLst/>
          </a:prstGeom>
          <a:ln w="9525">
            <a:solidFill>
              <a:srgbClr val="D4A24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0" y="1325880"/>
            <a:ext cx="5486400" cy="1463040"/>
          </a:xfrm>
          <a:prstGeom prst="rect">
            <a:avLst/>
          </a:prstGeom>
          <a:noFill/>
        </p:spPr>
        <p:txBody>
          <a:bodyPr wrap="square" lIns="0" rIns="0" tIns="0" bIns="0" anchor="t">
            <a:spAutoFit/>
          </a:bodyPr>
          <a:lstStyle/>
          <a:p>
            <a:pPr algn="l"/>
            <a:r>
              <a:rPr sz="3000" b="0" i="1">
                <a:solidFill>
                  <a:srgbClr val="F0C674"/>
                </a:solidFill>
                <a:latin typeface="Playfair Display"/>
              </a:rPr>
              <a:t>From the red carpet</a:t>
            </a:r>
          </a:p>
          <a:p>
            <a:pPr algn="l"/>
            <a:r>
              <a:rPr sz="3000" b="0" i="1">
                <a:solidFill>
                  <a:srgbClr val="F0C674"/>
                </a:solidFill>
                <a:latin typeface="Playfair Display"/>
              </a:rPr>
              <a:t>to the real LA.</a:t>
            </a:r>
          </a:p>
        </p:txBody>
      </p:sp>
      <p:sp>
        <p:nvSpPr>
          <p:cNvPr id="8" name="TextBox 7"/>
          <p:cNvSpPr txBox="1"/>
          <p:nvPr/>
        </p:nvSpPr>
        <p:spPr>
          <a:xfrm>
            <a:off x="6126480" y="2926080"/>
            <a:ext cx="5486400" cy="3108960"/>
          </a:xfrm>
          <a:prstGeom prst="rect">
            <a:avLst/>
          </a:prstGeom>
          <a:noFill/>
        </p:spPr>
        <p:txBody>
          <a:bodyPr wrap="square" lIns="0" rIns="0" tIns="0" bIns="0" anchor="t">
            <a:spAutoFit/>
          </a:bodyPr>
          <a:lstStyle/>
          <a:p>
            <a:pPr algn="l"/>
            <a:r>
              <a:rPr sz="1200" b="0" i="0">
                <a:solidFill>
                  <a:srgbClr val="ECE4D4"/>
                </a:solidFill>
                <a:latin typeface="Archivo"/>
              </a:rPr>
              <a:t>Starting on the red carpet — every guest photographed on entry — we walk an audience of 150 through Hollywood Boulevard, then deeper. Past the marquee, past the Walk of Fame, into Boyle Heights. Into the five Asian neighborhoods that line the freeway. Into Black LA across a century — from the gospel church to the breakdance cypher to the Leimert Park drum circle. Into a Laurel Canyon living room where the band sits down on the floor with us. Onto a single classical stage where the company arrives one by one. And finally back through the corridor we entered — but this time, the wall is made of the audience's own faces.</a:t>
            </a:r>
          </a:p>
        </p:txBody>
      </p:sp>
      <p:cxnSp>
        <p:nvCxnSpPr>
          <p:cNvPr id="9" name="Connector 8"/>
          <p:cNvCxnSpPr/>
          <p:nvPr/>
        </p:nvCxnSpPr>
        <p:spPr>
          <a:xfrm>
            <a:off x="6126480" y="5943600"/>
            <a:ext cx="1280160" cy="0"/>
          </a:xfrm>
          <a:prstGeom prst="line">
            <a:avLst/>
          </a:prstGeom>
          <a:ln w="9525">
            <a:solidFill>
              <a:srgbClr val="D4A24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26480" y="6035040"/>
            <a:ext cx="5486400" cy="457200"/>
          </a:xfrm>
          <a:prstGeom prst="rect">
            <a:avLst/>
          </a:prstGeom>
          <a:noFill/>
        </p:spPr>
        <p:txBody>
          <a:bodyPr wrap="square" lIns="0" rIns="0" tIns="0" bIns="0" anchor="t">
            <a:spAutoFit/>
          </a:bodyPr>
          <a:lstStyle/>
          <a:p>
            <a:pPr algn="l"/>
            <a:r>
              <a:rPr sz="900" b="0" i="0" spc="350">
                <a:solidFill>
                  <a:srgbClr val="D4A24C"/>
                </a:solidFill>
                <a:latin typeface="JetBrains Mono"/>
              </a:rPr>
              <a:t>SEVEN NEIGHBORHOODS · ONE AUDIENCE</a:t>
            </a:r>
          </a:p>
        </p:txBody>
      </p:sp>
      <p:sp>
        <p:nvSpPr>
          <p:cNvPr id="11" name="TextBox 10"/>
          <p:cNvSpPr txBox="1"/>
          <p:nvPr/>
        </p:nvSpPr>
        <p:spPr>
          <a:xfrm>
            <a:off x="6126480" y="6355080"/>
            <a:ext cx="5486400" cy="365760"/>
          </a:xfrm>
          <a:prstGeom prst="rect">
            <a:avLst/>
          </a:prstGeom>
          <a:noFill/>
        </p:spPr>
        <p:txBody>
          <a:bodyPr wrap="square" lIns="0" rIns="0" tIns="0" bIns="0" anchor="t">
            <a:spAutoFit/>
          </a:bodyPr>
          <a:lstStyle/>
          <a:p>
            <a:pPr algn="l"/>
            <a:r>
              <a:rPr sz="900" b="0" i="0" spc="350">
                <a:solidFill>
                  <a:srgbClr val="D4A24C"/>
                </a:solidFill>
                <a:latin typeface="JetBrains Mono"/>
              </a:rPr>
              <a:t>ONE HUNDRED MINUTES · ONE CONTINUOUS WALK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515600" cy="365760"/>
          </a:xfrm>
          <a:prstGeom prst="rect">
            <a:avLst/>
          </a:prstGeom>
          <a:noFill/>
        </p:spPr>
        <p:txBody>
          <a:bodyPr wrap="square" lIns="0" rIns="0" tIns="0" bIns="0" anchor="t">
            <a:spAutoFit/>
          </a:bodyPr>
          <a:lstStyle/>
          <a:p>
            <a:pPr algn="l"/>
            <a:r>
              <a:rPr sz="1100" b="0" i="0" spc="400">
                <a:solidFill>
                  <a:srgbClr val="D4A24C"/>
                </a:solidFill>
                <a:latin typeface="JetBrains Mono"/>
              </a:rPr>
              <a:t>03 · THE THESIS</a:t>
            </a:r>
          </a:p>
        </p:txBody>
      </p:sp>
      <p:cxnSp>
        <p:nvCxnSpPr>
          <p:cNvPr id="4" name="Connector 3"/>
          <p:cNvCxnSpPr/>
          <p:nvPr/>
        </p:nvCxnSpPr>
        <p:spPr>
          <a:xfrm>
            <a:off x="731520" y="1051560"/>
            <a:ext cx="1828800" cy="0"/>
          </a:xfrm>
          <a:prstGeom prst="line">
            <a:avLst/>
          </a:prstGeom>
          <a:ln w="9525">
            <a:solidFill>
              <a:srgbClr val="D4A2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371600"/>
            <a:ext cx="10515600" cy="1280160"/>
          </a:xfrm>
          <a:prstGeom prst="rect">
            <a:avLst/>
          </a:prstGeom>
          <a:noFill/>
        </p:spPr>
        <p:txBody>
          <a:bodyPr wrap="square" lIns="0" rIns="0" tIns="0" bIns="0" anchor="t">
            <a:spAutoFit/>
          </a:bodyPr>
          <a:lstStyle/>
          <a:p>
            <a:pPr algn="l"/>
            <a:r>
              <a:rPr sz="4600" b="0" i="1">
                <a:solidFill>
                  <a:srgbClr val="F0C674"/>
                </a:solidFill>
                <a:latin typeface="Playfair Display"/>
              </a:rPr>
              <a:t>LA is more than Hollywood.</a:t>
            </a:r>
          </a:p>
        </p:txBody>
      </p:sp>
      <p:sp>
        <p:nvSpPr>
          <p:cNvPr id="6" name="TextBox 5"/>
          <p:cNvSpPr txBox="1"/>
          <p:nvPr/>
        </p:nvSpPr>
        <p:spPr>
          <a:xfrm>
            <a:off x="731520" y="2468880"/>
            <a:ext cx="10515600" cy="548640"/>
          </a:xfrm>
          <a:prstGeom prst="rect">
            <a:avLst/>
          </a:prstGeom>
          <a:noFill/>
        </p:spPr>
        <p:txBody>
          <a:bodyPr wrap="square" lIns="0" rIns="0" tIns="0" bIns="0" anchor="t">
            <a:spAutoFit/>
          </a:bodyPr>
          <a:lstStyle/>
          <a:p>
            <a:pPr algn="l"/>
            <a:r>
              <a:rPr sz="2000" b="0" i="1">
                <a:solidFill>
                  <a:srgbClr val="ECE4D4"/>
                </a:solidFill>
                <a:latin typeface="Playfair Display"/>
              </a:rPr>
              <a:t>It is the people. It is the cultures. We put the audience inside both.</a:t>
            </a:r>
          </a:p>
        </p:txBody>
      </p:sp>
      <p:sp>
        <p:nvSpPr>
          <p:cNvPr id="7" name="TextBox 6"/>
          <p:cNvSpPr txBox="1"/>
          <p:nvPr/>
        </p:nvSpPr>
        <p:spPr>
          <a:xfrm>
            <a:off x="731520" y="3337560"/>
            <a:ext cx="10515600" cy="914400"/>
          </a:xfrm>
          <a:prstGeom prst="rect">
            <a:avLst/>
          </a:prstGeom>
          <a:noFill/>
        </p:spPr>
        <p:txBody>
          <a:bodyPr wrap="square" lIns="0" rIns="0" tIns="0" bIns="0" anchor="t">
            <a:spAutoFit/>
          </a:bodyPr>
          <a:lstStyle/>
          <a:p>
            <a:pPr algn="l"/>
            <a:r>
              <a:rPr sz="1400" b="0" i="1">
                <a:solidFill>
                  <a:srgbClr val="A89C84"/>
                </a:solidFill>
                <a:latin typeface="Archivo"/>
              </a:rPr>
              <a:t>This isn't a show about Los Angeles. It places its audience inside the actual neighborhoods, with the actual people, with the actual music — at theatre scale.</a:t>
            </a:r>
          </a:p>
        </p:txBody>
      </p:sp>
      <p:sp>
        <p:nvSpPr>
          <p:cNvPr id="8" name="TextBox 7"/>
          <p:cNvSpPr txBox="1"/>
          <p:nvPr/>
        </p:nvSpPr>
        <p:spPr>
          <a:xfrm>
            <a:off x="731520" y="4434840"/>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30,100 sq ft</a:t>
            </a:r>
          </a:p>
        </p:txBody>
      </p:sp>
      <p:sp>
        <p:nvSpPr>
          <p:cNvPr id="9" name="TextBox 8"/>
          <p:cNvSpPr txBox="1"/>
          <p:nvPr/>
        </p:nvSpPr>
        <p:spPr>
          <a:xfrm>
            <a:off x="3657600" y="4434840"/>
            <a:ext cx="7315200" cy="320040"/>
          </a:xfrm>
          <a:prstGeom prst="rect">
            <a:avLst/>
          </a:prstGeom>
          <a:noFill/>
        </p:spPr>
        <p:txBody>
          <a:bodyPr wrap="square" lIns="0" rIns="0" tIns="0" bIns="0" anchor="t">
            <a:spAutoFit/>
          </a:bodyPr>
          <a:lstStyle/>
          <a:p>
            <a:pPr algn="l"/>
            <a:r>
              <a:rPr sz="1200" b="0" i="0">
                <a:solidFill>
                  <a:srgbClr val="ECE4D4"/>
                </a:solidFill>
                <a:latin typeface="Archivo"/>
              </a:rPr>
              <a:t>raw studio · Arts District, Los Angeles</a:t>
            </a:r>
          </a:p>
        </p:txBody>
      </p:sp>
      <p:sp>
        <p:nvSpPr>
          <p:cNvPr id="10" name="TextBox 9"/>
          <p:cNvSpPr txBox="1"/>
          <p:nvPr/>
        </p:nvSpPr>
        <p:spPr>
          <a:xfrm>
            <a:off x="731520" y="4727448"/>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150</a:t>
            </a:r>
          </a:p>
        </p:txBody>
      </p:sp>
      <p:sp>
        <p:nvSpPr>
          <p:cNvPr id="11" name="TextBox 10"/>
          <p:cNvSpPr txBox="1"/>
          <p:nvPr/>
        </p:nvSpPr>
        <p:spPr>
          <a:xfrm>
            <a:off x="3657600" y="4727448"/>
            <a:ext cx="7315200" cy="320040"/>
          </a:xfrm>
          <a:prstGeom prst="rect">
            <a:avLst/>
          </a:prstGeom>
          <a:noFill/>
        </p:spPr>
        <p:txBody>
          <a:bodyPr wrap="square" lIns="0" rIns="0" tIns="0" bIns="0" anchor="t">
            <a:spAutoFit/>
          </a:bodyPr>
          <a:lstStyle/>
          <a:p>
            <a:pPr algn="l"/>
            <a:r>
              <a:rPr sz="1200" b="0" i="0">
                <a:solidFill>
                  <a:srgbClr val="ECE4D4"/>
                </a:solidFill>
                <a:latin typeface="Archivo"/>
              </a:rPr>
              <a:t>guests per performance</a:t>
            </a:r>
          </a:p>
        </p:txBody>
      </p:sp>
      <p:sp>
        <p:nvSpPr>
          <p:cNvPr id="12" name="TextBox 11"/>
          <p:cNvSpPr txBox="1"/>
          <p:nvPr/>
        </p:nvSpPr>
        <p:spPr>
          <a:xfrm>
            <a:off x="731520" y="5020056"/>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100 min</a:t>
            </a:r>
          </a:p>
        </p:txBody>
      </p:sp>
      <p:sp>
        <p:nvSpPr>
          <p:cNvPr id="13" name="TextBox 12"/>
          <p:cNvSpPr txBox="1"/>
          <p:nvPr/>
        </p:nvSpPr>
        <p:spPr>
          <a:xfrm>
            <a:off x="3657600" y="5020056"/>
            <a:ext cx="7315200" cy="320040"/>
          </a:xfrm>
          <a:prstGeom prst="rect">
            <a:avLst/>
          </a:prstGeom>
          <a:noFill/>
        </p:spPr>
        <p:txBody>
          <a:bodyPr wrap="square" lIns="0" rIns="0" tIns="0" bIns="0" anchor="t">
            <a:spAutoFit/>
          </a:bodyPr>
          <a:lstStyle/>
          <a:p>
            <a:pPr algn="l"/>
            <a:r>
              <a:rPr sz="1200" b="0" i="0">
                <a:solidFill>
                  <a:srgbClr val="ECE4D4"/>
                </a:solidFill>
                <a:latin typeface="Archivo"/>
              </a:rPr>
              <a:t>end-to-end · seven spaces, one arc</a:t>
            </a:r>
          </a:p>
        </p:txBody>
      </p:sp>
      <p:sp>
        <p:nvSpPr>
          <p:cNvPr id="14" name="TextBox 13"/>
          <p:cNvSpPr txBox="1"/>
          <p:nvPr/>
        </p:nvSpPr>
        <p:spPr>
          <a:xfrm>
            <a:off x="731520" y="5312664"/>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12 / week</a:t>
            </a:r>
          </a:p>
        </p:txBody>
      </p:sp>
      <p:sp>
        <p:nvSpPr>
          <p:cNvPr id="15" name="TextBox 14"/>
          <p:cNvSpPr txBox="1"/>
          <p:nvPr/>
        </p:nvSpPr>
        <p:spPr>
          <a:xfrm>
            <a:off x="3657600" y="5312664"/>
            <a:ext cx="7315200" cy="320040"/>
          </a:xfrm>
          <a:prstGeom prst="rect">
            <a:avLst/>
          </a:prstGeom>
          <a:noFill/>
        </p:spPr>
        <p:txBody>
          <a:bodyPr wrap="square" lIns="0" rIns="0" tIns="0" bIns="0" anchor="t">
            <a:spAutoFit/>
          </a:bodyPr>
          <a:lstStyle/>
          <a:p>
            <a:pPr algn="l"/>
            <a:r>
              <a:rPr sz="1200" b="0" i="0">
                <a:solidFill>
                  <a:srgbClr val="ECE4D4"/>
                </a:solidFill>
                <a:latin typeface="Archivo"/>
              </a:rPr>
              <a:t>performances · Tuesday through Sunday</a:t>
            </a:r>
          </a:p>
        </p:txBody>
      </p:sp>
      <p:sp>
        <p:nvSpPr>
          <p:cNvPr id="16" name="TextBox 15"/>
          <p:cNvSpPr txBox="1"/>
          <p:nvPr/>
        </p:nvSpPr>
        <p:spPr>
          <a:xfrm>
            <a:off x="731520" y="5605272"/>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14+ month</a:t>
            </a:r>
          </a:p>
        </p:txBody>
      </p:sp>
      <p:sp>
        <p:nvSpPr>
          <p:cNvPr id="17" name="TextBox 16"/>
          <p:cNvSpPr txBox="1"/>
          <p:nvPr/>
        </p:nvSpPr>
        <p:spPr>
          <a:xfrm>
            <a:off x="3657600" y="5605272"/>
            <a:ext cx="7315200" cy="320040"/>
          </a:xfrm>
          <a:prstGeom prst="rect">
            <a:avLst/>
          </a:prstGeom>
          <a:noFill/>
        </p:spPr>
        <p:txBody>
          <a:bodyPr wrap="square" lIns="0" rIns="0" tIns="0" bIns="0" anchor="t">
            <a:spAutoFit/>
          </a:bodyPr>
          <a:lstStyle/>
          <a:p>
            <a:pPr algn="l"/>
            <a:r>
              <a:rPr sz="1200" b="0" i="0">
                <a:solidFill>
                  <a:srgbClr val="ECE4D4"/>
                </a:solidFill>
                <a:latin typeface="Archivo"/>
              </a:rPr>
              <a:t>production run · June 2026 — August 2027</a:t>
            </a:r>
          </a:p>
        </p:txBody>
      </p:sp>
      <p:sp>
        <p:nvSpPr>
          <p:cNvPr id="18" name="TextBox 17"/>
          <p:cNvSpPr txBox="1"/>
          <p:nvPr/>
        </p:nvSpPr>
        <p:spPr>
          <a:xfrm>
            <a:off x="731520" y="5897880"/>
            <a:ext cx="2926080" cy="320040"/>
          </a:xfrm>
          <a:prstGeom prst="rect">
            <a:avLst/>
          </a:prstGeom>
          <a:noFill/>
        </p:spPr>
        <p:txBody>
          <a:bodyPr wrap="square" lIns="0" rIns="0" tIns="0" bIns="0" anchor="t">
            <a:spAutoFit/>
          </a:bodyPr>
          <a:lstStyle/>
          <a:p>
            <a:pPr algn="l"/>
            <a:r>
              <a:rPr sz="1600" b="0" i="1">
                <a:solidFill>
                  <a:srgbClr val="D4A24C"/>
                </a:solidFill>
                <a:latin typeface="Playfair Display"/>
              </a:rPr>
              <a:t>7</a:t>
            </a:r>
          </a:p>
        </p:txBody>
      </p:sp>
      <p:sp>
        <p:nvSpPr>
          <p:cNvPr id="19" name="TextBox 18"/>
          <p:cNvSpPr txBox="1"/>
          <p:nvPr/>
        </p:nvSpPr>
        <p:spPr>
          <a:xfrm>
            <a:off x="3657600" y="5897880"/>
            <a:ext cx="7315200" cy="320040"/>
          </a:xfrm>
          <a:prstGeom prst="rect">
            <a:avLst/>
          </a:prstGeom>
          <a:noFill/>
        </p:spPr>
        <p:txBody>
          <a:bodyPr wrap="square" lIns="0" rIns="0" tIns="0" bIns="0" anchor="t">
            <a:spAutoFit/>
          </a:bodyPr>
          <a:lstStyle/>
          <a:p>
            <a:pPr algn="l"/>
            <a:r>
              <a:rPr sz="1200" b="0" i="0">
                <a:solidFill>
                  <a:srgbClr val="ECE4D4"/>
                </a:solidFill>
                <a:latin typeface="Archivo"/>
              </a:rPr>
              <a:t>built environments plus a lobby that doubles as theatre</a:t>
            </a:r>
          </a:p>
        </p:txBody>
      </p:sp>
      <p:cxnSp>
        <p:nvCxnSpPr>
          <p:cNvPr id="20" name="Connector 19"/>
          <p:cNvCxnSpPr/>
          <p:nvPr/>
        </p:nvCxnSpPr>
        <p:spPr>
          <a:xfrm>
            <a:off x="731520" y="6355080"/>
            <a:ext cx="1828800" cy="0"/>
          </a:xfrm>
          <a:prstGeom prst="line">
            <a:avLst/>
          </a:prstGeom>
          <a:ln w="9525">
            <a:solidFill>
              <a:srgbClr val="D4A24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6446520"/>
            <a:ext cx="10515600" cy="365760"/>
          </a:xfrm>
          <a:prstGeom prst="rect">
            <a:avLst/>
          </a:prstGeom>
          <a:noFill/>
        </p:spPr>
        <p:txBody>
          <a:bodyPr wrap="square" lIns="0" rIns="0" tIns="0" bIns="0" anchor="t">
            <a:spAutoFit/>
          </a:bodyPr>
          <a:lstStyle/>
          <a:p>
            <a:pPr algn="l"/>
            <a:r>
              <a:rPr sz="900" b="0" i="0" spc="300">
                <a:solidFill>
                  <a:srgbClr val="D4A24C"/>
                </a:solidFill>
                <a:latin typeface="JetBrains Mono"/>
              </a:rPr>
              <a:t>DIRECTION  ANDREW SCOVILLE   ·   COMPOSITION  DERRICK HODGE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