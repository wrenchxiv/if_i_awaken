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Relationship Id="rId8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w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F2EDE2"/>
                </a:solidFill>
                <a:latin typeface="JetBrains Mono"/>
              </a:rPr>
              <a:t>PITCH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180">
                <a:solidFill>
                  <a:srgbClr val="F2EDE2"/>
                </a:solidFill>
                <a:latin typeface="JetBrains Mono"/>
              </a:rPr>
              <a:t>AN IMMERSIVE THEATRICAL TOUR OF THE REAL LOS ANGELES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7680960" cy="1325880"/>
          </a:xfrm>
          <a:prstGeom prst="rect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l"/>
            <a:r>
              <a:rPr sz="8000" b="1">
                <a:solidFill>
                  <a:srgbClr val="F2EDE2"/>
                </a:solidFill>
                <a:latin typeface="Oswald"/>
              </a:rPr>
              <a:t>IF I AWAKEN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49039"/>
            <a:ext cx="6766560" cy="1325880"/>
          </a:xfrm>
          <a:prstGeom prst="rect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l"/>
            <a:r>
              <a:rPr sz="8000" b="1">
                <a:solidFill>
                  <a:srgbClr val="F2EDE2"/>
                </a:solidFill>
                <a:latin typeface="Oswald"/>
              </a:rPr>
              <a:t>LOS ANGELES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6126480"/>
            <a:ext cx="146304" cy="146304"/>
          </a:xfrm>
          <a:prstGeom prst="ellipse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08990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F2EDE2"/>
                </a:solidFill>
                <a:latin typeface="JetBrains Mono"/>
              </a:rPr>
              <a:t>OPENING JUNE 2027 · ARTS DISTRICT · LOS ANGELES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08990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180">
                <a:solidFill>
                  <a:srgbClr val="B3AEA5"/>
                </a:solidFill>
                <a:latin typeface="JetBrains Mono"/>
              </a:rPr>
              <a:t>SCROLL TO BEGIN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01 · 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B3AEA5"/>
                </a:solidFill>
                <a:latin typeface="Fraunces"/>
              </a:rPr>
              <a:t>An iconic American city without an iconic show. That must-see experience you just have to see when you're in town.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6000" b="1" i="0">
                <a:solidFill>
                  <a:srgbClr val="D63A3F"/>
                </a:solidFill>
                <a:latin typeface="Inter Tight"/>
              </a:rPr>
              <a:t>This is the show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2EDE2"/>
                </a:solidFill>
                <a:latin typeface="Inter Tight"/>
              </a:rPr>
              <a:t>Los Angeles has been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B3AEA5"/>
                </a:solidFill>
                <a:latin typeface="Fraunces"/>
              </a:rPr>
              <a:t>Unlike anything that's come before, and unlike anything you'll see again.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807D77"/>
                </a:solidFill>
                <a:latin typeface="Fraunces"/>
              </a:rPr>
              <a:t>But first, let me catch you up on what If I Awaken has accomplished so far…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5486400"/>
            <a:ext cx="10911535" cy="0"/>
          </a:xfrm>
          <a:prstGeom prst="line">
            <a:avLst/>
          </a:prstGeom>
          <a:ln w="1905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66928" y="5413248"/>
            <a:ext cx="146304" cy="146304"/>
          </a:xfrm>
          <a:prstGeom prst="ellipse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-457200" y="565099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120">
                <a:solidFill>
                  <a:srgbClr val="F2EDE2"/>
                </a:solidFill>
                <a:latin typeface="Oswald"/>
              </a:rPr>
              <a:t>THE PILOT</a:t>
            </a:r>
          </a:p>
        </p:txBody>
      </p:sp>
      <p:sp>
        <p:nvSpPr>
          <p:cNvPr id="12" name="Oval 11"/>
          <p:cNvSpPr/>
          <p:nvPr/>
        </p:nvSpPr>
        <p:spPr>
          <a:xfrm>
            <a:off x="4204106" y="5413248"/>
            <a:ext cx="146304" cy="146304"/>
          </a:xfrm>
          <a:prstGeom prst="ellipse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9978" y="565099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120">
                <a:solidFill>
                  <a:srgbClr val="F2EDE2"/>
                </a:solidFill>
                <a:latin typeface="Oswald"/>
              </a:rPr>
              <a:t>THE ALBUM</a:t>
            </a:r>
          </a:p>
        </p:txBody>
      </p:sp>
      <p:sp>
        <p:nvSpPr>
          <p:cNvPr id="14" name="Oval 13"/>
          <p:cNvSpPr/>
          <p:nvPr/>
        </p:nvSpPr>
        <p:spPr>
          <a:xfrm>
            <a:off x="7841284" y="5413248"/>
            <a:ext cx="146304" cy="146304"/>
          </a:xfrm>
          <a:prstGeom prst="ellipse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7156" y="565099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120">
                <a:solidFill>
                  <a:srgbClr val="F2EDE2"/>
                </a:solidFill>
                <a:latin typeface="Oswald"/>
              </a:rPr>
              <a:t>THE AWAKENING</a:t>
            </a:r>
          </a:p>
        </p:txBody>
      </p:sp>
      <p:sp>
        <p:nvSpPr>
          <p:cNvPr id="16" name="Oval 15"/>
          <p:cNvSpPr/>
          <p:nvPr/>
        </p:nvSpPr>
        <p:spPr>
          <a:xfrm>
            <a:off x="11478463" y="5413248"/>
            <a:ext cx="146304" cy="146304"/>
          </a:xfrm>
          <a:prstGeom prst="ellipse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565099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spc="120">
                <a:solidFill>
                  <a:srgbClr val="F2EDE2"/>
                </a:solidFill>
                <a:latin typeface="Oswald"/>
              </a:rPr>
              <a:t>THE SHOW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02 · THE HOOK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19050">
            <a:solidFill>
              <a:srgbClr val="602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466344" y="420624"/>
            <a:ext cx="164592" cy="164592"/>
          </a:xfrm>
          <a:prstGeom prst="ellipse">
            <a:avLst/>
          </a:prstGeom>
          <a:solidFill>
            <a:srgbClr val="D63A3F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457200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D63A3F"/>
                </a:solidFill>
                <a:latin typeface="JetBrains Mono"/>
              </a:rPr>
              <a:t>AUG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57200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D63A3F"/>
                </a:solidFill>
                <a:latin typeface="Oswald"/>
              </a:rPr>
              <a:t>THE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457200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1,000+ tickets · Ford</a:t>
            </a:r>
          </a:p>
        </p:txBody>
      </p:sp>
      <p:sp>
        <p:nvSpPr>
          <p:cNvPr id="7" name="Oval 6"/>
          <p:cNvSpPr/>
          <p:nvPr/>
        </p:nvSpPr>
        <p:spPr>
          <a:xfrm>
            <a:off x="4182770" y="438912"/>
            <a:ext cx="128016" cy="128016"/>
          </a:xfrm>
          <a:prstGeom prst="ellipse">
            <a:avLst/>
          </a:prstGeom>
          <a:solidFill>
            <a:srgbClr val="0A0A0A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938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807D77"/>
                </a:solidFill>
                <a:latin typeface="JetBrains Mono"/>
              </a:rPr>
              <a:t>OCT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938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2EDE2"/>
                </a:solidFill>
                <a:latin typeface="Oswald"/>
              </a:rPr>
              <a:t>THE ALBUM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938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30K listens · wk one</a:t>
            </a:r>
          </a:p>
        </p:txBody>
      </p:sp>
      <p:sp>
        <p:nvSpPr>
          <p:cNvPr id="11" name="Oval 10"/>
          <p:cNvSpPr/>
          <p:nvPr/>
        </p:nvSpPr>
        <p:spPr>
          <a:xfrm>
            <a:off x="7880908" y="438912"/>
            <a:ext cx="128016" cy="128016"/>
          </a:xfrm>
          <a:prstGeom prst="ellipse">
            <a:avLst/>
          </a:prstGeom>
          <a:solidFill>
            <a:srgbClr val="0A0A0A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9076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807D77"/>
                </a:solidFill>
                <a:latin typeface="JetBrains Mono"/>
              </a:rPr>
              <a:t>JAN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9076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2EDE2"/>
                </a:solidFill>
                <a:latin typeface="Oswald"/>
              </a:rPr>
              <a:t>THE AWAKENING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9076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1,400+ submissions</a:t>
            </a:r>
          </a:p>
        </p:txBody>
      </p:sp>
      <p:sp>
        <p:nvSpPr>
          <p:cNvPr id="15" name="Oval 14"/>
          <p:cNvSpPr/>
          <p:nvPr/>
        </p:nvSpPr>
        <p:spPr>
          <a:xfrm>
            <a:off x="11579047" y="438912"/>
            <a:ext cx="128016" cy="128016"/>
          </a:xfrm>
          <a:prstGeom prst="ellipse">
            <a:avLst/>
          </a:prstGeom>
          <a:solidFill>
            <a:srgbClr val="0A0A0A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37215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807D77"/>
                </a:solidFill>
                <a:latin typeface="JetBrains Mono"/>
              </a:rPr>
              <a:t>JUN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2EDE2"/>
                </a:solidFill>
                <a:latin typeface="Oswald"/>
              </a:rPr>
              <a:t>THE SHOW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opens · 18-mo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691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CHAPTER ONE · AUGUST 2025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1947672"/>
            <a:ext cx="2057400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210312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 spc="-15">
                <a:solidFill>
                  <a:srgbClr val="F2EDE2"/>
                </a:solidFill>
                <a:latin typeface="Oswald"/>
              </a:rPr>
              <a:t>THE PILOT.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004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F2EDE2"/>
                </a:solidFill>
                <a:latin typeface="Fraunces"/>
              </a:rPr>
              <a:t>If I Awaken in Los Angeles premiered at LA's iconic Ford Theatre, in partnership with the LA Philharmonic.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B3AEA5"/>
                </a:solidFill>
                <a:latin typeface="Inter"/>
              </a:rPr>
              <a:t>Directed by Gina Belafonte, with musical direction from multiple Grammy Award–winning composer Derrick Hodge. The show premiered to a sold-out house — with lines so long the show started thirty minutes late to accommodate the crowd trying to get 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1208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 spc="-20">
                <a:solidFill>
                  <a:srgbClr val="D63A3F"/>
                </a:solidFill>
                <a:latin typeface="Oswald"/>
              </a:rPr>
              <a:t>1,000+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89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60">
                <a:solidFill>
                  <a:srgbClr val="B3AEA5"/>
                </a:solidFill>
                <a:latin typeface="JetBrains Mono"/>
              </a:rPr>
              <a:t>TICKETS SOLD</a:t>
            </a:r>
          </a:p>
        </p:txBody>
      </p:sp>
      <p:pic>
        <p:nvPicPr>
          <p:cNvPr id="26" name="Picture 25" descr="osc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120640" cy="21945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0800" y="406908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60">
                <a:solidFill>
                  <a:srgbClr val="D63A3F"/>
                </a:solidFill>
                <a:latin typeface="JetBrains Mono"/>
              </a:rPr>
              <a:t>FEATURED ON STAGE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0" y="4389120"/>
            <a:ext cx="512064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0" y="448056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2EDE2"/>
                </a:solidFill>
                <a:latin typeface="Oswald"/>
              </a:rPr>
              <a:t>LUIS J. RODRIGUEZ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48056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3AEA5"/>
                </a:solidFill>
                <a:latin typeface="Fraunces"/>
              </a:rPr>
              <a:t>Former LA Poet Laureate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7548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2EDE2"/>
                </a:solidFill>
                <a:latin typeface="Oswald"/>
              </a:rPr>
              <a:t>SAMANTHA RIOS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7548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3AEA5"/>
                </a:solidFill>
                <a:latin typeface="Fraunces"/>
              </a:rPr>
              <a:t>Current LA Youth Poet Laureate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02920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2EDE2"/>
                </a:solidFill>
                <a:latin typeface="Oswald"/>
              </a:rPr>
              <a:t>DANTE BASCO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502920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3AEA5"/>
                </a:solidFill>
                <a:latin typeface="Fraunces"/>
              </a:rPr>
              <a:t>Hook · Avatar: The Last Airbender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303519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2EDE2"/>
                </a:solidFill>
                <a:latin typeface="Oswald"/>
              </a:rPr>
              <a:t>MENDELEYEV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5303519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3AEA5"/>
                </a:solidFill>
                <a:latin typeface="Fraunces"/>
              </a:rPr>
              <a:t>NBC's The Voice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446520"/>
            <a:ext cx="10972800" cy="329184"/>
          </a:xfrm>
          <a:prstGeom prst="rect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l"/>
            <a:r>
              <a:rPr sz="1400" b="1">
                <a:solidFill>
                  <a:srgbClr val="F2EDE2"/>
                </a:solidFill>
                <a:latin typeface="Oswald"/>
              </a:rPr>
              <a:t>" They didn't just speak about Los Angeles — they spoke as Los Angeles. 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03 · THE 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19050">
            <a:solidFill>
              <a:srgbClr val="602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502920"/>
            <a:ext cx="3698138" cy="0"/>
          </a:xfrm>
          <a:prstGeom prst="line">
            <a:avLst/>
          </a:prstGeom>
          <a:ln w="254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84632" y="438912"/>
            <a:ext cx="128016" cy="128016"/>
          </a:xfrm>
          <a:prstGeom prst="ellipse">
            <a:avLst/>
          </a:prstGeom>
          <a:solidFill>
            <a:srgbClr val="D63A3F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457200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807D77"/>
                </a:solidFill>
                <a:latin typeface="JetBrains Mono"/>
              </a:rPr>
              <a:t>AUG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457200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2EDE2"/>
                </a:solidFill>
                <a:latin typeface="Oswald"/>
              </a:rPr>
              <a:t>THE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457200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1,000+ tickets · Ford</a:t>
            </a:r>
          </a:p>
        </p:txBody>
      </p:sp>
      <p:sp>
        <p:nvSpPr>
          <p:cNvPr id="8" name="Oval 7"/>
          <p:cNvSpPr/>
          <p:nvPr/>
        </p:nvSpPr>
        <p:spPr>
          <a:xfrm>
            <a:off x="4164482" y="420624"/>
            <a:ext cx="164592" cy="164592"/>
          </a:xfrm>
          <a:prstGeom prst="ellipse">
            <a:avLst/>
          </a:prstGeom>
          <a:solidFill>
            <a:srgbClr val="D63A3F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938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D63A3F"/>
                </a:solidFill>
                <a:latin typeface="JetBrains Mono"/>
              </a:rPr>
              <a:t>OCT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938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D63A3F"/>
                </a:solidFill>
                <a:latin typeface="Oswald"/>
              </a:rPr>
              <a:t>THE ALBUM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938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30K listens · wk one</a:t>
            </a:r>
          </a:p>
        </p:txBody>
      </p:sp>
      <p:sp>
        <p:nvSpPr>
          <p:cNvPr id="12" name="Oval 11"/>
          <p:cNvSpPr/>
          <p:nvPr/>
        </p:nvSpPr>
        <p:spPr>
          <a:xfrm>
            <a:off x="7880908" y="438912"/>
            <a:ext cx="128016" cy="128016"/>
          </a:xfrm>
          <a:prstGeom prst="ellipse">
            <a:avLst/>
          </a:prstGeom>
          <a:solidFill>
            <a:srgbClr val="0A0A0A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9076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807D77"/>
                </a:solidFill>
                <a:latin typeface="JetBrains Mono"/>
              </a:rPr>
              <a:t>JAN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9076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2EDE2"/>
                </a:solidFill>
                <a:latin typeface="Oswald"/>
              </a:rPr>
              <a:t>THE AWAKENING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9076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1,400+ submissions</a:t>
            </a:r>
          </a:p>
        </p:txBody>
      </p:sp>
      <p:sp>
        <p:nvSpPr>
          <p:cNvPr id="16" name="Oval 15"/>
          <p:cNvSpPr/>
          <p:nvPr/>
        </p:nvSpPr>
        <p:spPr>
          <a:xfrm>
            <a:off x="11579047" y="438912"/>
            <a:ext cx="128016" cy="128016"/>
          </a:xfrm>
          <a:prstGeom prst="ellipse">
            <a:avLst/>
          </a:prstGeom>
          <a:solidFill>
            <a:srgbClr val="0A0A0A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37215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807D77"/>
                </a:solidFill>
                <a:latin typeface="JetBrains Mono"/>
              </a:rPr>
              <a:t>JUN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2EDE2"/>
                </a:solidFill>
                <a:latin typeface="Oswald"/>
              </a:rPr>
              <a:t>THE 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opens · 18-mo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691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CHAPTER TWO · FIRST WEEK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1947672"/>
            <a:ext cx="1975104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210312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 spc="-15">
                <a:solidFill>
                  <a:srgbClr val="F2EDE2"/>
                </a:solidFill>
                <a:latin typeface="Oswald"/>
              </a:rPr>
              <a:t>THE ALBUM.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0040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2EDE2"/>
                </a:solidFill>
                <a:latin typeface="Fraunces"/>
              </a:rPr>
              <a:t>Demand didn't stop at the stage. </a:t>
            </a:r>
            <a:r>
              <a:rPr sz="1500" b="0" i="1">
                <a:solidFill>
                  <a:srgbClr val="D63A3F"/>
                </a:solidFill>
                <a:latin typeface="Fraunces"/>
              </a:rPr>
              <a:t>It surged.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3192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B3AEA5"/>
                </a:solidFill>
                <a:latin typeface="Inter"/>
              </a:rPr>
              <a:t>2× Grammy-winning composer Derrick Hodge partnered with iconic LA voices — Jackson Browne, Cheech Marin, and Joy Harjo — to expand the show's impact far beyond the theater.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2920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 spc="-20">
                <a:solidFill>
                  <a:srgbClr val="D63A3F"/>
                </a:solidFill>
                <a:latin typeface="Oswald"/>
              </a:rPr>
              <a:t>30K+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60">
                <a:solidFill>
                  <a:srgbClr val="B3AEA5"/>
                </a:solidFill>
                <a:latin typeface="JetBrains Mono"/>
              </a:rPr>
              <a:t>LISTENS · FIRST WEEK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172200"/>
            <a:ext cx="1691640" cy="292608"/>
          </a:xfrm>
          <a:prstGeom prst="rect">
            <a:avLst/>
          </a:prstGeom>
          <a:noFill/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spc="140">
                <a:solidFill>
                  <a:srgbClr val="F2EDE2"/>
                </a:solidFill>
                <a:latin typeface="JetBrains Mono"/>
              </a:rPr>
              <a:t>▶ SPOTIFY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6172200"/>
            <a:ext cx="1691640" cy="292608"/>
          </a:xfrm>
          <a:prstGeom prst="rect">
            <a:avLst/>
          </a:prstGeom>
          <a:noFill/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spc="140">
                <a:solidFill>
                  <a:srgbClr val="F2EDE2"/>
                </a:solidFill>
                <a:latin typeface="JetBrains Mono"/>
              </a:rPr>
              <a:t>♪ APPLE MUSIC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6172200"/>
            <a:ext cx="1691640" cy="292608"/>
          </a:xfrm>
          <a:prstGeom prst="rect">
            <a:avLst/>
          </a:prstGeom>
          <a:noFill/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spc="140">
                <a:solidFill>
                  <a:srgbClr val="F2EDE2"/>
                </a:solidFill>
                <a:latin typeface="JetBrains Mono"/>
              </a:rPr>
              <a:t>▶ YOUTUBE MUSIC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691640"/>
            <a:ext cx="2743200" cy="2743200"/>
          </a:xfrm>
          <a:prstGeom prst="rect">
            <a:avLst/>
          </a:prstGeom>
          <a:solidFill>
            <a:srgbClr val="1A2840"/>
          </a:solidFill>
          <a:ln w="3810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1828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">
                <a:solidFill>
                  <a:srgbClr val="F2EDE2"/>
                </a:solidFill>
                <a:latin typeface="Oswald"/>
              </a:rPr>
              <a:t>IF I AWAKEN IN LOS ANGELES</a:t>
            </a:r>
          </a:p>
        </p:txBody>
      </p:sp>
      <p:pic>
        <p:nvPicPr>
          <p:cNvPr id="32" name="Picture 31" descr="cany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94560"/>
            <a:ext cx="2377440" cy="2057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509760" y="16916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D63A3F"/>
                </a:solidFill>
                <a:latin typeface="JetBrains Mono"/>
              </a:rPr>
              <a:t>ADDED ICONIC LA VOICES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09760" y="1984248"/>
            <a:ext cx="210312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509760" y="21031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-15">
                <a:solidFill>
                  <a:srgbClr val="D63A3F"/>
                </a:solidFill>
                <a:latin typeface="Inter Tight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21762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Grammy winning &amp;
nominated artists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880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-15">
                <a:solidFill>
                  <a:srgbClr val="D63A3F"/>
                </a:solidFill>
                <a:latin typeface="Inter Tight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95351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U.S. Poet Laureates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36576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-15">
                <a:solidFill>
                  <a:srgbClr val="D63A3F"/>
                </a:solidFill>
                <a:latin typeface="Inter Tight"/>
              </a:rPr>
              <a:t>2×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373075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Library of Congress–
winning team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44348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-15">
                <a:solidFill>
                  <a:srgbClr val="D63A3F"/>
                </a:solidFill>
                <a:latin typeface="Inter Tight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450799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Rock &amp; Roll Hall
of Fame inductee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04 · THE ALBUM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19050">
            <a:solidFill>
              <a:srgbClr val="602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502920"/>
            <a:ext cx="7396276" cy="0"/>
          </a:xfrm>
          <a:prstGeom prst="line">
            <a:avLst/>
          </a:prstGeom>
          <a:ln w="254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84632" y="438912"/>
            <a:ext cx="128016" cy="128016"/>
          </a:xfrm>
          <a:prstGeom prst="ellipse">
            <a:avLst/>
          </a:prstGeom>
          <a:solidFill>
            <a:srgbClr val="D63A3F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457200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807D77"/>
                </a:solidFill>
                <a:latin typeface="JetBrains Mono"/>
              </a:rPr>
              <a:t>AUG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457200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2EDE2"/>
                </a:solidFill>
                <a:latin typeface="Oswald"/>
              </a:rPr>
              <a:t>THE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457200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1,000+ tickets · Ford</a:t>
            </a:r>
          </a:p>
        </p:txBody>
      </p:sp>
      <p:sp>
        <p:nvSpPr>
          <p:cNvPr id="8" name="Oval 7"/>
          <p:cNvSpPr/>
          <p:nvPr/>
        </p:nvSpPr>
        <p:spPr>
          <a:xfrm>
            <a:off x="4182770" y="438912"/>
            <a:ext cx="128016" cy="128016"/>
          </a:xfrm>
          <a:prstGeom prst="ellipse">
            <a:avLst/>
          </a:prstGeom>
          <a:solidFill>
            <a:srgbClr val="D63A3F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938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807D77"/>
                </a:solidFill>
                <a:latin typeface="JetBrains Mono"/>
              </a:rPr>
              <a:t>OCT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938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2EDE2"/>
                </a:solidFill>
                <a:latin typeface="Oswald"/>
              </a:rPr>
              <a:t>THE ALBUM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938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30K listens · wk one</a:t>
            </a:r>
          </a:p>
        </p:txBody>
      </p:sp>
      <p:sp>
        <p:nvSpPr>
          <p:cNvPr id="12" name="Oval 11"/>
          <p:cNvSpPr/>
          <p:nvPr/>
        </p:nvSpPr>
        <p:spPr>
          <a:xfrm>
            <a:off x="7862620" y="420624"/>
            <a:ext cx="164592" cy="164592"/>
          </a:xfrm>
          <a:prstGeom prst="ellipse">
            <a:avLst/>
          </a:prstGeom>
          <a:solidFill>
            <a:srgbClr val="D63A3F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9076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D63A3F"/>
                </a:solidFill>
                <a:latin typeface="JetBrains Mono"/>
              </a:rPr>
              <a:t>JAN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9076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D63A3F"/>
                </a:solidFill>
                <a:latin typeface="Oswald"/>
              </a:rPr>
              <a:t>THE AWAKENING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9076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1,400+ submissions</a:t>
            </a:r>
          </a:p>
        </p:txBody>
      </p:sp>
      <p:sp>
        <p:nvSpPr>
          <p:cNvPr id="16" name="Oval 15"/>
          <p:cNvSpPr/>
          <p:nvPr/>
        </p:nvSpPr>
        <p:spPr>
          <a:xfrm>
            <a:off x="11579047" y="438912"/>
            <a:ext cx="128016" cy="128016"/>
          </a:xfrm>
          <a:prstGeom prst="ellipse">
            <a:avLst/>
          </a:prstGeom>
          <a:solidFill>
            <a:srgbClr val="0A0A0A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37215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807D77"/>
                </a:solidFill>
                <a:latin typeface="JetBrains Mono"/>
              </a:rPr>
              <a:t>JUN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2EDE2"/>
                </a:solidFill>
                <a:latin typeface="Oswald"/>
              </a:rPr>
              <a:t>THE 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opens · 18-mo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691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CHAPTER THREE · THE CITY ANSWERED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1947672"/>
            <a:ext cx="2715768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210312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 spc="-15">
                <a:solidFill>
                  <a:srgbClr val="F2EDE2"/>
                </a:solidFill>
                <a:latin typeface="Oswald"/>
              </a:rPr>
              <a:t>THE AWAKENING.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46120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F2EDE2"/>
                </a:solidFill>
                <a:latin typeface="Fraunces"/>
              </a:rPr>
              <a:t>Then the entire city got involved.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3AEA5"/>
                </a:solidFill>
                <a:latin typeface="Inter"/>
              </a:rPr>
              <a:t>We inadvertently kick-started the </a:t>
            </a:r>
            <a:r>
              <a:rPr sz="1200" b="1" i="0">
                <a:solidFill>
                  <a:srgbClr val="D63A3F"/>
                </a:solidFill>
                <a:latin typeface="Inter"/>
              </a:rPr>
              <a:t>largest poetry competition in the country</a:t>
            </a:r>
            <a:r>
              <a:rPr sz="1200" b="0" i="0">
                <a:solidFill>
                  <a:srgbClr val="B3AEA5"/>
                </a:solidFill>
                <a:latin typeface="Inter"/>
              </a:rPr>
              <a:t> by asking one question: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912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2EDE2"/>
                </a:solidFill>
                <a:latin typeface="Fraunces"/>
              </a:rPr>
              <a:t>Tell us about your LA.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3776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B3AEA5"/>
                </a:solidFill>
                <a:latin typeface="Inter"/>
              </a:rPr>
              <a:t>Partnering with the LA Unified School District and Get Lit – Words Ignite, students, teachers, classrooms, and community centers across LA added their voice.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1500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 spc="-20">
                <a:solidFill>
                  <a:srgbClr val="D63A3F"/>
                </a:solidFill>
                <a:latin typeface="Oswald"/>
              </a:rPr>
              <a:t>1,400+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B3AEA5"/>
                </a:solidFill>
                <a:latin typeface="JetBrains Mono"/>
              </a:rPr>
              <a:t>VIDEO SUBMISSIONS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16916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60">
                <a:solidFill>
                  <a:srgbClr val="D63A3F"/>
                </a:solidFill>
                <a:latin typeface="JetBrains Mono"/>
              </a:rPr>
              <a:t>JUDGED BY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66560" y="1984248"/>
            <a:ext cx="475488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766560" y="21488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2EDE2"/>
                </a:solidFill>
                <a:latin typeface="Oswald"/>
              </a:rPr>
              <a:t>ALOE BLACC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148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B3AEA5"/>
                </a:solidFill>
                <a:latin typeface="Fraunces"/>
              </a:rPr>
              <a:t>Grammy-nominated singer-songwriter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5146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2EDE2"/>
                </a:solidFill>
                <a:latin typeface="Oswald"/>
              </a:rPr>
              <a:t>GINA BELAFONTE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514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B3AEA5"/>
                </a:solidFill>
                <a:latin typeface="Fraunces"/>
              </a:rPr>
              <a:t>Producer · co-founder, Sankofa.org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8803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2EDE2"/>
                </a:solidFill>
                <a:latin typeface="Oswald"/>
              </a:rPr>
              <a:t>SAFIA ELHILLO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880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B3AEA5"/>
                </a:solidFill>
                <a:latin typeface="Fraunces"/>
              </a:rPr>
              <a:t>Sudanese-American poet · Ruth Lilly Fellow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2461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2EDE2"/>
                </a:solidFill>
                <a:latin typeface="Oswald"/>
              </a:rPr>
              <a:t>JOSÉ OLIVAREZ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246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B3AEA5"/>
                </a:solidFill>
                <a:latin typeface="Fraunces"/>
              </a:rPr>
              <a:t>NYT bestselling author, Promises of Gold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6118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2EDE2"/>
                </a:solidFill>
                <a:latin typeface="Oswald"/>
              </a:rPr>
              <a:t>CHEN CHEN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611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B3AEA5"/>
                </a:solidFill>
                <a:latin typeface="Fraunces"/>
              </a:rPr>
              <a:t>Poet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9776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2EDE2"/>
                </a:solidFill>
                <a:latin typeface="Oswald"/>
              </a:rPr>
              <a:t>OLIVIA GATWOOD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977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B3AEA5"/>
                </a:solidFill>
                <a:latin typeface="Fraunces"/>
              </a:rPr>
              <a:t>Poet &amp; novelist · Life of the Party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05 · THE AWAKENING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a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19050">
            <a:solidFill>
              <a:srgbClr val="6020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502920"/>
            <a:ext cx="11094415" cy="0"/>
          </a:xfrm>
          <a:prstGeom prst="line">
            <a:avLst/>
          </a:prstGeom>
          <a:ln w="254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84632" y="438912"/>
            <a:ext cx="128016" cy="128016"/>
          </a:xfrm>
          <a:prstGeom prst="ellipse">
            <a:avLst/>
          </a:prstGeom>
          <a:solidFill>
            <a:srgbClr val="D63A3F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457200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807D77"/>
                </a:solidFill>
                <a:latin typeface="JetBrains Mono"/>
              </a:rPr>
              <a:t>AUG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57200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2EDE2"/>
                </a:solidFill>
                <a:latin typeface="Oswald"/>
              </a:rPr>
              <a:t>THE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57200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1,000+ tickets · Ford</a:t>
            </a:r>
          </a:p>
        </p:txBody>
      </p:sp>
      <p:sp>
        <p:nvSpPr>
          <p:cNvPr id="10" name="Oval 9"/>
          <p:cNvSpPr/>
          <p:nvPr/>
        </p:nvSpPr>
        <p:spPr>
          <a:xfrm>
            <a:off x="4182770" y="438912"/>
            <a:ext cx="128016" cy="128016"/>
          </a:xfrm>
          <a:prstGeom prst="ellipse">
            <a:avLst/>
          </a:prstGeom>
          <a:solidFill>
            <a:srgbClr val="D63A3F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0938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807D77"/>
                </a:solidFill>
                <a:latin typeface="JetBrains Mono"/>
              </a:rPr>
              <a:t>OCT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938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2EDE2"/>
                </a:solidFill>
                <a:latin typeface="Oswald"/>
              </a:rPr>
              <a:t>THE ALBUM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938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30K listens · wk one</a:t>
            </a:r>
          </a:p>
        </p:txBody>
      </p:sp>
      <p:sp>
        <p:nvSpPr>
          <p:cNvPr id="14" name="Oval 13"/>
          <p:cNvSpPr/>
          <p:nvPr/>
        </p:nvSpPr>
        <p:spPr>
          <a:xfrm>
            <a:off x="7880908" y="438912"/>
            <a:ext cx="128016" cy="128016"/>
          </a:xfrm>
          <a:prstGeom prst="ellipse">
            <a:avLst/>
          </a:prstGeom>
          <a:solidFill>
            <a:srgbClr val="D63A3F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9076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807D77"/>
                </a:solidFill>
                <a:latin typeface="JetBrains Mono"/>
              </a:rPr>
              <a:t>JAN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9076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2EDE2"/>
                </a:solidFill>
                <a:latin typeface="Oswald"/>
              </a:rPr>
              <a:t>THE AWAKENING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9076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1,400+ submissions</a:t>
            </a:r>
          </a:p>
        </p:txBody>
      </p:sp>
      <p:sp>
        <p:nvSpPr>
          <p:cNvPr id="18" name="Oval 17"/>
          <p:cNvSpPr/>
          <p:nvPr/>
        </p:nvSpPr>
        <p:spPr>
          <a:xfrm>
            <a:off x="11560759" y="420624"/>
            <a:ext cx="164592" cy="164592"/>
          </a:xfrm>
          <a:prstGeom prst="ellipse">
            <a:avLst/>
          </a:prstGeom>
          <a:solidFill>
            <a:srgbClr val="D63A3F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37215" y="66751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spc="160">
                <a:solidFill>
                  <a:srgbClr val="D63A3F"/>
                </a:solidFill>
                <a:latin typeface="JetBrains Mono"/>
              </a:rPr>
              <a:t>JUN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8321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D63A3F"/>
                </a:solidFill>
                <a:latin typeface="Oswald"/>
              </a:rPr>
              <a:t>THE SHOW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105156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07D77"/>
                </a:solidFill>
                <a:latin typeface="Fraunces"/>
              </a:rPr>
              <a:t>opens · 18-mo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737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THE SIGNAL IS CLEAR. THE DEMAND IS VERIFIED.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1993392"/>
            <a:ext cx="3621024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22402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5000" b="0" i="1">
                <a:solidFill>
                  <a:srgbClr val="D63A3F"/>
                </a:solidFill>
                <a:latin typeface="Fraunces"/>
              </a:rPr>
              <a:t>This is the show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1">
                <a:solidFill>
                  <a:srgbClr val="F2EDE2"/>
                </a:solidFill>
                <a:latin typeface="Fraunces"/>
              </a:rPr>
              <a:t>Los Angeles has been missing.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23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3AEA5"/>
                </a:solidFill>
                <a:latin typeface="Fraunces"/>
              </a:rPr>
              <a:t>Three chapters in, the city's verdict was unambiguous — and the press said it back.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2287" y="4572000"/>
            <a:ext cx="3657600" cy="169164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2287" y="4572000"/>
            <a:ext cx="36576" cy="1691640"/>
          </a:xfrm>
          <a:prstGeom prst="rect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167" y="470916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2EDE2"/>
                </a:solidFill>
                <a:latin typeface="Inter Tight"/>
              </a:rPr>
              <a:t>"A rich, moving experience. The poetry, dance, and film came together beautifully."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167" y="598932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40">
                <a:solidFill>
                  <a:srgbClr val="B3AEA5"/>
                </a:solidFill>
                <a:latin typeface="JetBrains Mono"/>
              </a:rPr>
              <a:t>— Jodie Foster &amp; Alex Hedison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67047" y="4572000"/>
            <a:ext cx="3657600" cy="169164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67047" y="4572000"/>
            <a:ext cx="36576" cy="1691640"/>
          </a:xfrm>
          <a:prstGeom prst="rect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49927" y="470916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2EDE2"/>
                </a:solidFill>
                <a:latin typeface="Inter Tight"/>
              </a:rPr>
              <a:t>"A powerful celebration of LA's diversity and resilience. Unforgettable."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9927" y="598932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40">
                <a:solidFill>
                  <a:srgbClr val="B3AEA5"/>
                </a:solidFill>
                <a:latin typeface="JetBrains Mono"/>
              </a:rPr>
              <a:t>— Reina Pereira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1807" y="4572000"/>
            <a:ext cx="3657600" cy="169164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1807" y="4572000"/>
            <a:ext cx="36576" cy="1691640"/>
          </a:xfrm>
          <a:prstGeom prst="rect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4687" y="470916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2EDE2"/>
                </a:solidFill>
                <a:latin typeface="Inter Tight"/>
              </a:rPr>
              <a:t>"Brilliant storytelling. A groundbreaking approach to history, modernity, place, and people. This show changes everything."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4687" y="598932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40">
                <a:solidFill>
                  <a:srgbClr val="B3AEA5"/>
                </a:solidFill>
                <a:latin typeface="JetBrains Mono"/>
              </a:rPr>
              <a:t>— Aloe Blacc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06 · THE SHOW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en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F2EDE2"/>
                </a:solidFill>
                <a:latin typeface="JetBrains Mono"/>
              </a:rPr>
              <a:t>AN IMMERSIVE THEATRE EXPERIENCE · LOS ANGELES · 2027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4279392" cy="0"/>
          </a:xfrm>
          <a:prstGeom prst="line">
            <a:avLst/>
          </a:prstGeom>
          <a:ln w="12700">
            <a:solidFill>
              <a:srgbClr val="F2E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011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0" i="1" spc="-20">
                <a:solidFill>
                  <a:srgbClr val="C7A86A"/>
                </a:solidFill>
                <a:latin typeface="Fraunces"/>
              </a:rPr>
              <a:t>If I Awaken in Los Angeles.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2EDE2"/>
                </a:solidFill>
                <a:latin typeface="Inter"/>
              </a:rPr>
              <a:t>A </a:t>
            </a:r>
            <a:r>
              <a:rPr sz="1800" b="1" i="0">
                <a:solidFill>
                  <a:srgbClr val="D63A3F"/>
                </a:solidFill>
                <a:latin typeface="Inter"/>
              </a:rPr>
              <a:t>90-minute immersive theatrical experience</a:t>
            </a:r>
            <a:r>
              <a:rPr sz="1800" b="0" i="0">
                <a:solidFill>
                  <a:srgbClr val="F2EDE2"/>
                </a:solidFill>
                <a:latin typeface="Inter"/>
              </a:rPr>
              <a:t> that walks guests through the real Los Angeles — captured inside a </a:t>
            </a:r>
            <a:r>
              <a:rPr sz="1800" b="1" i="0">
                <a:solidFill>
                  <a:srgbClr val="D63A3F"/>
                </a:solidFill>
                <a:latin typeface="Inter"/>
              </a:rPr>
              <a:t>30,000-sq-ft converted studio</a:t>
            </a:r>
            <a:r>
              <a:rPr sz="1800" b="0" i="0">
                <a:solidFill>
                  <a:srgbClr val="F2EDE2"/>
                </a:solidFill>
                <a:latin typeface="Inter"/>
              </a:rPr>
              <a:t> in the Arts District, next to the iconic 6th Street Bridge.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3AEA5"/>
                </a:solidFill>
                <a:latin typeface="Inter"/>
              </a:rPr>
              <a:t>An LA recreated and reimagined. Guests are guided through built sets and live performances spanning every neighborhood and culture that makes the city what it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07 · THE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THE WALK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658368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1" spc="-15">
                <a:solidFill>
                  <a:srgbClr val="C7A86A"/>
                </a:solidFill>
                <a:latin typeface="Fraunces"/>
              </a:rPr>
              <a:t>Seven neighborhoods, one continuous walk.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3AEA5"/>
                </a:solidFill>
                <a:latin typeface="Fraunces"/>
              </a:rPr>
              <a:t>From the red carpet to the real LA. No seats until the finale.</a:t>
            </a:r>
          </a:p>
        </p:txBody>
      </p:sp>
      <p:pic>
        <p:nvPicPr>
          <p:cNvPr id="6" name="Picture 5" descr="red-carp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2743200" cy="1325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3520440"/>
            <a:ext cx="274320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58444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67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HOLLYWOOD BOULEVARD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4164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A 110-foot LED wall. Dancers as tourists. The Walk of Fame underfoot. The wall pivots — and the tour breaks open.</a:t>
            </a:r>
          </a:p>
        </p:txBody>
      </p:sp>
      <p:pic>
        <p:nvPicPr>
          <p:cNvPr id="11" name="Picture 10" descr="journey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2194560"/>
            <a:ext cx="2743200" cy="1325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364992" y="3520440"/>
            <a:ext cx="274320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358444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3767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BOYLE HEIGHTS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404164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A tianguis with stone tables and a band stage where two poets meet across a generation.</a:t>
            </a:r>
          </a:p>
        </p:txBody>
      </p:sp>
      <p:pic>
        <p:nvPicPr>
          <p:cNvPr id="16" name="Picture 15" descr="journey-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194560"/>
            <a:ext cx="2743200" cy="13258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81344" y="3520440"/>
            <a:ext cx="274320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358444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3767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THE ASIAN ARC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404164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Chinatown · Little Tokyo · Koreatown · Filipinotown · Thai Town. One rapper-poet walking the line.</a:t>
            </a:r>
          </a:p>
        </p:txBody>
      </p:sp>
      <p:pic>
        <p:nvPicPr>
          <p:cNvPr id="21" name="Picture 20" descr="journey-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2194560"/>
            <a:ext cx="2743200" cy="132588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997696" y="3520440"/>
            <a:ext cx="274320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358444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37673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BLACK LA · A CENTURY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404164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A church wall opens — gospel choir, swing dance at Dunbar, hip-hop cypher, Leimert Park drum circle.</a:t>
            </a:r>
          </a:p>
        </p:txBody>
      </p:sp>
      <p:pic>
        <p:nvPicPr>
          <p:cNvPr id="26" name="Picture 25" descr="journey-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782312"/>
            <a:ext cx="2743200" cy="13258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48640" y="6108192"/>
            <a:ext cx="274320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17220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FOLK LA · LAUREL CANYON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6294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A knock at a door becomes a living room. The band joins the audience on the floor.</a:t>
            </a:r>
          </a:p>
        </p:txBody>
      </p:sp>
      <p:pic>
        <p:nvPicPr>
          <p:cNvPr id="31" name="Picture 30" descr="journey-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4782312"/>
            <a:ext cx="2743200" cy="13258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364992" y="6108192"/>
            <a:ext cx="274320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2152" y="617220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02152" y="6355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THE 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2152" y="66294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A classical proscenium. The only seated room. A finale that earns its formality.</a:t>
            </a:r>
          </a:p>
        </p:txBody>
      </p:sp>
      <p:pic>
        <p:nvPicPr>
          <p:cNvPr id="36" name="Picture 35" descr="journey-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4782312"/>
            <a:ext cx="2743200" cy="132588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181344" y="6108192"/>
            <a:ext cx="2743200" cy="1051560"/>
          </a:xfrm>
          <a:prstGeom prst="rect">
            <a:avLst/>
          </a:prstGeom>
          <a:solidFill>
            <a:srgbClr val="141414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8504" y="617220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6355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THE REAL LA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66294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Back through the corridor we entered — but this time the wall is made of the audience's own faces.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08 · THE JOURNEY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60">
                <a:solidFill>
                  <a:srgbClr val="46C36B"/>
                </a:solidFill>
                <a:latin typeface="JetBrains Mono"/>
              </a:rPr>
              <a:t>WHAT WE ARE BUILDING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31520"/>
            <a:ext cx="2560320" cy="0"/>
          </a:xfrm>
          <a:prstGeom prst="line">
            <a:avLst/>
          </a:prstGeom>
          <a:ln w="12700">
            <a:solidFill>
              <a:srgbClr val="46C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14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1" spc="-15">
                <a:solidFill>
                  <a:srgbClr val="C7A86A"/>
                </a:solidFill>
                <a:latin typeface="Fraunces"/>
              </a:rPr>
              <a:t>A single, continuous, 100-minute room.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3611880" cy="2240280"/>
          </a:xfrm>
          <a:prstGeom prst="rect">
            <a:avLst/>
          </a:prstGeom>
          <a:solidFill>
            <a:srgbClr val="131313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228600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807D77"/>
                </a:solidFill>
                <a:latin typeface="JetBrains Mono"/>
              </a:rPr>
              <a:t>SQ 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 spc="-20">
                <a:solidFill>
                  <a:srgbClr val="D63A3F"/>
                </a:solidFill>
                <a:latin typeface="Oswald"/>
              </a:rPr>
              <a:t>30.1K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F2EDE2"/>
                </a:solidFill>
                <a:latin typeface="Oswald"/>
              </a:rPr>
              <a:t>WAREHOUSE FOOTPRINT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807D77"/>
                </a:solidFill>
                <a:latin typeface="Fraunces"/>
              </a:rPr>
              <a:t>ARTS DISTRICT, LOS ANGELES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103120"/>
            <a:ext cx="3611880" cy="2240280"/>
          </a:xfrm>
          <a:prstGeom prst="rect">
            <a:avLst/>
          </a:prstGeom>
          <a:solidFill>
            <a:srgbClr val="131313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28600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807D77"/>
                </a:solidFill>
                <a:latin typeface="JetBrains Mono"/>
              </a:rPr>
              <a:t>GUESTS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 spc="-20">
                <a:solidFill>
                  <a:srgbClr val="D63A3F"/>
                </a:solidFill>
                <a:latin typeface="Oswald"/>
              </a:rPr>
              <a:t>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204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F2EDE2"/>
                </a:solidFill>
                <a:latin typeface="Oswald"/>
              </a:rPr>
              <a:t>PER SHOW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947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807D77"/>
                </a:solidFill>
                <a:latin typeface="Fraunces"/>
              </a:rPr>
              <a:t>WALKING, IMMERSIVE,
SINGLE-DIRECTION LOOP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611880" cy="2240280"/>
          </a:xfrm>
          <a:prstGeom prst="rect">
            <a:avLst/>
          </a:prstGeom>
          <a:solidFill>
            <a:srgbClr val="131313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69880" y="228600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807D77"/>
                </a:solidFill>
                <a:latin typeface="JetBrains Mono"/>
              </a:rPr>
              <a:t>MINS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 spc="-20">
                <a:solidFill>
                  <a:srgbClr val="D63A3F"/>
                </a:solidFill>
                <a:latin typeface="Oswald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204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F2EDE2"/>
                </a:solidFill>
                <a:latin typeface="Oswald"/>
              </a:rPr>
              <a:t>RUN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947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807D77"/>
                </a:solidFill>
                <a:latin typeface="Fraunces"/>
              </a:rPr>
              <a:t>SEVEN SPACES
ONE CONTINUOUS ARC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80560"/>
            <a:ext cx="3611880" cy="2240280"/>
          </a:xfrm>
          <a:prstGeom prst="rect">
            <a:avLst/>
          </a:prstGeom>
          <a:solidFill>
            <a:srgbClr val="131313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466344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807D77"/>
                </a:solidFill>
                <a:latin typeface="JetBrains Mono"/>
              </a:rPr>
              <a:t>SHOWS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 spc="-20">
                <a:solidFill>
                  <a:srgbClr val="D63A3F"/>
                </a:solidFill>
                <a:latin typeface="Oswald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978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F2EDE2"/>
                </a:solidFill>
                <a:latin typeface="Oswald"/>
              </a:rPr>
              <a:t>PER 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722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807D77"/>
                </a:solidFill>
                <a:latin typeface="Fraunces"/>
              </a:rPr>
              <a:t>TUESDAY THROUGH SUNDAY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4480560"/>
            <a:ext cx="3611880" cy="2240280"/>
          </a:xfrm>
          <a:prstGeom prst="rect">
            <a:avLst/>
          </a:prstGeom>
          <a:solidFill>
            <a:srgbClr val="131313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66344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807D77"/>
                </a:solidFill>
                <a:latin typeface="JetBrains Mono"/>
              </a:rPr>
              <a:t>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9377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 spc="-20">
                <a:solidFill>
                  <a:srgbClr val="D63A3F"/>
                </a:solidFill>
                <a:latin typeface="Oswald"/>
              </a:rPr>
              <a:t>14+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8978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F2EDE2"/>
                </a:solidFill>
                <a:latin typeface="Oswald"/>
              </a:rPr>
              <a:t>PROD.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1722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807D77"/>
                </a:solidFill>
                <a:latin typeface="Fraunces"/>
              </a:rPr>
              <a:t>JUNE 2027 — AUGUST 2028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480560"/>
            <a:ext cx="3611880" cy="2240280"/>
          </a:xfrm>
          <a:prstGeom prst="rect">
            <a:avLst/>
          </a:prstGeom>
          <a:solidFill>
            <a:srgbClr val="131313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466344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80">
                <a:solidFill>
                  <a:srgbClr val="807D77"/>
                </a:solidFill>
                <a:latin typeface="JetBrains Mono"/>
              </a:rPr>
              <a:t>STAGES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3776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 spc="-20">
                <a:solidFill>
                  <a:srgbClr val="D63A3F"/>
                </a:solidFill>
                <a:latin typeface="Oswald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8978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F2EDE2"/>
                </a:solidFill>
                <a:latin typeface="Oswald"/>
              </a:rPr>
              <a:t>BUILT ENVIRONMENTS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61722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807D77"/>
                </a:solidFill>
                <a:latin typeface="Fraunces"/>
              </a:rPr>
              <a:t>+LOBBY THAT DOUBLES
AS THEATRE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09 · WHAT WE'RE BUILDING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THE TEAM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658368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spc="-15">
                <a:solidFill>
                  <a:srgbClr val="F2EDE2"/>
                </a:solidFill>
                <a:latin typeface="Inter Tight"/>
              </a:rPr>
              <a:t>The credentials behind building the room — and representing the 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287" y="1828800"/>
            <a:ext cx="5486400" cy="14630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2287" y="1828800"/>
            <a:ext cx="45720" cy="1463040"/>
          </a:xfrm>
          <a:prstGeom prst="rect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887" y="201168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D63A3F"/>
                </a:solidFill>
                <a:latin typeface="JetBrains Mono"/>
              </a:rPr>
              <a:t>TO BUILD AT THIS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87" y="23317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2EDE2"/>
                </a:solidFill>
                <a:latin typeface="Inter"/>
              </a:rPr>
              <a:t>From </a:t>
            </a:r>
            <a:r>
              <a:rPr sz="1100" b="1" i="0">
                <a:solidFill>
                  <a:srgbClr val="F2EDE2"/>
                </a:solidFill>
                <a:latin typeface="Inter"/>
              </a:rPr>
              <a:t>Tony Award–winning </a:t>
            </a:r>
            <a:r>
              <a:rPr sz="1100" b="0" i="0">
                <a:solidFill>
                  <a:srgbClr val="F2EDE2"/>
                </a:solidFill>
                <a:latin typeface="Inter"/>
              </a:rPr>
              <a:t>producers, </a:t>
            </a:r>
            <a:r>
              <a:rPr sz="1100" b="1" i="0">
                <a:solidFill>
                  <a:srgbClr val="F2EDE2"/>
                </a:solidFill>
                <a:latin typeface="Inter"/>
              </a:rPr>
              <a:t>Grammy-winning </a:t>
            </a:r>
            <a:r>
              <a:rPr sz="1100" b="0" i="0">
                <a:solidFill>
                  <a:srgbClr val="F2EDE2"/>
                </a:solidFill>
                <a:latin typeface="Inter"/>
              </a:rPr>
              <a:t>music, Broadway immersive theatre, Coachella, Stagecoach, the Grammys, the Super Bowl, and the White House — we have the team to </a:t>
            </a:r>
            <a:r>
              <a:rPr sz="1100" b="1" i="0">
                <a:solidFill>
                  <a:srgbClr val="D63A3F"/>
                </a:solidFill>
                <a:latin typeface="Inter"/>
              </a:rPr>
              <a:t>handle the scale.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828800"/>
            <a:ext cx="5486400" cy="14630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828800"/>
            <a:ext cx="45720" cy="1463040"/>
          </a:xfrm>
          <a:prstGeom prst="rect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201168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D63A3F"/>
                </a:solidFill>
                <a:latin typeface="JetBrains Mono"/>
              </a:rPr>
              <a:t>TO REPRESENT LOS ANGELES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23317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2EDE2"/>
                </a:solidFill>
                <a:latin typeface="Inter"/>
              </a:rPr>
              <a:t>With </a:t>
            </a:r>
            <a:r>
              <a:rPr sz="1100" b="1" i="0">
                <a:solidFill>
                  <a:srgbClr val="F2EDE2"/>
                </a:solidFill>
                <a:latin typeface="Inter"/>
              </a:rPr>
              <a:t>two decades of LA community trust, LAUSD-approved programs, </a:t>
            </a:r>
            <a:r>
              <a:rPr sz="1100" b="0" i="0">
                <a:solidFill>
                  <a:srgbClr val="F2EDE2"/>
                </a:solidFill>
                <a:latin typeface="Inter"/>
              </a:rPr>
              <a:t>the country's </a:t>
            </a:r>
            <a:r>
              <a:rPr sz="1100" b="1" i="0">
                <a:solidFill>
                  <a:srgbClr val="F2EDE2"/>
                </a:solidFill>
                <a:latin typeface="Inter"/>
              </a:rPr>
              <a:t>largest live spoken-word events, </a:t>
            </a:r>
            <a:r>
              <a:rPr sz="1100" b="0" i="0">
                <a:solidFill>
                  <a:srgbClr val="F2EDE2"/>
                </a:solidFill>
                <a:latin typeface="Inter"/>
              </a:rPr>
              <a:t>and </a:t>
            </a:r>
            <a:r>
              <a:rPr sz="1100" b="1" i="0">
                <a:solidFill>
                  <a:srgbClr val="F2EDE2"/>
                </a:solidFill>
                <a:latin typeface="Inter"/>
              </a:rPr>
              <a:t>multi-stage festival production </a:t>
            </a:r>
            <a:r>
              <a:rPr sz="1100" b="0" i="0">
                <a:solidFill>
                  <a:srgbClr val="F2EDE2"/>
                </a:solidFill>
                <a:latin typeface="Inter"/>
              </a:rPr>
              <a:t>— we have the team to </a:t>
            </a:r>
            <a:r>
              <a:rPr sz="1100" b="1" i="0">
                <a:solidFill>
                  <a:srgbClr val="D63A3F"/>
                </a:solidFill>
                <a:latin typeface="Inter"/>
              </a:rPr>
              <a:t>represent Los Angeles.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2287.5" y="3566160"/>
            <a:ext cx="3657600.0" cy="0"/>
          </a:xfrm>
          <a:prstGeom prst="line">
            <a:avLst/>
          </a:prstGeom>
          <a:ln w="1905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2287" y="3657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ANDREW SCOVILLE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287" y="38953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DIRECTOR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287" y="41148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Director, Theater of the Mind (David Byrne). Assoc dir, Broadway's Here Lies Love. Director, Netflix's Money Heist: The Experience.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67047.5" y="3566160"/>
            <a:ext cx="3657600.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67047" y="3657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DERRICK HODGE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7047" y="38953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COMPOSER · 2× GRAMMY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7047" y="41148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Wrote the Ford pilot. Continues to shape the show's musical language through the album and the run.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61807.5" y="3566160"/>
            <a:ext cx="3657600.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61807" y="3657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DIANE LUBY LANE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1807" y="389534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CREATOR &amp; LEAD PRODUCER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1807" y="411480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Founder &amp; CEO of Get Lit – Words Ignite (200+ schools). Patterson Award. Presidential Lifetime Volunteer.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2287.5" y="4754880"/>
            <a:ext cx="3657600.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2287" y="4846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SHANE SNOW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287" y="5084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PRODUCER · TONY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287" y="53035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Tony Award–winning producer. Bestselling author. Pulitzer Prize entrant for journalism.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67047.5" y="4754880"/>
            <a:ext cx="3657600.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67047" y="4846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ROB O'NEILL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67047" y="5084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PRODUCER · TONY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7047" y="53035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Tony winner as co-producer of The Outsiders (Broadway 2024). Co-prod, The Who's Tommy, Burlesque.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61807.5" y="4754880"/>
            <a:ext cx="3657600.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61807" y="4846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GINA BELAFONTE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1807" y="5084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PRODUCER · DIRECTED PILOT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1807" y="53035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Award-winning producer, director, activist. Co-founder &amp; E.D., Sankofa.org.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72287.5" y="5943600"/>
            <a:ext cx="3657600.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72287" y="6035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BRANDON XIV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287" y="627278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LEAD PRODUCER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287" y="64922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Co-founder of SHOWRUNNER. Award-winning across film, tech, and the seam between.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267047.5" y="5943600"/>
            <a:ext cx="3657600.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67047" y="6035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MARK CHINAPEN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67047" y="627278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GENERAL MANAGER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7047" y="64922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Multi-stage ops for Coachella and Stagecoach. Custom staging for the Grammys and World of Dance.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061807.5" y="5943600"/>
            <a:ext cx="3657600.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061807" y="6035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80">
                <a:solidFill>
                  <a:srgbClr val="F2EDE2"/>
                </a:solidFill>
                <a:latin typeface="Oswald"/>
              </a:rPr>
              <a:t>MONIQUE MITCHELL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1807" y="627278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PRODUCER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1807" y="64922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Global campaigns (Puma, Lexus, Fox), A24, NY Times. Helped pass CA SB 933 — $50M for arts 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10 · THE TEAM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MARKET OPPORTUNITY · COMPARABLES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2633472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D63A3F"/>
                </a:solidFill>
                <a:latin typeface="Inter Tight"/>
              </a:rPr>
              <a:t>This is the show </a:t>
            </a:r>
            <a:r>
              <a:rPr sz="3600" b="1" i="0">
                <a:solidFill>
                  <a:srgbClr val="F2EDE2"/>
                </a:solidFill>
                <a:latin typeface="Inter Tight"/>
              </a:rPr>
              <a:t>Los Angeles has been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B3AEA5"/>
                </a:solidFill>
                <a:latin typeface="Fraunces"/>
              </a:rPr>
              <a:t>Every great cultural capital has its iconic live experience — the must-see, the staple, the show built for that city. Here's what those shows are worth in their markets: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3703320" cy="1874519"/>
          </a:xfrm>
          <a:prstGeom prst="rect">
            <a:avLst/>
          </a:prstGeom>
          <a:solidFill>
            <a:srgbClr val="111111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D63A3F"/>
                </a:solidFill>
                <a:latin typeface="JetBrains Mono"/>
              </a:rPr>
              <a:t>NEW YORK 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40">
                <a:solidFill>
                  <a:srgbClr val="F2EDE2"/>
                </a:solidFill>
                <a:latin typeface="Oswald"/>
              </a:rPr>
              <a:t>Sleep No More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383280"/>
            <a:ext cx="333756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4747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D63A3F"/>
                </a:solidFill>
                <a:latin typeface="Inter Tight"/>
              </a:rPr>
              <a:t>2M+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3AEA5"/>
                </a:solidFill>
                <a:latin typeface="Inter"/>
              </a:rPr>
              <a:t>total visitors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D63A3F"/>
                </a:solidFill>
                <a:latin typeface="Inter Tight"/>
              </a:rPr>
              <a:t>$200M+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lifetime ticket gross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606040"/>
            <a:ext cx="3703320" cy="1874519"/>
          </a:xfrm>
          <a:prstGeom prst="rect">
            <a:avLst/>
          </a:prstGeom>
          <a:solidFill>
            <a:srgbClr val="111111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D63A3F"/>
                </a:solidFill>
                <a:latin typeface="JetBrains Mono"/>
              </a:rPr>
              <a:t>LAS VEGAS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40">
                <a:solidFill>
                  <a:srgbClr val="F2EDE2"/>
                </a:solidFill>
                <a:latin typeface="Oswald"/>
              </a:rPr>
              <a:t>Meow Wolf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3383280"/>
            <a:ext cx="333756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0" y="34747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D63A3F"/>
                </a:solidFill>
                <a:latin typeface="Inter Tight"/>
              </a:rPr>
              <a:t>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404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3AEA5"/>
                </a:solidFill>
                <a:latin typeface="Inter"/>
              </a:rPr>
              <a:t>annual visitors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233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D63A3F"/>
                </a:solidFill>
                <a:latin typeface="Inter Tight"/>
              </a:rPr>
              <a:t>$300M+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38912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raised · scaled from $9.2M single location to a national platform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606040"/>
            <a:ext cx="3703320" cy="1874519"/>
          </a:xfrm>
          <a:prstGeom prst="rect">
            <a:avLst/>
          </a:prstGeom>
          <a:solidFill>
            <a:srgbClr val="111111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74320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D63A3F"/>
                </a:solidFill>
                <a:latin typeface="JetBrains Mono"/>
              </a:rPr>
              <a:t>NASHVILLE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9718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40">
                <a:solidFill>
                  <a:srgbClr val="F2EDE2"/>
                </a:solidFill>
                <a:latin typeface="Oswald"/>
              </a:rPr>
              <a:t>Grand Ole Opry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0" y="3383280"/>
            <a:ext cx="333756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0" y="34747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D63A3F"/>
                </a:solidFill>
                <a:latin typeface="Inter Tight"/>
              </a:rPr>
              <a:t>250K+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8404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3AEA5"/>
                </a:solidFill>
                <a:latin typeface="Inter"/>
              </a:rPr>
              <a:t>annual visitors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0233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D63A3F"/>
                </a:solidFill>
                <a:latin typeface="Inter Tight"/>
              </a:rPr>
              <a:t>$15M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8912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annual revenue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17719"/>
            <a:ext cx="3703320" cy="1874519"/>
          </a:xfrm>
          <a:prstGeom prst="rect">
            <a:avLst/>
          </a:prstGeom>
          <a:solidFill>
            <a:srgbClr val="111111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54879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D63A3F"/>
                </a:solidFill>
                <a:latin typeface="JetBrains Mono"/>
              </a:rPr>
              <a:t>LONDON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83479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40">
                <a:solidFill>
                  <a:srgbClr val="F2EDE2"/>
                </a:solidFill>
                <a:latin typeface="Oswald"/>
              </a:rPr>
              <a:t>Secret Cinema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5394959"/>
            <a:ext cx="333756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548639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D63A3F"/>
                </a:solidFill>
                <a:latin typeface="Inter Tight"/>
              </a:rPr>
              <a:t>1M+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52159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3AEA5"/>
                </a:solidFill>
                <a:latin typeface="Inter"/>
              </a:rPr>
              <a:t>tickets sold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350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D63A3F"/>
                </a:solidFill>
                <a:latin typeface="Inter Tight"/>
              </a:rPr>
              <a:t>$100M+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799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acquisition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617719"/>
            <a:ext cx="3703320" cy="1874519"/>
          </a:xfrm>
          <a:prstGeom prst="rect">
            <a:avLst/>
          </a:prstGeom>
          <a:solidFill>
            <a:srgbClr val="111111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754879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D63A3F"/>
                </a:solidFill>
                <a:latin typeface="JetBrains Mono"/>
              </a:rPr>
              <a:t>PARIS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983479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40">
                <a:solidFill>
                  <a:srgbClr val="F2EDE2"/>
                </a:solidFill>
                <a:latin typeface="Oswald"/>
              </a:rPr>
              <a:t>Moulin Rouge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0" y="5394959"/>
            <a:ext cx="333756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72000" y="548639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D63A3F"/>
                </a:solidFill>
                <a:latin typeface="Inter Tight"/>
              </a:rPr>
              <a:t>600K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852159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3AEA5"/>
                </a:solidFill>
                <a:latin typeface="Inter"/>
              </a:rPr>
              <a:t>annual guests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0350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D63A3F"/>
                </a:solidFill>
                <a:latin typeface="Inter Tight"/>
              </a:rPr>
              <a:t>$68M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400799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annual revenue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4617719"/>
            <a:ext cx="3703320" cy="1874519"/>
          </a:xfrm>
          <a:prstGeom prst="rect">
            <a:avLst/>
          </a:prstGeom>
          <a:solidFill>
            <a:srgbClr val="2A1012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4754879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D63A3F"/>
                </a:solidFill>
                <a:latin typeface="JetBrains Mono"/>
              </a:rPr>
              <a:t>LOS ANGELES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4983479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 spc="40">
                <a:solidFill>
                  <a:srgbClr val="F2EDE2"/>
                </a:solidFill>
                <a:latin typeface="Fraunces"/>
              </a:rPr>
              <a:t>If I Awaken in Los Angeles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412480" y="5394959"/>
            <a:ext cx="333756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412480" y="548639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D63A3F"/>
                </a:solidFill>
                <a:latin typeface="Inter Tight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852159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3AEA5"/>
                </a:solidFill>
                <a:latin typeface="Inter"/>
              </a:rPr>
              <a:t>opens June 2027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60350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15">
                <a:solidFill>
                  <a:srgbClr val="D63A3F"/>
                </a:solidFill>
                <a:latin typeface="Inter Tight"/>
              </a:rPr>
              <a:t>$9.5M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6400799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B3AEA5"/>
                </a:solidFill>
                <a:latin typeface="Inter"/>
              </a:rPr>
              <a:t>raise · chapter 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11 · MARKET · COMPARABLES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MARKET OPPORTUNITY · LOS ANGELES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2633472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EDE2"/>
                </a:solidFill>
                <a:latin typeface="Inter Tight"/>
              </a:rPr>
              <a:t>The entertainment capital of the world — </a:t>
            </a:r>
            <a:r>
              <a:rPr sz="3000" b="1" i="0">
                <a:solidFill>
                  <a:srgbClr val="D63A3F"/>
                </a:solidFill>
                <a:latin typeface="Inter Tight"/>
              </a:rPr>
              <a:t>about to enter its global spotlight.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2EDE2"/>
                </a:solidFill>
                <a:latin typeface="Inter"/>
              </a:rPr>
              <a:t>Greater Los Angeles is home to </a:t>
            </a:r>
            <a:r>
              <a:rPr sz="1300" b="1" i="0">
                <a:solidFill>
                  <a:srgbClr val="F2EDE2"/>
                </a:solidFill>
                <a:latin typeface="Inter"/>
              </a:rPr>
              <a:t>18M+ people</a:t>
            </a:r>
            <a:r>
              <a:rPr sz="1300" b="0" i="0">
                <a:solidFill>
                  <a:srgbClr val="F2EDE2"/>
                </a:solidFill>
                <a:latin typeface="Inter"/>
              </a:rPr>
              <a:t>, nearly </a:t>
            </a:r>
            <a:r>
              <a:rPr sz="1300" b="1" i="0">
                <a:solidFill>
                  <a:srgbClr val="F2EDE2"/>
                </a:solidFill>
                <a:latin typeface="Inter"/>
              </a:rPr>
              <a:t>50M annual visitors</a:t>
            </a:r>
            <a:r>
              <a:rPr sz="1300" b="0" i="0">
                <a:solidFill>
                  <a:srgbClr val="F2EDE2"/>
                </a:solidFill>
                <a:latin typeface="Inter"/>
              </a:rPr>
              <a:t>, with LA tourism generating </a:t>
            </a:r>
            <a:r>
              <a:rPr sz="1300" b="1" i="0">
                <a:solidFill>
                  <a:srgbClr val="F2EDE2"/>
                </a:solidFill>
                <a:latin typeface="Inter"/>
              </a:rPr>
              <a:t>$40.4B annually</a:t>
            </a:r>
            <a:r>
              <a:rPr sz="1300" b="0" i="0">
                <a:solidFill>
                  <a:srgbClr val="F2EDE2"/>
                </a:solidFill>
                <a:latin typeface="Inter"/>
              </a:rPr>
              <a:t> in business sales — and currently has no defining live experience of its own.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743200"/>
          <a:ext cx="685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326571"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CITY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RESIDENT MARKET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ANNUAL VISITORS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26571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New York City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20M–22M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64M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26571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D63A3F"/>
                          </a:solidFill>
                          <a:latin typeface="Inter Tight"/>
                        </a:rPr>
                        <a:t>Los Angeles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18M+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49M / nearly 50M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</a:tr>
              <a:tr h="326571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Paris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12M–15M metro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48.7M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26571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Las Vegas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2.3M+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40M+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26571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London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9M / 15M metro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~30M / 21M intl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26574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Nashville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2.2M+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16.9M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80960" y="2743200"/>
            <a:ext cx="3931920" cy="2286000"/>
          </a:xfrm>
          <a:prstGeom prst="rect">
            <a:avLst/>
          </a:prstGeom>
          <a:solidFill>
            <a:srgbClr val="240E10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88036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200">
                <a:solidFill>
                  <a:srgbClr val="D63A3F"/>
                </a:solidFill>
                <a:latin typeface="JetBrains Mono"/>
              </a:rPr>
              <a:t>AND LA IS ABOUT TO BE ON THE BIGGEST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324612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spc="-15">
                <a:solidFill>
                  <a:srgbClr val="D63A3F"/>
                </a:solidFill>
                <a:latin typeface="Inter Tight"/>
              </a:rPr>
              <a:t>15M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3337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additional visitors / spectators · 2028 Olympics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79476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spc="-15">
                <a:solidFill>
                  <a:srgbClr val="D63A3F"/>
                </a:solidFill>
                <a:latin typeface="Inter Tight"/>
              </a:rPr>
              <a:t>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886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global viewers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3434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spc="-15">
                <a:solidFill>
                  <a:srgbClr val="D63A3F"/>
                </a:solidFill>
                <a:latin typeface="Inter Tight"/>
              </a:rPr>
              <a:t>$18B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44348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estimated economic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2EDE2"/>
                </a:solidFill>
                <a:latin typeface="Inter Tight"/>
              </a:rPr>
              <a:t>We have </a:t>
            </a:r>
            <a:r>
              <a:rPr sz="2200" b="1" i="0">
                <a:solidFill>
                  <a:srgbClr val="D63A3F"/>
                </a:solidFill>
                <a:latin typeface="Inter Tight"/>
              </a:rPr>
              <a:t>a show built for an Olympic moment.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2EDE2"/>
                </a:solidFill>
                <a:latin typeface="Inter Tight"/>
              </a:rPr>
              <a:t>In a </a:t>
            </a:r>
            <a:r>
              <a:rPr sz="2200" b="1" i="0">
                <a:solidFill>
                  <a:srgbClr val="D63A3F"/>
                </a:solidFill>
                <a:latin typeface="Inter Tight"/>
              </a:rPr>
              <a:t>once-in-a-generation window</a:t>
            </a:r>
            <a:r>
              <a:rPr sz="2200" b="1" i="0">
                <a:solidFill>
                  <a:srgbClr val="F2EDE2"/>
                </a:solidFill>
                <a:latin typeface="Inter Tight"/>
              </a:rPr>
              <a:t> of opportunity.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12 · MARKET · LA + OLYMPICS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IF I AWAKEN… IN EVERY CITY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713232"/>
            <a:ext cx="2139696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EDE2"/>
                </a:solidFill>
                <a:latin typeface="Inter Tight"/>
              </a:rPr>
              <a:t>LA is chapter one of a </a:t>
            </a:r>
            <a:r>
              <a:rPr sz="3000" b="1" i="0">
                <a:solidFill>
                  <a:srgbClr val="D63A3F"/>
                </a:solidFill>
                <a:latin typeface="Inter Tight"/>
              </a:rPr>
              <a:t>replicable franchise.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2EDE2"/>
                </a:solidFill>
                <a:latin typeface="Fraunces"/>
              </a:rPr>
              <a:t>The form travels because the form is honest: tell the truth about a place through the people who live there. Same architecture, new local cast, new revenue line — every city is a new chapter.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651760"/>
          <a:ext cx="7315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39634"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CITY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RESIDENT MARKET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ANNUAL VISITORS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39634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D63A3F"/>
                          </a:solidFill>
                          <a:latin typeface="Inter Tight"/>
                        </a:rPr>
                        <a:t>New York City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20M–22M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64M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</a:tr>
              <a:tr h="339634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D63A3F"/>
                          </a:solidFill>
                          <a:latin typeface="Inter Tight"/>
                        </a:rPr>
                        <a:t>Los Angeles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18M+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49M / nearly 50M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</a:tr>
              <a:tr h="339634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D63A3F"/>
                          </a:solidFill>
                          <a:latin typeface="Inter Tight"/>
                        </a:rPr>
                        <a:t>Paris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12M–15M metro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48.7M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</a:tr>
              <a:tr h="339634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D63A3F"/>
                          </a:solidFill>
                          <a:latin typeface="Inter Tight"/>
                        </a:rPr>
                        <a:t>Las Vegas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2.3M+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40M+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</a:tr>
              <a:tr h="339634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D63A3F"/>
                          </a:solidFill>
                          <a:latin typeface="Inter Tight"/>
                        </a:rPr>
                        <a:t>London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9M / 15M metro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~30M / 21M intl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</a:tr>
              <a:tr h="339636"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D63A3F"/>
                          </a:solidFill>
                          <a:latin typeface="Inter Tight"/>
                        </a:rPr>
                        <a:t>Nashville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2.2M+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 b="1">
                          <a:solidFill>
                            <a:srgbClr val="F2EDE2"/>
                          </a:solidFill>
                          <a:latin typeface="Inter Tight"/>
                        </a:rPr>
                        <a:t>16.9M</a:t>
                      </a:r>
                    </a:p>
                  </a:txBody>
                  <a:tcPr>
                    <a:solidFill>
                      <a:srgbClr val="35101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D63A3F"/>
                </a:solidFill>
                <a:latin typeface="JetBrains Mono"/>
              </a:rPr>
              <a:t>CHAPTERS TO COME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5486400"/>
            <a:ext cx="11094415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72287" y="5669280"/>
            <a:ext cx="3657600" cy="777240"/>
          </a:xfrm>
          <a:prstGeom prst="rect">
            <a:avLst/>
          </a:prstGeom>
          <a:solidFill>
            <a:srgbClr val="141414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887" y="577900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3AEA5"/>
                </a:solidFill>
                <a:latin typeface="Fraunces"/>
              </a:rPr>
              <a:t>If I Awaken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60076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20">
                <a:solidFill>
                  <a:srgbClr val="D63A3F"/>
                </a:solidFill>
                <a:latin typeface="Inter Tight"/>
              </a:rPr>
              <a:t>NEW YORK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047" y="5669280"/>
            <a:ext cx="3657600" cy="777240"/>
          </a:xfrm>
          <a:prstGeom prst="rect">
            <a:avLst/>
          </a:prstGeom>
          <a:solidFill>
            <a:srgbClr val="141414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647" y="577900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3AEA5"/>
                </a:solidFill>
                <a:latin typeface="Fraunces"/>
              </a:rPr>
              <a:t>If I Awaken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647" y="60076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20">
                <a:solidFill>
                  <a:srgbClr val="D63A3F"/>
                </a:solidFill>
                <a:latin typeface="Inter Tight"/>
              </a:rPr>
              <a:t>CHICAGO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1807" y="5669280"/>
            <a:ext cx="3657600" cy="777240"/>
          </a:xfrm>
          <a:prstGeom prst="rect">
            <a:avLst/>
          </a:prstGeom>
          <a:solidFill>
            <a:srgbClr val="141414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577900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3AEA5"/>
                </a:solidFill>
                <a:latin typeface="Fraunces"/>
              </a:rPr>
              <a:t>If I Awaken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60076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20">
                <a:solidFill>
                  <a:srgbClr val="D63A3F"/>
                </a:solidFill>
                <a:latin typeface="Inter Tight"/>
              </a:rPr>
              <a:t>LONDON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13 · THE FRANCHISE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THE ASK · 3 ROUNDS OF INVESTMENT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2633472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EDE2"/>
                </a:solidFill>
                <a:latin typeface="Inter Tight"/>
              </a:rPr>
              <a:t>We are seeking </a:t>
            </a:r>
            <a:r>
              <a:rPr sz="3000" b="1" i="0">
                <a:solidFill>
                  <a:srgbClr val="D63A3F"/>
                </a:solidFill>
                <a:latin typeface="Inter Tight"/>
              </a:rPr>
              <a:t>$9.5M total</a:t>
            </a:r>
            <a:r>
              <a:rPr sz="3000" b="1" i="0">
                <a:solidFill>
                  <a:srgbClr val="F2EDE2"/>
                </a:solidFill>
                <a:latin typeface="Inter Tight"/>
              </a:rPr>
              <a:t>, split across three rounds.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703320" cy="4114800"/>
          </a:xfrm>
          <a:prstGeom prst="rect">
            <a:avLst/>
          </a:prstGeom>
          <a:solidFill>
            <a:srgbClr val="2A1012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spc="-10">
                <a:solidFill>
                  <a:srgbClr val="D63A3F"/>
                </a:solidFill>
                <a:latin typeface="Oswa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12848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ROUND ONE · PREPRODUCTION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95728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F2EDE2"/>
                </a:solidFill>
                <a:latin typeface="Oswald"/>
              </a:rPr>
              <a:t>$1M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3AEA5"/>
                </a:solidFill>
                <a:latin typeface="Fraunces"/>
              </a:rPr>
              <a:t>opens June 1, 2026 · closes Q3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3291840"/>
            <a:ext cx="324612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342900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01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Equity + profit-sharing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EQUITY OFFERED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245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$1M for 10% equity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188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Design dev · venue lease · advance marketing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UPSIDE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132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Equity participates in acquisition / licensing / expansion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011680"/>
            <a:ext cx="370332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spc="-10">
                <a:solidFill>
                  <a:srgbClr val="D63A3F"/>
                </a:solidFill>
                <a:latin typeface="Oswa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212848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ROUND TWO ·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395728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F2EDE2"/>
                </a:solidFill>
                <a:latin typeface="Oswald"/>
              </a:rPr>
              <a:t>$7M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8803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3AEA5"/>
                </a:solidFill>
                <a:latin typeface="Fraunces"/>
              </a:rPr>
              <a:t>opens January 1, 2027 · closes Q2 2027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17720" y="3291840"/>
            <a:ext cx="324612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17720" y="342900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6301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Profit-sharing only · no equity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02336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MINIMUM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2245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$50K · Class A LP units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61772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8188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Venue build · production · cast · install · marketing · reserve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21208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RECOUPMENT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4132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First-position 110% recoupment · 50/50 net profit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011680"/>
            <a:ext cx="3703320" cy="4114800"/>
          </a:xfrm>
          <a:prstGeom prst="rect">
            <a:avLst/>
          </a:prstGeom>
          <a:solidFill>
            <a:srgbClr val="141414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spc="-10">
                <a:solidFill>
                  <a:srgbClr val="D63A3F"/>
                </a:solidFill>
                <a:latin typeface="Oswald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212848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ROUND THREE · LAUNCH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2395728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 spc="-15">
                <a:solidFill>
                  <a:srgbClr val="F2EDE2"/>
                </a:solidFill>
                <a:latin typeface="Oswald"/>
              </a:rPr>
              <a:t>$1.5M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8803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3AEA5"/>
                </a:solidFill>
                <a:latin typeface="Fraunces"/>
              </a:rPr>
              <a:t>opens June 1, 2027 · closes Q4 2027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58200" y="3291840"/>
            <a:ext cx="324612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58200" y="342900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36301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Profit-sharing only · no equity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02336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MINIMUM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2245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$50K · Class A LP units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61772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USE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48188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Launch marketing · operating reserve · contingency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21208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60">
                <a:solidFill>
                  <a:srgbClr val="D63A3F"/>
                </a:solidFill>
                <a:latin typeface="JetBrains Mono"/>
              </a:rPr>
              <a:t>RECOUPMENT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54132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2EDE2"/>
                </a:solidFill>
                <a:latin typeface="Inter"/>
              </a:rPr>
              <a:t>First-position 110% recoupment · 50/50 net profit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14 · INVESTMENT ROUNDS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ROUND ONE · EQUITY INVESTMENT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2386584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D63A3F"/>
                </a:solidFill>
                <a:latin typeface="Inter Tight"/>
              </a:rPr>
              <a:t>Only Round One investors </a:t>
            </a:r>
            <a:r>
              <a:rPr sz="3000" b="1" i="0">
                <a:solidFill>
                  <a:srgbClr val="F2EDE2"/>
                </a:solidFill>
                <a:latin typeface="Inter Tight"/>
              </a:rPr>
              <a:t>get equity in the show.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0972800" cy="1325880"/>
          </a:xfrm>
          <a:prstGeom prst="rect">
            <a:avLst/>
          </a:prstGeom>
          <a:solidFill>
            <a:srgbClr val="2A1012"/>
          </a:solidFill>
          <a:ln w="1905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 spc="-25">
                <a:solidFill>
                  <a:srgbClr val="D63A3F"/>
                </a:solidFill>
                <a:latin typeface="Oswald"/>
              </a:rPr>
              <a:t>$1M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468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B3AEA5"/>
                </a:solidFill>
                <a:latin typeface="Fraunces"/>
              </a:rPr>
              <a:t>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0574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 spc="-25">
                <a:solidFill>
                  <a:srgbClr val="D63A3F"/>
                </a:solidFill>
                <a:latin typeface="Oswald"/>
              </a:rPr>
              <a:t>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560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200">
                <a:solidFill>
                  <a:srgbClr val="B3AEA5"/>
                </a:solidFill>
                <a:latin typeface="JetBrains Mono"/>
              </a:rPr>
              <a:t>EQUITY UP FOR GRABS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3AEA5"/>
                </a:solidFill>
                <a:latin typeface="Inter"/>
              </a:rPr>
              <a:t>Round One investors hold equity through the LA run, the events business, the franchise, and any liquidity event that follows. They also participate in the profit-share. Rounds Two and Three are profit-share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60">
                <a:solidFill>
                  <a:srgbClr val="D63A3F"/>
                </a:solidFill>
                <a:latin typeface="JetBrains Mono"/>
              </a:rPr>
              <a:t>HOW EQUITY MAKES MONEY · ACQUISITION COMPARABLES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526280"/>
          <a:ext cx="59436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422910"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COMPANY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BUYER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AMOUNT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422910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Cirque du Soleil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TPG / Fosun / CDPQ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~$1.5B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422910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Secret Cinema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TodayTix Group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$100M+ / ~£88M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422910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Blue Man Group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Cirque du Soleil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~$65.5M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858000" y="4206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60">
                <a:solidFill>
                  <a:srgbClr val="D63A3F"/>
                </a:solidFill>
                <a:latin typeface="JetBrains Mono"/>
              </a:rPr>
              <a:t>EXPANSION &amp; LICENSING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5720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63A3F"/>
                </a:solidFill>
                <a:latin typeface="Oswald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572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">
                <a:solidFill>
                  <a:srgbClr val="F2EDE2"/>
                </a:solidFill>
                <a:latin typeface="Oswald"/>
              </a:rPr>
              <a:t>Sleep No More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3AEA5"/>
                </a:solidFill>
                <a:latin typeface="Inter"/>
              </a:rPr>
              <a:t>— expanded to Shanghai and Seoul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07492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63A3F"/>
                </a:solidFill>
                <a:latin typeface="Oswald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074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">
                <a:solidFill>
                  <a:srgbClr val="F2EDE2"/>
                </a:solidFill>
                <a:latin typeface="Oswald"/>
              </a:rPr>
              <a:t>Meow Wolf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5074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3AEA5"/>
                </a:solidFill>
                <a:latin typeface="Inter"/>
              </a:rPr>
              <a:t>— six immersive installations across the U.S.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57784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63A3F"/>
                </a:solidFill>
                <a:latin typeface="Oswald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5577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">
                <a:solidFill>
                  <a:srgbClr val="F2EDE2"/>
                </a:solidFill>
                <a:latin typeface="Oswald"/>
              </a:rPr>
              <a:t>Secret Cinema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577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B3AEA5"/>
                </a:solidFill>
                <a:latin typeface="Inter"/>
              </a:rPr>
              <a:t>— 50+ productions; Disney, Marvel, Netflix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D63A3F"/>
                </a:solidFill>
                <a:latin typeface="Fraunces"/>
              </a:rPr>
              <a:t>Round One investors also participate in the profit-share</a:t>
            </a:r>
            <a:r>
              <a:rPr sz="1400" b="0" i="1">
                <a:solidFill>
                  <a:srgbClr val="F2EDE2"/>
                </a:solidFill>
                <a:latin typeface="Fraunces"/>
              </a:rPr>
              <a:t> alongside Rounds Two and Three.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15 · ROUND 1 · EQUITY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FINANCIAL PROJECTIONS · TICKET SALES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2962656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2EDE2"/>
                </a:solidFill>
                <a:latin typeface="Inter Tight"/>
              </a:rPr>
              <a:t>Two thresholds. </a:t>
            </a:r>
            <a:r>
              <a:rPr sz="3000" b="1" i="0">
                <a:solidFill>
                  <a:srgbClr val="D63A3F"/>
                </a:solidFill>
                <a:latin typeface="Inter Tight"/>
              </a:rPr>
              <a:t>One investor return curve.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370332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79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F2EDE2"/>
                </a:solidFill>
                <a:latin typeface="JetBrains Mono"/>
              </a:rPr>
              <a:t>TO KEEP THE SHOW RUNNING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5999"/>
            <a:ext cx="3337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 spc="-20">
                <a:solidFill>
                  <a:srgbClr val="F2EDE2"/>
                </a:solidFill>
                <a:latin typeface="Oswald"/>
              </a:rPr>
              <a:t>61%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39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3AEA5"/>
                </a:solidFill>
                <a:latin typeface="Inter"/>
              </a:rPr>
              <a:t>capacity · ~92 of 150 avg seats / show · breakeven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74519"/>
            <a:ext cx="3703320" cy="1645920"/>
          </a:xfrm>
          <a:prstGeom prst="rect">
            <a:avLst/>
          </a:prstGeom>
          <a:solidFill>
            <a:srgbClr val="2A1012"/>
          </a:solidFill>
          <a:ln w="12700">
            <a:solidFill>
              <a:srgbClr val="D63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79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D63A3F"/>
                </a:solidFill>
                <a:latin typeface="JetBrains Mono"/>
              </a:rPr>
              <a:t>FOR INVESTORS TO RECOUP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5999"/>
            <a:ext cx="3337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 spc="-20">
                <a:solidFill>
                  <a:srgbClr val="D63A3F"/>
                </a:solidFill>
                <a:latin typeface="Oswald"/>
              </a:rP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63239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3AEA5"/>
                </a:solidFill>
                <a:latin typeface="Inter"/>
              </a:rPr>
              <a:t>capacity · the threshold at which investors recoup 110% within the 18-mo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74519"/>
            <a:ext cx="3703320" cy="1645920"/>
          </a:xfrm>
          <a:prstGeom prst="rect">
            <a:avLst/>
          </a:prstGeom>
          <a:solidFill>
            <a:srgbClr val="1F1810"/>
          </a:solidFill>
          <a:ln w="12700">
            <a:solidFill>
              <a:srgbClr val="C7A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79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C7A86A"/>
                </a:solidFill>
                <a:latin typeface="JetBrains Mono"/>
              </a:rPr>
              <a:t>PILOT-LEVEL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5999"/>
            <a:ext cx="3337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 spc="-20">
                <a:solidFill>
                  <a:srgbClr val="C7A86A"/>
                </a:solidFill>
                <a:latin typeface="Oswald"/>
              </a:rPr>
              <a:t>100%+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63239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3AEA5"/>
                </a:solidFill>
                <a:latin typeface="Inter"/>
              </a:rPr>
              <a:t>capacity · what the Ford pilot actually did · oversold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D63A3F"/>
                </a:solidFill>
                <a:latin typeface="JetBrains Mono"/>
              </a:rPr>
              <a:t>RETURN PROJECTIONS — AFTER 14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EDE2"/>
                </a:solidFill>
                <a:latin typeface="Inter"/>
              </a:rPr>
              <a:t>If we sell 80% of tickets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4069080"/>
            <a:ext cx="6858000" cy="201168"/>
          </a:xfrm>
          <a:prstGeom prst="rect">
            <a:avLst/>
          </a:prstGeom>
          <a:solidFill>
            <a:srgbClr val="181818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17520" y="4069080"/>
            <a:ext cx="3429000" cy="201168"/>
          </a:xfrm>
          <a:prstGeom prst="rect">
            <a:avLst/>
          </a:prstGeom>
          <a:solidFill>
            <a:srgbClr val="60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4023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F2EDE2"/>
                </a:solidFill>
                <a:latin typeface="Inter Tight"/>
              </a:rPr>
              <a:t>~$3.2M net contribution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2EDE2"/>
                </a:solidFill>
                <a:latin typeface="Inter"/>
              </a:rPr>
              <a:t>If we sell 90% of tickets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4434840"/>
            <a:ext cx="6858000" cy="201168"/>
          </a:xfrm>
          <a:prstGeom prst="rect">
            <a:avLst/>
          </a:prstGeom>
          <a:solidFill>
            <a:srgbClr val="181818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0" y="4434840"/>
            <a:ext cx="5143500" cy="201168"/>
          </a:xfrm>
          <a:prstGeom prst="rect">
            <a:avLst/>
          </a:prstGeom>
          <a:solidFill>
            <a:srgbClr val="60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4389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F2EDE2"/>
                </a:solidFill>
                <a:latin typeface="Inter Tight"/>
              </a:rPr>
              <a:t>~$4.4M net contribution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63A3F"/>
                </a:solidFill>
                <a:latin typeface="Inter"/>
              </a:rPr>
              <a:t>If we sell 100% of tickets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800600"/>
            <a:ext cx="6858000" cy="201168"/>
          </a:xfrm>
          <a:prstGeom prst="rect">
            <a:avLst/>
          </a:prstGeom>
          <a:solidFill>
            <a:srgbClr val="181818"/>
          </a:solidFill>
          <a:ln w="6350">
            <a:solidFill>
              <a:srgbClr val="2E2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17520" y="4800600"/>
            <a:ext cx="6858000" cy="201168"/>
          </a:xfrm>
          <a:prstGeom prst="rect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4754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D63A3F"/>
                </a:solidFill>
                <a:latin typeface="Inter Tight"/>
              </a:rPr>
              <a:t>~$5.5M net contribution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807D77"/>
                </a:solidFill>
                <a:latin typeface="Fraunces"/>
              </a:rPr>
              <a:t>Net contribution after operating costs &amp; recoupment. Pilot at the Ford oversold at 100%+. Projections assume the run begins June 2027; numbers expand further with events business (next slide).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48640" y="5760720"/>
          <a:ext cx="109728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73736"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TIER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SEATS / WK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AVG $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WEEKLY $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173736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Community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520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$50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$26,400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173736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Standard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720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$83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$58,800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173736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Premium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480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$132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$63,000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173736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VIP · Saturday only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80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$185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$14,800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16 · FINANCIALS · TICKETS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FINANCIAL PROJECTIONS · CORPORATE EVENTS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3291839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2EDE2"/>
                </a:solidFill>
                <a:latin typeface="Inter Tight"/>
              </a:rPr>
              <a:t>210 dark day-equivalents. </a:t>
            </a:r>
            <a:r>
              <a:rPr sz="2800" b="1" i="0">
                <a:solidFill>
                  <a:srgbClr val="D63A3F"/>
                </a:solidFill>
                <a:latin typeface="Inter Tight"/>
              </a:rPr>
              <a:t>All six differentiators.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B3AEA5"/>
                </a:solidFill>
                <a:latin typeface="Inter"/>
              </a:rPr>
              <a:t>The show occupies the venue Thursday–Sunday evenings and weekend afternoons. Monday through Wednesday — and weekday daytime — sit dark. Roughly 3.5 fully rentable days/week × 60 weeks = ~210 day-equivalents of unused premium real estate.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D63A3F"/>
                </a:solidFill>
                <a:latin typeface="JetBrains Mono"/>
              </a:rPr>
              <a:t>WHAT WE HAVE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17520"/>
            <a:ext cx="6217920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0896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2EDE2"/>
                </a:solidFill>
                <a:latin typeface="Inter"/>
              </a:rPr>
              <a:t>110-ft permanent LED wall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108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80">
                <a:solidFill>
                  <a:srgbClr val="D63A3F"/>
                </a:solidFill>
                <a:latin typeface="JetBrains Mono"/>
              </a:rPr>
              <a:t>$5K–$20K /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2EDE2"/>
                </a:solidFill>
                <a:latin typeface="Inter"/>
              </a:rPr>
              <a:t>Real bar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4290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80">
                <a:solidFill>
                  <a:srgbClr val="D63A3F"/>
                </a:solidFill>
                <a:latin typeface="JetBrains Mono"/>
              </a:rPr>
              <a:t>$8K–$15K /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2EDE2"/>
                </a:solidFill>
                <a:latin typeface="Inter"/>
              </a:rPr>
              <a:t>150-seat proscenium theater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749039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80">
                <a:solidFill>
                  <a:srgbClr val="D63A3F"/>
                </a:solidFill>
                <a:latin typeface="JetBrains Mono"/>
              </a:rPr>
              <a:t>$5K–$10K /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79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2EDE2"/>
                </a:solidFill>
                <a:latin typeface="Inter"/>
              </a:rPr>
              <a:t>Outdoor red-carpet courtyard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069079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80">
                <a:solidFill>
                  <a:srgbClr val="D63A3F"/>
                </a:solidFill>
                <a:latin typeface="JetBrains Mono"/>
              </a:rPr>
              <a:t>Premiere-tier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2EDE2"/>
                </a:solidFill>
                <a:latin typeface="Inter"/>
              </a:rPr>
              <a:t>30,000 sq ft of versatile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3891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80">
                <a:solidFill>
                  <a:srgbClr val="D63A3F"/>
                </a:solidFill>
                <a:latin typeface="JetBrains Mono"/>
              </a:rPr>
              <a:t>$10K+ / day comp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2EDE2"/>
                </a:solidFill>
                <a:latin typeface="Inter"/>
              </a:rPr>
              <a:t>Arts District 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7091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80">
                <a:solidFill>
                  <a:srgbClr val="D63A3F"/>
                </a:solidFill>
                <a:latin typeface="JetBrains Mono"/>
              </a:rPr>
              <a:t>Premium tier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6217920" cy="411480"/>
          </a:xfrm>
          <a:prstGeom prst="rect">
            <a:avLst/>
          </a:prstGeom>
          <a:solidFill>
            <a:srgbClr val="2A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120640"/>
            <a:ext cx="45720" cy="411480"/>
          </a:xfrm>
          <a:prstGeom prst="rect">
            <a:avLst/>
          </a:prstGeom>
          <a:solidFill>
            <a:srgbClr val="D63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 spc="80">
                <a:solidFill>
                  <a:srgbClr val="F2EDE2"/>
                </a:solidFill>
                <a:latin typeface="Oswald"/>
              </a:rPr>
              <a:t>MOST LA VENUES OFFER ONE OR TWO. </a:t>
            </a:r>
            <a:r>
              <a:rPr sz="1100" b="1" i="0" spc="80">
                <a:solidFill>
                  <a:srgbClr val="D63A3F"/>
                </a:solidFill>
                <a:latin typeface="Oswald"/>
              </a:rPr>
              <a:t>WE HAVE ALL SIX.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7432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D63A3F"/>
                </a:solidFill>
                <a:latin typeface="JetBrains Mono"/>
              </a:rPr>
              <a:t>RUN-PERIOD REVENUE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132320" y="3063240"/>
          <a:ext cx="44805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/>
                <a:gridCol w="1493520"/>
                <a:gridCol w="1493520"/>
              </a:tblGrid>
              <a:tr h="365760"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SCENARIO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GROSS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000" b="0" spc="200">
                          <a:solidFill>
                            <a:srgbClr val="D63A3F"/>
                          </a:solidFill>
                          <a:latin typeface="JetBrains Mono"/>
                        </a:rPr>
                        <a:t>NET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65760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Conservative ~30%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$540K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+$405K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65760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Moderate ~50%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$1.13M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+$847K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65760"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Aggressive ~65%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$1.82M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r>
                        <a:rPr sz="1200">
                          <a:solidFill>
                            <a:srgbClr val="F2EDE2"/>
                          </a:solidFill>
                          <a:latin typeface="Inter Tight"/>
                        </a:rPr>
                        <a:t>+$1.37M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132320" y="47091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D63A3F"/>
                </a:solidFill>
                <a:latin typeface="JetBrains Mono"/>
              </a:rPr>
              <a:t>WHAT WE SELL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0749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3AEA5"/>
                </a:solidFill>
                <a:latin typeface="Inter"/>
              </a:rPr>
              <a:t>Full venue buyout · premieres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507492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80">
                <a:solidFill>
                  <a:srgbClr val="D63A3F"/>
                </a:solidFill>
                <a:latin typeface="JetBrains Mono"/>
              </a:rPr>
              <a:t>$25K–$45K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367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3AEA5"/>
                </a:solidFill>
                <a:latin typeface="Inter"/>
              </a:rPr>
              <a:t>Single-space rental · launches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536752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80">
                <a:solidFill>
                  <a:srgbClr val="D63A3F"/>
                </a:solidFill>
                <a:latin typeface="JetBrains Mono"/>
              </a:rPr>
              <a:t>$6K–$12K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6601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3AEA5"/>
                </a:solidFill>
                <a:latin typeface="Inter"/>
              </a:rPr>
              <a:t>Production / filming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566013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80">
                <a:solidFill>
                  <a:srgbClr val="D63A3F"/>
                </a:solidFill>
                <a:latin typeface="JetBrains Mono"/>
              </a:rPr>
              <a:t>$8K–$18K / 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95274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3AEA5"/>
                </a:solidFill>
                <a:latin typeface="Inter"/>
              </a:rPr>
              <a:t>Recurring programs · comedy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595274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80">
                <a:solidFill>
                  <a:srgbClr val="D63A3F"/>
                </a:solidFill>
                <a:latin typeface="JetBrains Mono"/>
              </a:rPr>
              <a:t>$2K–$5K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17 · FINANCIALS · 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200">
                <a:solidFill>
                  <a:srgbClr val="D63A3F"/>
                </a:solidFill>
                <a:latin typeface="JetBrains Mono"/>
              </a:rPr>
              <a:t>A NOTE FROM THE CREATOR · DIANE LUBY LANE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1234440"/>
            <a:ext cx="3657600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71600" y="164592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0" i="1">
                <a:solidFill>
                  <a:srgbClr val="F2EDE2"/>
                </a:solidFill>
                <a:latin typeface="Fraunces"/>
              </a:rPr>
              <a:t>In Los Angeles, things take root.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9418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i="1">
                <a:solidFill>
                  <a:srgbClr val="F2EDE2"/>
                </a:solidFill>
                <a:latin typeface="Fraunces"/>
              </a:rPr>
              <a:t>People from all over the world feel this — and so they flock here, the dreamers, the wanderers, the immigrants, in search of a chance, a rebirth, a fresh start. And the city receives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1">
                <a:solidFill>
                  <a:srgbClr val="F2EDE2"/>
                </a:solidFill>
                <a:latin typeface="Fraunces"/>
              </a:rPr>
              <a:t>Los Angeles has loved 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1">
                <a:solidFill>
                  <a:srgbClr val="D63A3F"/>
                </a:solidFill>
                <a:latin typeface="Fraunces"/>
              </a:rPr>
              <a:t>With this show, we offer that love 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577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07D77"/>
                </a:solidFill>
                <a:latin typeface="Fraunces"/>
              </a:rPr>
              <a:t>— Diane Luby Lane · Creator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471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20">
                <a:solidFill>
                  <a:srgbClr val="807D77"/>
                </a:solidFill>
                <a:latin typeface="JetBrains Mono"/>
              </a:rPr>
              <a:t>18 · NOTE FROM THE CREATOR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5471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120">
                <a:solidFill>
                  <a:srgbClr val="807D77"/>
                </a:solidFill>
                <a:latin typeface="JetBrains Mono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w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200">
                <a:solidFill>
                  <a:srgbClr val="D63A3F"/>
                </a:solidFill>
                <a:latin typeface="JetBrains Mono"/>
              </a:rPr>
              <a:t>RESERVE YOUR PLACE IN ROUND ONE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987552"/>
            <a:ext cx="2551176" cy="0"/>
          </a:xfrm>
          <a:prstGeom prst="line">
            <a:avLst/>
          </a:prstGeom>
          <a:ln w="12700">
            <a:solidFill>
              <a:srgbClr val="D63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 spc="-25">
                <a:solidFill>
                  <a:srgbClr val="F2EDE2"/>
                </a:solidFill>
                <a:latin typeface="Inter Tight"/>
              </a:rPr>
              <a:t>Be part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 i="0" spc="-25">
                <a:solidFill>
                  <a:srgbClr val="F2EDE2"/>
                </a:solidFill>
                <a:latin typeface="Inter Tight"/>
              </a:rPr>
              <a:t>the </a:t>
            </a:r>
            <a:r>
              <a:rPr sz="8400" b="0" i="1" spc="-25">
                <a:solidFill>
                  <a:srgbClr val="D63A3F"/>
                </a:solidFill>
                <a:latin typeface="Fraunces"/>
              </a:rPr>
              <a:t>awakening.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D63A3F"/>
                </a:solidFill>
                <a:latin typeface="JetBrains Mono"/>
              </a:rPr>
              <a:t>TO RESERVE OR LEARN MORE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 spc="-10">
                <a:solidFill>
                  <a:srgbClr val="46C36B"/>
                </a:solidFill>
                <a:latin typeface="Inter Tight"/>
              </a:rPr>
              <a:t>press@ifiawaken.la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3AEA5"/>
                </a:solidFill>
                <a:latin typeface="Fraunces"/>
              </a:rPr>
              <a:t>ifiawaken.la · @ifiawaken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572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80">
                <a:solidFill>
                  <a:srgbClr val="D63A3F"/>
                </a:solidFill>
                <a:latin typeface="JetBrains Mono"/>
              </a:rPr>
              <a:t>ROUND ONE CLOSES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9377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 spc="-10">
                <a:solidFill>
                  <a:srgbClr val="F2EDE2"/>
                </a:solidFill>
                <a:latin typeface="Inter Tight"/>
              </a:rP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532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3AEA5"/>
                </a:solidFill>
                <a:latin typeface="Fraunces"/>
              </a:rPr>
              <a:t>Doors open · June 2027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2E2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922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60">
                <a:solidFill>
                  <a:srgbClr val="807D77"/>
                </a:solidFill>
                <a:latin typeface="JetBrains Mono"/>
              </a:rPr>
              <a:t>IF I AWAKEN IN LOS ANGELES · PITCH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60">
                <a:solidFill>
                  <a:srgbClr val="807D77"/>
                </a:solidFill>
                <a:latin typeface="JetBrains Mono"/>
              </a:rPr>
              <a:t>AN IMMERSIVE THEATRICAL TOUR OF THE REAL LOS ANGELES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