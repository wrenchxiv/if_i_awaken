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0C0C"/>
        </a:solidFill>
        <a:effectLst/>
      </p:bgPr>
    </p:bg>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08000" y="3501231"/>
            <a:ext cx="7112000" cy="2848769"/>
          </a:xfrm>
          <a:prstGeom prst="rect">
            <a:avLst/>
          </a:prstGeom>
        </p:spPr>
      </p:pic>
      <p:sp>
        <p:nvSpPr>
          <p:cNvPr id="4" name="TextBox 3"/>
          <p:cNvSpPr txBox="1"/>
          <p:nvPr/>
        </p:nvSpPr>
        <p:spPr>
          <a:xfrm>
            <a:off x="7693323" y="457200"/>
            <a:ext cx="3990677" cy="95250"/>
          </a:xfrm>
          <a:prstGeom prst="rect">
            <a:avLst/>
          </a:prstGeom>
          <a:noFill/>
        </p:spPr>
        <p:txBody>
          <a:bodyPr wrap="square" lIns="0" rIns="0" tIns="0" bIns="0">
            <a:spAutoFit/>
          </a:bodyPr>
          <a:lstStyle/>
          <a:p>
            <a:r>
              <a:rPr sz="975" b="0" i="0">
                <a:solidFill>
                  <a:srgbClr val="F4EFE6"/>
                </a:solidFill>
                <a:latin typeface="Arial"/>
              </a:rPr>
              <a:t>AN IMMERSIVE THEATRICAL TOUR OF THE REAL LOS ANGELES.</a:t>
            </a:r>
          </a:p>
        </p:txBody>
      </p:sp>
      <p:sp>
        <p:nvSpPr>
          <p:cNvPr id="5" name="TextBox 4"/>
          <p:cNvSpPr txBox="1"/>
          <p:nvPr/>
        </p:nvSpPr>
        <p:spPr>
          <a:xfrm>
            <a:off x="508000" y="457200"/>
            <a:ext cx="1231106" cy="95250"/>
          </a:xfrm>
          <a:prstGeom prst="rect">
            <a:avLst/>
          </a:prstGeom>
          <a:noFill/>
        </p:spPr>
        <p:txBody>
          <a:bodyPr wrap="square" lIns="0" rIns="0" tIns="0" bIns="0">
            <a:spAutoFit/>
          </a:bodyPr>
          <a:lstStyle/>
          <a:p>
            <a:r>
              <a:rPr sz="975" b="0" i="0">
                <a:solidFill>
                  <a:srgbClr val="F4EFE6"/>
                </a:solidFill>
                <a:latin typeface="Arial"/>
              </a:rPr>
              <a:t>PITCH DECK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EFE6"/>
        </a:solidFill>
        <a:effectLst/>
      </p:bgPr>
    </p:bg>
    <p:spTree>
      <p:nvGrpSpPr>
        <p:cNvPr id="1" name=""/>
        <p:cNvGrpSpPr/>
        <p:nvPr/>
      </p:nvGrpSpPr>
      <p:grpSpPr/>
      <p:sp>
        <p:nvSpPr>
          <p:cNvPr id="2" name="TextBox 1"/>
          <p:cNvSpPr txBox="1"/>
          <p:nvPr/>
        </p:nvSpPr>
        <p:spPr>
          <a:xfrm>
            <a:off x="889000" y="933450"/>
            <a:ext cx="8684716" cy="1176238"/>
          </a:xfrm>
          <a:prstGeom prst="rect">
            <a:avLst/>
          </a:prstGeom>
          <a:noFill/>
        </p:spPr>
        <p:txBody>
          <a:bodyPr wrap="square" lIns="0" rIns="0" tIns="0" bIns="0">
            <a:spAutoFit/>
          </a:bodyPr>
          <a:lstStyle/>
          <a:p>
            <a:r>
              <a:rPr sz="6600" b="1" i="0">
                <a:solidFill>
                  <a:srgbClr val="111111"/>
                </a:solidFill>
                <a:latin typeface="Impact"/>
              </a:rPr>
              <a:t>THE SHOW THAT LOS ANGELES HAS BEEN LOOKING FOR.</a:t>
            </a:r>
          </a:p>
        </p:txBody>
      </p:sp>
      <p:sp>
        <p:nvSpPr>
          <p:cNvPr id="3" name="TextBox 2"/>
          <p:cNvSpPr txBox="1"/>
          <p:nvPr/>
        </p:nvSpPr>
        <p:spPr>
          <a:xfrm>
            <a:off x="889000" y="2282627"/>
            <a:ext cx="8838505" cy="893961"/>
          </a:xfrm>
          <a:prstGeom prst="rect">
            <a:avLst/>
          </a:prstGeom>
          <a:noFill/>
        </p:spPr>
        <p:txBody>
          <a:bodyPr wrap="square" lIns="0" rIns="0" tIns="0" bIns="0">
            <a:spAutoFit/>
          </a:bodyPr>
          <a:lstStyle/>
          <a:p>
            <a:r>
              <a:rPr sz="2700" b="0" i="1">
                <a:solidFill>
                  <a:srgbClr val="111111"/>
                </a:solidFill>
                <a:latin typeface="Playfair Display"/>
              </a:rPr>
              <a:t>Fusing cutting-edge technology, immersive theatre, spoken word, music, dance, and interactive video, If I Awaken in Los Angeles is a city tour unlike anything that's come before — and unlike anything you'll see again.</a:t>
            </a:r>
          </a:p>
        </p:txBody>
      </p:sp>
      <p:sp>
        <p:nvSpPr>
          <p:cNvPr id="4" name="TextBox 3"/>
          <p:cNvSpPr txBox="1"/>
          <p:nvPr/>
        </p:nvSpPr>
        <p:spPr>
          <a:xfrm>
            <a:off x="889000" y="4226818"/>
            <a:ext cx="3191272" cy="766266"/>
          </a:xfrm>
          <a:prstGeom prst="rect">
            <a:avLst/>
          </a:prstGeom>
          <a:noFill/>
        </p:spPr>
        <p:txBody>
          <a:bodyPr wrap="square" lIns="0" rIns="0" tIns="0" bIns="0">
            <a:spAutoFit/>
          </a:bodyPr>
          <a:lstStyle/>
          <a:p>
            <a:r>
              <a:rPr sz="1650" b="0" i="0">
                <a:solidFill>
                  <a:srgbClr val="111111"/>
                </a:solidFill>
                <a:latin typeface="Arial"/>
              </a:rPr>
              <a:t>A space to celebrate the city they actually live in — beyond the stereotypes, beyond the postcard. The neighborhoods, the languages, the music that make LA LA .</a:t>
            </a:r>
          </a:p>
        </p:txBody>
      </p:sp>
      <p:sp>
        <p:nvSpPr>
          <p:cNvPr id="5" name="TextBox 4"/>
          <p:cNvSpPr txBox="1"/>
          <p:nvPr/>
        </p:nvSpPr>
        <p:spPr>
          <a:xfrm>
            <a:off x="4495800" y="4226818"/>
            <a:ext cx="3174802" cy="766266"/>
          </a:xfrm>
          <a:prstGeom prst="rect">
            <a:avLst/>
          </a:prstGeom>
          <a:noFill/>
        </p:spPr>
        <p:txBody>
          <a:bodyPr wrap="square" lIns="0" rIns="0" tIns="0" bIns="0">
            <a:spAutoFit/>
          </a:bodyPr>
          <a:lstStyle/>
          <a:p>
            <a:r>
              <a:rPr sz="1650" b="0" i="0">
                <a:solidFill>
                  <a:srgbClr val="111111"/>
                </a:solidFill>
                <a:latin typeface="Arial"/>
              </a:rPr>
              <a:t>The Los Angeles tourists came here to find — past the Walk of Fame, past Hollywood Boulevard. The real city, told by the people who live in it.</a:t>
            </a:r>
          </a:p>
        </p:txBody>
      </p:sp>
      <p:sp>
        <p:nvSpPr>
          <p:cNvPr id="6" name="TextBox 5"/>
          <p:cNvSpPr txBox="1"/>
          <p:nvPr/>
        </p:nvSpPr>
        <p:spPr>
          <a:xfrm>
            <a:off x="8102600" y="4226818"/>
            <a:ext cx="3068439" cy="766266"/>
          </a:xfrm>
          <a:prstGeom prst="rect">
            <a:avLst/>
          </a:prstGeom>
          <a:noFill/>
        </p:spPr>
        <p:txBody>
          <a:bodyPr wrap="square" lIns="0" rIns="0" tIns="0" bIns="0">
            <a:spAutoFit/>
          </a:bodyPr>
          <a:lstStyle/>
          <a:p>
            <a:r>
              <a:rPr sz="1650" b="0" i="0">
                <a:solidFill>
                  <a:srgbClr val="111111"/>
                </a:solidFill>
                <a:latin typeface="Arial"/>
              </a:rPr>
              <a:t>A permanent home for the city to showcase itself — to FIFA, to the Olympics, to a billion viewers. A cultural front door for LA on the global stage.</a:t>
            </a:r>
          </a:p>
        </p:txBody>
      </p:sp>
      <p:sp>
        <p:nvSpPr>
          <p:cNvPr id="7" name="TextBox 6"/>
          <p:cNvSpPr txBox="1"/>
          <p:nvPr/>
        </p:nvSpPr>
        <p:spPr>
          <a:xfrm>
            <a:off x="889000" y="635000"/>
            <a:ext cx="1285081" cy="158750"/>
          </a:xfrm>
          <a:prstGeom prst="rect">
            <a:avLst/>
          </a:prstGeom>
          <a:noFill/>
        </p:spPr>
        <p:txBody>
          <a:bodyPr wrap="square" lIns="0" rIns="0" tIns="0" bIns="0">
            <a:spAutoFit/>
          </a:bodyPr>
          <a:lstStyle/>
          <a:p>
            <a:r>
              <a:rPr sz="1650" b="1" i="0">
                <a:solidFill>
                  <a:srgbClr val="C9242A"/>
                </a:solidFill>
                <a:latin typeface="Impact"/>
              </a:rPr>
              <a:t>THE PREMISE</a:t>
            </a:r>
          </a:p>
        </p:txBody>
      </p:sp>
      <p:sp>
        <p:nvSpPr>
          <p:cNvPr id="8" name="TextBox 7"/>
          <p:cNvSpPr txBox="1"/>
          <p:nvPr/>
        </p:nvSpPr>
        <p:spPr>
          <a:xfrm>
            <a:off x="889000" y="3833118"/>
            <a:ext cx="1407220" cy="101600"/>
          </a:xfrm>
          <a:prstGeom prst="rect">
            <a:avLst/>
          </a:prstGeom>
          <a:noFill/>
        </p:spPr>
        <p:txBody>
          <a:bodyPr wrap="square" lIns="0" rIns="0" tIns="0" bIns="0">
            <a:spAutoFit/>
          </a:bodyPr>
          <a:lstStyle/>
          <a:p>
            <a:r>
              <a:rPr sz="1050" b="1" i="0">
                <a:solidFill>
                  <a:srgbClr val="C9242A"/>
                </a:solidFill>
                <a:latin typeface="Arial"/>
              </a:rPr>
              <a:t>FOR LA RESIDENTS</a:t>
            </a:r>
          </a:p>
        </p:txBody>
      </p:sp>
      <p:sp>
        <p:nvSpPr>
          <p:cNvPr id="9" name="TextBox 8"/>
          <p:cNvSpPr txBox="1"/>
          <p:nvPr/>
        </p:nvSpPr>
        <p:spPr>
          <a:xfrm>
            <a:off x="8102600" y="3833118"/>
            <a:ext cx="1204813" cy="101600"/>
          </a:xfrm>
          <a:prstGeom prst="rect">
            <a:avLst/>
          </a:prstGeom>
          <a:noFill/>
        </p:spPr>
        <p:txBody>
          <a:bodyPr wrap="square" lIns="0" rIns="0" tIns="0" bIns="0">
            <a:spAutoFit/>
          </a:bodyPr>
          <a:lstStyle/>
          <a:p>
            <a:r>
              <a:rPr sz="1050" b="1" i="0">
                <a:solidFill>
                  <a:srgbClr val="C9242A"/>
                </a:solidFill>
                <a:latin typeface="Arial"/>
              </a:rPr>
              <a:t>FOR THE WORLD</a:t>
            </a:r>
          </a:p>
        </p:txBody>
      </p:sp>
      <p:sp>
        <p:nvSpPr>
          <p:cNvPr id="10" name="TextBox 9"/>
          <p:cNvSpPr txBox="1"/>
          <p:nvPr/>
        </p:nvSpPr>
        <p:spPr>
          <a:xfrm>
            <a:off x="4495800" y="3833118"/>
            <a:ext cx="1044773" cy="101600"/>
          </a:xfrm>
          <a:prstGeom prst="rect">
            <a:avLst/>
          </a:prstGeom>
          <a:noFill/>
        </p:spPr>
        <p:txBody>
          <a:bodyPr wrap="square" lIns="0" rIns="0" tIns="0" bIns="0">
            <a:spAutoFit/>
          </a:bodyPr>
          <a:lstStyle/>
          <a:p>
            <a:r>
              <a:rPr sz="1050" b="1" i="0">
                <a:solidFill>
                  <a:srgbClr val="C9242A"/>
                </a:solidFill>
                <a:latin typeface="Arial"/>
              </a:rPr>
              <a:t>FOR VISITORS</a:t>
            </a:r>
          </a:p>
        </p:txBody>
      </p:sp>
      <p:sp>
        <p:nvSpPr>
          <p:cNvPr id="11" name="TextBox 10"/>
          <p:cNvSpPr txBox="1"/>
          <p:nvPr/>
        </p:nvSpPr>
        <p:spPr>
          <a:xfrm>
            <a:off x="10711557" y="6489700"/>
            <a:ext cx="972443" cy="88900"/>
          </a:xfrm>
          <a:prstGeom prst="rect">
            <a:avLst/>
          </a:prstGeom>
          <a:noFill/>
        </p:spPr>
        <p:txBody>
          <a:bodyPr wrap="square" lIns="0" rIns="0" tIns="0" bIns="0">
            <a:spAutoFit/>
          </a:bodyPr>
          <a:lstStyle/>
          <a:p>
            <a:r>
              <a:rPr sz="900" b="0" i="0">
                <a:solidFill>
                  <a:srgbClr val="111111"/>
                </a:solidFill>
                <a:latin typeface="Arial"/>
              </a:rPr>
              <a:t>02 OVERVIEW</a:t>
            </a:r>
          </a:p>
        </p:txBody>
      </p:sp>
      <p:sp>
        <p:nvSpPr>
          <p:cNvPr id="12" name="TextBox 11"/>
          <p:cNvSpPr txBox="1"/>
          <p:nvPr/>
        </p:nvSpPr>
        <p:spPr>
          <a:xfrm>
            <a:off x="508000" y="6489700"/>
            <a:ext cx="742752" cy="88900"/>
          </a:xfrm>
          <a:prstGeom prst="rect">
            <a:avLst/>
          </a:prstGeom>
          <a:noFill/>
        </p:spPr>
        <p:txBody>
          <a:bodyPr wrap="square" lIns="0" rIns="0" tIns="0" bIns="0">
            <a:spAutoFit/>
          </a:bodyPr>
          <a:lstStyle/>
          <a:p>
            <a:r>
              <a:rPr sz="900" b="0" i="0">
                <a:solidFill>
                  <a:srgbClr val="111111"/>
                </a:solidFill>
                <a:latin typeface="Arial"/>
              </a:rPr>
              <a:t>THE PREMISE</a:t>
            </a:r>
          </a:p>
        </p:txBody>
      </p:sp>
      <p:sp>
        <p:nvSpPr>
          <p:cNvPr id="13" name="Rectangle 12"/>
          <p:cNvSpPr/>
          <p:nvPr/>
        </p:nvSpPr>
        <p:spPr>
          <a:xfrm>
            <a:off x="10960298" y="6511925"/>
            <a:ext cx="38100" cy="38100"/>
          </a:xfrm>
          <a:prstGeom prst="rect">
            <a:avLst/>
          </a:prstGeom>
          <a:solidFill>
            <a:srgbClr val="C924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EFE6"/>
        </a:solidFill>
        <a:effectLst/>
      </p:bgPr>
    </p:bg>
    <p:spTree>
      <p:nvGrpSpPr>
        <p:cNvPr id="1" name=""/>
        <p:cNvGrpSpPr/>
        <p:nvPr/>
      </p:nvGrpSpPr>
      <p:grpSpPr/>
      <p:sp>
        <p:nvSpPr>
          <p:cNvPr id="2" name="Rectangle 1"/>
          <p:cNvSpPr/>
          <p:nvPr/>
        </p:nvSpPr>
        <p:spPr>
          <a:xfrm>
            <a:off x="6299200" y="508000"/>
            <a:ext cx="5283200" cy="29718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781050"/>
            <a:ext cx="5144095" cy="1149350"/>
          </a:xfrm>
          <a:prstGeom prst="rect">
            <a:avLst/>
          </a:prstGeom>
          <a:noFill/>
        </p:spPr>
        <p:txBody>
          <a:bodyPr wrap="square" lIns="0" rIns="0" tIns="0" bIns="0">
            <a:spAutoFit/>
          </a:bodyPr>
          <a:lstStyle/>
          <a:p>
            <a:r>
              <a:rPr sz="4500" b="1" i="0">
                <a:solidFill>
                  <a:srgbClr val="111111"/>
                </a:solidFill>
                <a:latin typeface="Impact"/>
              </a:rPr>
              <a:t>IF I AWAKEN IN LOS ANGELES THE PILOT PERFORMANCE.</a:t>
            </a:r>
          </a:p>
        </p:txBody>
      </p:sp>
      <p:sp>
        <p:nvSpPr>
          <p:cNvPr id="4" name="TextBox 3"/>
          <p:cNvSpPr txBox="1"/>
          <p:nvPr/>
        </p:nvSpPr>
        <p:spPr>
          <a:xfrm>
            <a:off x="609600" y="2057400"/>
            <a:ext cx="5223371" cy="501650"/>
          </a:xfrm>
          <a:prstGeom prst="rect">
            <a:avLst/>
          </a:prstGeom>
          <a:noFill/>
        </p:spPr>
        <p:txBody>
          <a:bodyPr wrap="square" lIns="0" rIns="0" tIns="0" bIns="0">
            <a:spAutoFit/>
          </a:bodyPr>
          <a:lstStyle/>
          <a:p>
            <a:r>
              <a:rPr sz="1425" b="0" i="0">
                <a:solidFill>
                  <a:srgbClr val="1C1C1C"/>
                </a:solidFill>
                <a:latin typeface="Arial"/>
              </a:rPr>
              <a:t>On August 1, 2025, If I Awaken in Los Angeles made its electrifying world premiere at the iconic Ford Theatre . In partnership with The LA Philharmonic and directed by Gina Belafonte , the show had its sold-out debut.</a:t>
            </a:r>
          </a:p>
        </p:txBody>
      </p:sp>
      <p:sp>
        <p:nvSpPr>
          <p:cNvPr id="5" name="TextBox 4"/>
          <p:cNvSpPr txBox="1"/>
          <p:nvPr/>
        </p:nvSpPr>
        <p:spPr>
          <a:xfrm>
            <a:off x="609600" y="2847975"/>
            <a:ext cx="1768078" cy="647700"/>
          </a:xfrm>
          <a:prstGeom prst="rect">
            <a:avLst/>
          </a:prstGeom>
          <a:noFill/>
        </p:spPr>
        <p:txBody>
          <a:bodyPr wrap="square" lIns="0" rIns="0" tIns="0" bIns="0">
            <a:spAutoFit/>
          </a:bodyPr>
          <a:lstStyle/>
          <a:p>
            <a:r>
              <a:rPr sz="6900" b="1" i="0">
                <a:solidFill>
                  <a:srgbClr val="C9242A"/>
                </a:solidFill>
                <a:latin typeface="Impact"/>
              </a:rPr>
              <a:t>1,000+</a:t>
            </a:r>
          </a:p>
        </p:txBody>
      </p:sp>
      <p:sp>
        <p:nvSpPr>
          <p:cNvPr id="6" name="TextBox 5"/>
          <p:cNvSpPr txBox="1"/>
          <p:nvPr/>
        </p:nvSpPr>
        <p:spPr>
          <a:xfrm>
            <a:off x="609600" y="533400"/>
            <a:ext cx="3658592" cy="158750"/>
          </a:xfrm>
          <a:prstGeom prst="rect">
            <a:avLst/>
          </a:prstGeom>
          <a:noFill/>
        </p:spPr>
        <p:txBody>
          <a:bodyPr wrap="square" lIns="0" rIns="0" tIns="0" bIns="0">
            <a:spAutoFit/>
          </a:bodyPr>
          <a:lstStyle/>
          <a:p>
            <a:r>
              <a:rPr sz="1650" b="1" i="0">
                <a:solidFill>
                  <a:srgbClr val="C9242A"/>
                </a:solidFill>
                <a:latin typeface="Impact"/>
              </a:rPr>
              <a:t>THE PREMIERE THAT MOVED THE CITY</a:t>
            </a:r>
          </a:p>
        </p:txBody>
      </p:sp>
      <p:sp>
        <p:nvSpPr>
          <p:cNvPr id="7" name="Rectangle 6"/>
          <p:cNvSpPr/>
          <p:nvPr/>
        </p:nvSpPr>
        <p:spPr>
          <a:xfrm>
            <a:off x="6400800" y="3219450"/>
            <a:ext cx="3078659" cy="17145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77000" y="3263900"/>
            <a:ext cx="2926259" cy="82550"/>
          </a:xfrm>
          <a:prstGeom prst="rect">
            <a:avLst/>
          </a:prstGeom>
          <a:noFill/>
        </p:spPr>
        <p:txBody>
          <a:bodyPr wrap="square" lIns="0" rIns="0" tIns="0" bIns="0">
            <a:spAutoFit/>
          </a:bodyPr>
          <a:lstStyle/>
          <a:p>
            <a:r>
              <a:rPr sz="825" b="0" i="0">
                <a:solidFill>
                  <a:srgbClr val="F4EFE6"/>
                </a:solidFill>
                <a:latin typeface="Arial"/>
              </a:rPr>
              <a:t>● PILOT PERFORMANCE · FORD THEATRE · AUG 1, 2025</a:t>
            </a:r>
          </a:p>
        </p:txBody>
      </p:sp>
      <p:sp>
        <p:nvSpPr>
          <p:cNvPr id="9" name="TextBox 8"/>
          <p:cNvSpPr txBox="1"/>
          <p:nvPr/>
        </p:nvSpPr>
        <p:spPr>
          <a:xfrm>
            <a:off x="2057400" y="4823619"/>
            <a:ext cx="1852513" cy="101600"/>
          </a:xfrm>
          <a:prstGeom prst="rect">
            <a:avLst/>
          </a:prstGeom>
          <a:noFill/>
        </p:spPr>
        <p:txBody>
          <a:bodyPr wrap="square" lIns="0" rIns="0" tIns="0" bIns="0">
            <a:spAutoFit/>
          </a:bodyPr>
          <a:lstStyle/>
          <a:p>
            <a:r>
              <a:rPr sz="1050" b="0" i="0">
                <a:solidFill>
                  <a:srgbClr val="111111"/>
                </a:solidFill>
                <a:latin typeface="Arial"/>
              </a:rPr>
              <a:t>Actor — Hook, Avatar: The Last Airbender</a:t>
            </a:r>
          </a:p>
        </p:txBody>
      </p:sp>
      <p:sp>
        <p:nvSpPr>
          <p:cNvPr id="10" name="TextBox 9"/>
          <p:cNvSpPr txBox="1"/>
          <p:nvPr/>
        </p:nvSpPr>
        <p:spPr>
          <a:xfrm>
            <a:off x="2057400" y="5385594"/>
            <a:ext cx="1613198" cy="101600"/>
          </a:xfrm>
          <a:prstGeom prst="rect">
            <a:avLst/>
          </a:prstGeom>
          <a:noFill/>
        </p:spPr>
        <p:txBody>
          <a:bodyPr wrap="square" lIns="0" rIns="0" tIns="0" bIns="0">
            <a:spAutoFit/>
          </a:bodyPr>
          <a:lstStyle/>
          <a:p>
            <a:r>
              <a:rPr sz="1050" b="0" i="0">
                <a:solidFill>
                  <a:srgbClr val="111111"/>
                </a:solidFill>
                <a:latin typeface="Arial"/>
              </a:rPr>
              <a:t>Fernando Pullum Community Center</a:t>
            </a:r>
          </a:p>
        </p:txBody>
      </p:sp>
      <p:sp>
        <p:nvSpPr>
          <p:cNvPr id="11" name="TextBox 10"/>
          <p:cNvSpPr txBox="1"/>
          <p:nvPr/>
        </p:nvSpPr>
        <p:spPr>
          <a:xfrm>
            <a:off x="508000" y="6489700"/>
            <a:ext cx="1753195" cy="88900"/>
          </a:xfrm>
          <a:prstGeom prst="rect">
            <a:avLst/>
          </a:prstGeom>
          <a:noFill/>
        </p:spPr>
        <p:txBody>
          <a:bodyPr wrap="square" lIns="0" rIns="0" tIns="0" bIns="0">
            <a:spAutoFit/>
          </a:bodyPr>
          <a:lstStyle/>
          <a:p>
            <a:r>
              <a:rPr sz="900" b="0" i="0">
                <a:solidFill>
                  <a:srgbClr val="111111"/>
                </a:solidFill>
                <a:latin typeface="Arial"/>
              </a:rPr>
              <a:t>WITH GET LIT – WORDS IGNITE</a:t>
            </a:r>
          </a:p>
        </p:txBody>
      </p:sp>
      <p:sp>
        <p:nvSpPr>
          <p:cNvPr id="12" name="TextBox 11"/>
          <p:cNvSpPr txBox="1"/>
          <p:nvPr/>
        </p:nvSpPr>
        <p:spPr>
          <a:xfrm>
            <a:off x="4711402" y="4248944"/>
            <a:ext cx="1260872" cy="120650"/>
          </a:xfrm>
          <a:prstGeom prst="rect">
            <a:avLst/>
          </a:prstGeom>
          <a:noFill/>
        </p:spPr>
        <p:txBody>
          <a:bodyPr wrap="square" lIns="0" rIns="0" tIns="0" bIns="0">
            <a:spAutoFit/>
          </a:bodyPr>
          <a:lstStyle/>
          <a:p>
            <a:r>
              <a:rPr sz="1275" b="1" i="0">
                <a:solidFill>
                  <a:srgbClr val="111111"/>
                </a:solidFill>
                <a:latin typeface="Impact"/>
              </a:rPr>
              <a:t>[PLACEHOLDER NAME]</a:t>
            </a:r>
          </a:p>
        </p:txBody>
      </p:sp>
      <p:sp>
        <p:nvSpPr>
          <p:cNvPr id="13" name="TextBox 12"/>
          <p:cNvSpPr txBox="1"/>
          <p:nvPr/>
        </p:nvSpPr>
        <p:spPr>
          <a:xfrm>
            <a:off x="4711402" y="4529931"/>
            <a:ext cx="1260872" cy="120650"/>
          </a:xfrm>
          <a:prstGeom prst="rect">
            <a:avLst/>
          </a:prstGeom>
          <a:noFill/>
        </p:spPr>
        <p:txBody>
          <a:bodyPr wrap="square" lIns="0" rIns="0" tIns="0" bIns="0">
            <a:spAutoFit/>
          </a:bodyPr>
          <a:lstStyle/>
          <a:p>
            <a:r>
              <a:rPr sz="1275" b="1" i="0">
                <a:solidFill>
                  <a:srgbClr val="111111"/>
                </a:solidFill>
                <a:latin typeface="Impact"/>
              </a:rPr>
              <a:t>[PLACEHOLDER NAME]</a:t>
            </a:r>
          </a:p>
        </p:txBody>
      </p:sp>
      <p:sp>
        <p:nvSpPr>
          <p:cNvPr id="14" name="TextBox 13"/>
          <p:cNvSpPr txBox="1"/>
          <p:nvPr/>
        </p:nvSpPr>
        <p:spPr>
          <a:xfrm>
            <a:off x="4711402" y="4810919"/>
            <a:ext cx="1260872" cy="120650"/>
          </a:xfrm>
          <a:prstGeom prst="rect">
            <a:avLst/>
          </a:prstGeom>
          <a:noFill/>
        </p:spPr>
        <p:txBody>
          <a:bodyPr wrap="square" lIns="0" rIns="0" tIns="0" bIns="0">
            <a:spAutoFit/>
          </a:bodyPr>
          <a:lstStyle/>
          <a:p>
            <a:r>
              <a:rPr sz="1275" b="1" i="0">
                <a:solidFill>
                  <a:srgbClr val="111111"/>
                </a:solidFill>
                <a:latin typeface="Impact"/>
              </a:rPr>
              <a:t>[PLACEHOLDER NAME]</a:t>
            </a:r>
          </a:p>
        </p:txBody>
      </p:sp>
      <p:sp>
        <p:nvSpPr>
          <p:cNvPr id="15" name="TextBox 14"/>
          <p:cNvSpPr txBox="1"/>
          <p:nvPr/>
        </p:nvSpPr>
        <p:spPr>
          <a:xfrm>
            <a:off x="2057400" y="4542631"/>
            <a:ext cx="1391841" cy="101600"/>
          </a:xfrm>
          <a:prstGeom prst="rect">
            <a:avLst/>
          </a:prstGeom>
          <a:noFill/>
        </p:spPr>
        <p:txBody>
          <a:bodyPr wrap="square" lIns="0" rIns="0" tIns="0" bIns="0">
            <a:spAutoFit/>
          </a:bodyPr>
          <a:lstStyle/>
          <a:p>
            <a:r>
              <a:rPr sz="1050" b="0" i="0">
                <a:solidFill>
                  <a:srgbClr val="111111"/>
                </a:solidFill>
                <a:latin typeface="Arial"/>
              </a:rPr>
              <a:t>Current LA Youth Poet Laureate</a:t>
            </a:r>
          </a:p>
        </p:txBody>
      </p:sp>
      <p:sp>
        <p:nvSpPr>
          <p:cNvPr id="16" name="TextBox 15"/>
          <p:cNvSpPr txBox="1"/>
          <p:nvPr/>
        </p:nvSpPr>
        <p:spPr>
          <a:xfrm>
            <a:off x="609600" y="4248944"/>
            <a:ext cx="1062038" cy="120650"/>
          </a:xfrm>
          <a:prstGeom prst="rect">
            <a:avLst/>
          </a:prstGeom>
          <a:noFill/>
        </p:spPr>
        <p:txBody>
          <a:bodyPr wrap="square" lIns="0" rIns="0" tIns="0" bIns="0">
            <a:spAutoFit/>
          </a:bodyPr>
          <a:lstStyle/>
          <a:p>
            <a:r>
              <a:rPr sz="1275" b="1" i="0">
                <a:solidFill>
                  <a:srgbClr val="111111"/>
                </a:solidFill>
                <a:latin typeface="Impact"/>
              </a:rPr>
              <a:t>LUIS J. RODRIGUEZ</a:t>
            </a:r>
          </a:p>
        </p:txBody>
      </p:sp>
      <p:sp>
        <p:nvSpPr>
          <p:cNvPr id="17" name="TextBox 16"/>
          <p:cNvSpPr txBox="1"/>
          <p:nvPr/>
        </p:nvSpPr>
        <p:spPr>
          <a:xfrm>
            <a:off x="609600" y="3505994"/>
            <a:ext cx="1414661" cy="88900"/>
          </a:xfrm>
          <a:prstGeom prst="rect">
            <a:avLst/>
          </a:prstGeom>
          <a:noFill/>
        </p:spPr>
        <p:txBody>
          <a:bodyPr wrap="square" lIns="0" rIns="0" tIns="0" bIns="0">
            <a:spAutoFit/>
          </a:bodyPr>
          <a:lstStyle/>
          <a:p>
            <a:r>
              <a:rPr sz="900" b="1" i="0">
                <a:solidFill>
                  <a:srgbClr val="111111"/>
                </a:solidFill>
                <a:latin typeface="Arial"/>
              </a:rPr>
              <a:t>SOLD-OUT ATTENDANCE</a:t>
            </a:r>
          </a:p>
        </p:txBody>
      </p:sp>
      <p:sp>
        <p:nvSpPr>
          <p:cNvPr id="18" name="TextBox 17"/>
          <p:cNvSpPr txBox="1"/>
          <p:nvPr/>
        </p:nvSpPr>
        <p:spPr>
          <a:xfrm>
            <a:off x="8324652" y="4529931"/>
            <a:ext cx="1025723" cy="120650"/>
          </a:xfrm>
          <a:prstGeom prst="rect">
            <a:avLst/>
          </a:prstGeom>
          <a:noFill/>
        </p:spPr>
        <p:txBody>
          <a:bodyPr wrap="square" lIns="0" rIns="0" tIns="0" bIns="0">
            <a:spAutoFit/>
          </a:bodyPr>
          <a:lstStyle/>
          <a:p>
            <a:r>
              <a:rPr sz="1275" b="1" i="0">
                <a:solidFill>
                  <a:srgbClr val="111111"/>
                </a:solidFill>
                <a:latin typeface="Impact"/>
              </a:rPr>
              <a:t>LA PHILHARMONIC</a:t>
            </a:r>
          </a:p>
        </p:txBody>
      </p:sp>
      <p:sp>
        <p:nvSpPr>
          <p:cNvPr id="19" name="TextBox 18"/>
          <p:cNvSpPr txBox="1"/>
          <p:nvPr/>
        </p:nvSpPr>
        <p:spPr>
          <a:xfrm>
            <a:off x="2057400" y="5104606"/>
            <a:ext cx="1116012" cy="101600"/>
          </a:xfrm>
          <a:prstGeom prst="rect">
            <a:avLst/>
          </a:prstGeom>
          <a:noFill/>
        </p:spPr>
        <p:txBody>
          <a:bodyPr wrap="square" lIns="0" rIns="0" tIns="0" bIns="0">
            <a:spAutoFit/>
          </a:bodyPr>
          <a:lstStyle/>
          <a:p>
            <a:r>
              <a:rPr sz="1050" b="0" i="0">
                <a:solidFill>
                  <a:srgbClr val="111111"/>
                </a:solidFill>
                <a:latin typeface="Arial"/>
              </a:rPr>
              <a:t>Vocalist, NBC's The Voice</a:t>
            </a:r>
          </a:p>
        </p:txBody>
      </p:sp>
      <p:sp>
        <p:nvSpPr>
          <p:cNvPr id="20" name="TextBox 19"/>
          <p:cNvSpPr txBox="1"/>
          <p:nvPr/>
        </p:nvSpPr>
        <p:spPr>
          <a:xfrm>
            <a:off x="2057400" y="4261644"/>
            <a:ext cx="1100435" cy="101600"/>
          </a:xfrm>
          <a:prstGeom prst="rect">
            <a:avLst/>
          </a:prstGeom>
          <a:noFill/>
        </p:spPr>
        <p:txBody>
          <a:bodyPr wrap="square" lIns="0" rIns="0" tIns="0" bIns="0">
            <a:spAutoFit/>
          </a:bodyPr>
          <a:lstStyle/>
          <a:p>
            <a:r>
              <a:rPr sz="1050" b="0" i="0">
                <a:solidFill>
                  <a:srgbClr val="111111"/>
                </a:solidFill>
                <a:latin typeface="Arial"/>
              </a:rPr>
              <a:t>Former LA Poet Laureate</a:t>
            </a:r>
          </a:p>
        </p:txBody>
      </p:sp>
      <p:sp>
        <p:nvSpPr>
          <p:cNvPr id="21" name="TextBox 20"/>
          <p:cNvSpPr txBox="1"/>
          <p:nvPr/>
        </p:nvSpPr>
        <p:spPr>
          <a:xfrm>
            <a:off x="609600" y="4529931"/>
            <a:ext cx="921643" cy="120650"/>
          </a:xfrm>
          <a:prstGeom prst="rect">
            <a:avLst/>
          </a:prstGeom>
          <a:noFill/>
        </p:spPr>
        <p:txBody>
          <a:bodyPr wrap="square" lIns="0" rIns="0" tIns="0" bIns="0">
            <a:spAutoFit/>
          </a:bodyPr>
          <a:lstStyle/>
          <a:p>
            <a:r>
              <a:rPr sz="1275" b="1" i="0">
                <a:solidFill>
                  <a:srgbClr val="111111"/>
                </a:solidFill>
                <a:latin typeface="Impact"/>
              </a:rPr>
              <a:t>SAMANTHA RIOS</a:t>
            </a:r>
          </a:p>
        </p:txBody>
      </p:sp>
      <p:sp>
        <p:nvSpPr>
          <p:cNvPr id="22" name="TextBox 21"/>
          <p:cNvSpPr txBox="1"/>
          <p:nvPr/>
        </p:nvSpPr>
        <p:spPr>
          <a:xfrm>
            <a:off x="8324652" y="4248944"/>
            <a:ext cx="850602" cy="120650"/>
          </a:xfrm>
          <a:prstGeom prst="rect">
            <a:avLst/>
          </a:prstGeom>
          <a:noFill/>
        </p:spPr>
        <p:txBody>
          <a:bodyPr wrap="square" lIns="0" rIns="0" tIns="0" bIns="0">
            <a:spAutoFit/>
          </a:bodyPr>
          <a:lstStyle/>
          <a:p>
            <a:r>
              <a:rPr sz="1275" b="1" i="0">
                <a:solidFill>
                  <a:srgbClr val="111111"/>
                </a:solidFill>
                <a:latin typeface="Impact"/>
              </a:rPr>
              <a:t>FORD THEATRE</a:t>
            </a:r>
          </a:p>
        </p:txBody>
      </p:sp>
      <p:sp>
        <p:nvSpPr>
          <p:cNvPr id="23" name="TextBox 22"/>
          <p:cNvSpPr txBox="1"/>
          <p:nvPr/>
        </p:nvSpPr>
        <p:spPr>
          <a:xfrm>
            <a:off x="609600" y="5372894"/>
            <a:ext cx="840581" cy="120650"/>
          </a:xfrm>
          <a:prstGeom prst="rect">
            <a:avLst/>
          </a:prstGeom>
          <a:noFill/>
        </p:spPr>
        <p:txBody>
          <a:bodyPr wrap="square" lIns="0" rIns="0" tIns="0" bIns="0">
            <a:spAutoFit/>
          </a:bodyPr>
          <a:lstStyle/>
          <a:p>
            <a:r>
              <a:rPr sz="1275" b="1" i="0">
                <a:solidFill>
                  <a:srgbClr val="111111"/>
                </a:solidFill>
                <a:latin typeface="Impact"/>
              </a:rPr>
              <a:t>PULLUM CHOIR</a:t>
            </a:r>
          </a:p>
        </p:txBody>
      </p:sp>
      <p:sp>
        <p:nvSpPr>
          <p:cNvPr id="24" name="TextBox 23"/>
          <p:cNvSpPr txBox="1"/>
          <p:nvPr/>
        </p:nvSpPr>
        <p:spPr>
          <a:xfrm>
            <a:off x="609600" y="4810919"/>
            <a:ext cx="803573" cy="120650"/>
          </a:xfrm>
          <a:prstGeom prst="rect">
            <a:avLst/>
          </a:prstGeom>
          <a:noFill/>
        </p:spPr>
        <p:txBody>
          <a:bodyPr wrap="square" lIns="0" rIns="0" tIns="0" bIns="0">
            <a:spAutoFit/>
          </a:bodyPr>
          <a:lstStyle/>
          <a:p>
            <a:r>
              <a:rPr sz="1275" b="1" i="0">
                <a:solidFill>
                  <a:srgbClr val="111111"/>
                </a:solidFill>
                <a:latin typeface="Impact"/>
              </a:rPr>
              <a:t>DANTE BASCO</a:t>
            </a:r>
          </a:p>
        </p:txBody>
      </p:sp>
      <p:sp>
        <p:nvSpPr>
          <p:cNvPr id="25" name="TextBox 24"/>
          <p:cNvSpPr txBox="1"/>
          <p:nvPr/>
        </p:nvSpPr>
        <p:spPr>
          <a:xfrm>
            <a:off x="609600" y="4058444"/>
            <a:ext cx="1158577" cy="82550"/>
          </a:xfrm>
          <a:prstGeom prst="rect">
            <a:avLst/>
          </a:prstGeom>
          <a:noFill/>
        </p:spPr>
        <p:txBody>
          <a:bodyPr wrap="square" lIns="0" rIns="0" tIns="0" bIns="0">
            <a:spAutoFit/>
          </a:bodyPr>
          <a:lstStyle/>
          <a:p>
            <a:r>
              <a:rPr sz="825" b="1" i="0">
                <a:solidFill>
                  <a:srgbClr val="C9242A"/>
                </a:solidFill>
                <a:latin typeface="Arial"/>
              </a:rPr>
              <a:t>FEATURED ON STAGE</a:t>
            </a:r>
          </a:p>
        </p:txBody>
      </p:sp>
      <p:sp>
        <p:nvSpPr>
          <p:cNvPr id="26" name="TextBox 25"/>
          <p:cNvSpPr txBox="1"/>
          <p:nvPr/>
        </p:nvSpPr>
        <p:spPr>
          <a:xfrm>
            <a:off x="6159202" y="4261644"/>
            <a:ext cx="913011" cy="101600"/>
          </a:xfrm>
          <a:prstGeom prst="rect">
            <a:avLst/>
          </a:prstGeom>
          <a:noFill/>
        </p:spPr>
        <p:txBody>
          <a:bodyPr wrap="square" lIns="0" rIns="0" tIns="0" bIns="0">
            <a:spAutoFit/>
          </a:bodyPr>
          <a:lstStyle/>
          <a:p>
            <a:r>
              <a:rPr sz="1050" b="0" i="0">
                <a:solidFill>
                  <a:srgbClr val="111111"/>
                </a:solidFill>
                <a:latin typeface="Arial"/>
              </a:rPr>
              <a:t>[Title · Organization]</a:t>
            </a:r>
          </a:p>
        </p:txBody>
      </p:sp>
      <p:sp>
        <p:nvSpPr>
          <p:cNvPr id="27" name="TextBox 26"/>
          <p:cNvSpPr txBox="1"/>
          <p:nvPr/>
        </p:nvSpPr>
        <p:spPr>
          <a:xfrm>
            <a:off x="6159202" y="4542631"/>
            <a:ext cx="913011" cy="101600"/>
          </a:xfrm>
          <a:prstGeom prst="rect">
            <a:avLst/>
          </a:prstGeom>
          <a:noFill/>
        </p:spPr>
        <p:txBody>
          <a:bodyPr wrap="square" lIns="0" rIns="0" tIns="0" bIns="0">
            <a:spAutoFit/>
          </a:bodyPr>
          <a:lstStyle/>
          <a:p>
            <a:r>
              <a:rPr sz="1050" b="0" i="0">
                <a:solidFill>
                  <a:srgbClr val="111111"/>
                </a:solidFill>
                <a:latin typeface="Arial"/>
              </a:rPr>
              <a:t>[Title · Organization]</a:t>
            </a:r>
          </a:p>
        </p:txBody>
      </p:sp>
      <p:sp>
        <p:nvSpPr>
          <p:cNvPr id="28" name="TextBox 27"/>
          <p:cNvSpPr txBox="1"/>
          <p:nvPr/>
        </p:nvSpPr>
        <p:spPr>
          <a:xfrm>
            <a:off x="6159202" y="4823619"/>
            <a:ext cx="913011" cy="101600"/>
          </a:xfrm>
          <a:prstGeom prst="rect">
            <a:avLst/>
          </a:prstGeom>
          <a:noFill/>
        </p:spPr>
        <p:txBody>
          <a:bodyPr wrap="square" lIns="0" rIns="0" tIns="0" bIns="0">
            <a:spAutoFit/>
          </a:bodyPr>
          <a:lstStyle/>
          <a:p>
            <a:r>
              <a:rPr sz="1050" b="0" i="0">
                <a:solidFill>
                  <a:srgbClr val="111111"/>
                </a:solidFill>
                <a:latin typeface="Arial"/>
              </a:rPr>
              <a:t>[Title · Organization]</a:t>
            </a:r>
          </a:p>
        </p:txBody>
      </p:sp>
      <p:sp>
        <p:nvSpPr>
          <p:cNvPr id="29" name="TextBox 28"/>
          <p:cNvSpPr txBox="1"/>
          <p:nvPr/>
        </p:nvSpPr>
        <p:spPr>
          <a:xfrm>
            <a:off x="609600" y="5091906"/>
            <a:ext cx="754658" cy="120650"/>
          </a:xfrm>
          <a:prstGeom prst="rect">
            <a:avLst/>
          </a:prstGeom>
          <a:noFill/>
        </p:spPr>
        <p:txBody>
          <a:bodyPr wrap="square" lIns="0" rIns="0" tIns="0" bIns="0">
            <a:spAutoFit/>
          </a:bodyPr>
          <a:lstStyle/>
          <a:p>
            <a:r>
              <a:rPr sz="1275" b="1" i="0">
                <a:solidFill>
                  <a:srgbClr val="111111"/>
                </a:solidFill>
                <a:latin typeface="Impact"/>
              </a:rPr>
              <a:t>MENDELEYEV</a:t>
            </a:r>
          </a:p>
        </p:txBody>
      </p:sp>
      <p:sp>
        <p:nvSpPr>
          <p:cNvPr id="30" name="TextBox 29"/>
          <p:cNvSpPr txBox="1"/>
          <p:nvPr/>
        </p:nvSpPr>
        <p:spPr>
          <a:xfrm>
            <a:off x="4711402" y="4058444"/>
            <a:ext cx="884238" cy="82550"/>
          </a:xfrm>
          <a:prstGeom prst="rect">
            <a:avLst/>
          </a:prstGeom>
          <a:noFill/>
        </p:spPr>
        <p:txBody>
          <a:bodyPr wrap="square" lIns="0" rIns="0" tIns="0" bIns="0">
            <a:spAutoFit/>
          </a:bodyPr>
          <a:lstStyle/>
          <a:p>
            <a:r>
              <a:rPr sz="825" b="1" i="0">
                <a:solidFill>
                  <a:srgbClr val="C9242A"/>
                </a:solidFill>
                <a:latin typeface="Arial"/>
              </a:rPr>
              <a:t>IN ATTENDANCE</a:t>
            </a:r>
          </a:p>
        </p:txBody>
      </p:sp>
      <p:sp>
        <p:nvSpPr>
          <p:cNvPr id="31" name="TextBox 30"/>
          <p:cNvSpPr txBox="1"/>
          <p:nvPr/>
        </p:nvSpPr>
        <p:spPr>
          <a:xfrm>
            <a:off x="10966648" y="6489700"/>
            <a:ext cx="717352" cy="88900"/>
          </a:xfrm>
          <a:prstGeom prst="rect">
            <a:avLst/>
          </a:prstGeom>
          <a:noFill/>
        </p:spPr>
        <p:txBody>
          <a:bodyPr wrap="square" lIns="0" rIns="0" tIns="0" bIns="0">
            <a:spAutoFit/>
          </a:bodyPr>
          <a:lstStyle/>
          <a:p>
            <a:r>
              <a:rPr sz="900" b="0" i="0">
                <a:solidFill>
                  <a:srgbClr val="111111"/>
                </a:solidFill>
                <a:latin typeface="Arial"/>
              </a:rPr>
              <a:t>03 PILOT</a:t>
            </a:r>
          </a:p>
        </p:txBody>
      </p:sp>
      <p:sp>
        <p:nvSpPr>
          <p:cNvPr id="32" name="TextBox 31"/>
          <p:cNvSpPr txBox="1"/>
          <p:nvPr/>
        </p:nvSpPr>
        <p:spPr>
          <a:xfrm>
            <a:off x="9772452" y="4542631"/>
            <a:ext cx="611188" cy="101600"/>
          </a:xfrm>
          <a:prstGeom prst="rect">
            <a:avLst/>
          </a:prstGeom>
          <a:noFill/>
        </p:spPr>
        <p:txBody>
          <a:bodyPr wrap="square" lIns="0" rIns="0" tIns="0" bIns="0">
            <a:spAutoFit/>
          </a:bodyPr>
          <a:lstStyle/>
          <a:p>
            <a:r>
              <a:rPr sz="1050" b="0" i="0">
                <a:solidFill>
                  <a:srgbClr val="111111"/>
                </a:solidFill>
                <a:latin typeface="Arial"/>
              </a:rPr>
              <a:t>Music partner</a:t>
            </a:r>
          </a:p>
        </p:txBody>
      </p:sp>
      <p:sp>
        <p:nvSpPr>
          <p:cNvPr id="33" name="TextBox 32"/>
          <p:cNvSpPr txBox="1"/>
          <p:nvPr/>
        </p:nvSpPr>
        <p:spPr>
          <a:xfrm>
            <a:off x="9772452" y="4823619"/>
            <a:ext cx="556320" cy="101600"/>
          </a:xfrm>
          <a:prstGeom prst="rect">
            <a:avLst/>
          </a:prstGeom>
          <a:noFill/>
        </p:spPr>
        <p:txBody>
          <a:bodyPr wrap="square" lIns="0" rIns="0" tIns="0" bIns="0">
            <a:spAutoFit/>
          </a:bodyPr>
          <a:lstStyle/>
          <a:p>
            <a:r>
              <a:rPr sz="1050" b="0" i="0">
                <a:solidFill>
                  <a:srgbClr val="111111"/>
                </a:solidFill>
                <a:latin typeface="Arial"/>
              </a:rPr>
              <a:t>Words Ignite</a:t>
            </a:r>
          </a:p>
        </p:txBody>
      </p:sp>
      <p:sp>
        <p:nvSpPr>
          <p:cNvPr id="34" name="TextBox 33"/>
          <p:cNvSpPr txBox="1"/>
          <p:nvPr/>
        </p:nvSpPr>
        <p:spPr>
          <a:xfrm>
            <a:off x="9772452" y="4261644"/>
            <a:ext cx="505420" cy="101600"/>
          </a:xfrm>
          <a:prstGeom prst="rect">
            <a:avLst/>
          </a:prstGeom>
          <a:noFill/>
        </p:spPr>
        <p:txBody>
          <a:bodyPr wrap="square" lIns="0" rIns="0" tIns="0" bIns="0">
            <a:spAutoFit/>
          </a:bodyPr>
          <a:lstStyle/>
          <a:p>
            <a:r>
              <a:rPr sz="1050" b="0" i="0">
                <a:solidFill>
                  <a:srgbClr val="111111"/>
                </a:solidFill>
                <a:latin typeface="Arial"/>
              </a:rPr>
              <a:t>Host venue</a:t>
            </a:r>
          </a:p>
        </p:txBody>
      </p:sp>
      <p:sp>
        <p:nvSpPr>
          <p:cNvPr id="35" name="TextBox 34"/>
          <p:cNvSpPr txBox="1"/>
          <p:nvPr/>
        </p:nvSpPr>
        <p:spPr>
          <a:xfrm>
            <a:off x="8324652" y="4810919"/>
            <a:ext cx="421382" cy="120650"/>
          </a:xfrm>
          <a:prstGeom prst="rect">
            <a:avLst/>
          </a:prstGeom>
          <a:noFill/>
        </p:spPr>
        <p:txBody>
          <a:bodyPr wrap="square" lIns="0" rIns="0" tIns="0" bIns="0">
            <a:spAutoFit/>
          </a:bodyPr>
          <a:lstStyle/>
          <a:p>
            <a:r>
              <a:rPr sz="1275" b="1" i="0">
                <a:solidFill>
                  <a:srgbClr val="111111"/>
                </a:solidFill>
                <a:latin typeface="Impact"/>
              </a:rPr>
              <a:t>GET LIT</a:t>
            </a:r>
          </a:p>
        </p:txBody>
      </p:sp>
      <p:sp>
        <p:nvSpPr>
          <p:cNvPr id="36" name="TextBox 35"/>
          <p:cNvSpPr txBox="1"/>
          <p:nvPr/>
        </p:nvSpPr>
        <p:spPr>
          <a:xfrm>
            <a:off x="8324652" y="4058444"/>
            <a:ext cx="563959" cy="82550"/>
          </a:xfrm>
          <a:prstGeom prst="rect">
            <a:avLst/>
          </a:prstGeom>
          <a:noFill/>
        </p:spPr>
        <p:txBody>
          <a:bodyPr wrap="square" lIns="0" rIns="0" tIns="0" bIns="0">
            <a:spAutoFit/>
          </a:bodyPr>
          <a:lstStyle/>
          <a:p>
            <a:r>
              <a:rPr sz="825" b="1" i="0">
                <a:solidFill>
                  <a:srgbClr val="C9242A"/>
                </a:solidFill>
                <a:latin typeface="Arial"/>
              </a:rPr>
              <a:t>PARTNERS</a:t>
            </a:r>
          </a:p>
        </p:txBody>
      </p:sp>
      <p:sp>
        <p:nvSpPr>
          <p:cNvPr id="37" name="Rectangle 36"/>
          <p:cNvSpPr/>
          <p:nvPr/>
        </p:nvSpPr>
        <p:spPr>
          <a:xfrm>
            <a:off x="11215390" y="6511925"/>
            <a:ext cx="38100" cy="38100"/>
          </a:xfrm>
          <a:prstGeom prst="rect">
            <a:avLst/>
          </a:prstGeom>
          <a:solidFill>
            <a:srgbClr val="C924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C9242A"/>
        </a:solidFill>
        <a:effectLst/>
      </p:bgPr>
    </p:bg>
    <p:spTree>
      <p:nvGrpSpPr>
        <p:cNvPr id="1" name=""/>
        <p:cNvGrpSpPr/>
        <p:nvPr/>
      </p:nvGrpSpPr>
      <p:grpSpPr/>
      <p:sp>
        <p:nvSpPr>
          <p:cNvPr id="2" name="TextBox 1"/>
          <p:cNvSpPr txBox="1"/>
          <p:nvPr/>
        </p:nvSpPr>
        <p:spPr>
          <a:xfrm>
            <a:off x="1016000" y="2664718"/>
            <a:ext cx="9760347" cy="1935559"/>
          </a:xfrm>
          <a:prstGeom prst="rect">
            <a:avLst/>
          </a:prstGeom>
          <a:noFill/>
        </p:spPr>
        <p:txBody>
          <a:bodyPr wrap="square" lIns="0" rIns="0" tIns="0" bIns="0">
            <a:spAutoFit/>
          </a:bodyPr>
          <a:lstStyle/>
          <a:p>
            <a:r>
              <a:rPr sz="7200" b="1" i="0">
                <a:solidFill>
                  <a:srgbClr val="F4EFE6"/>
                </a:solidFill>
                <a:latin typeface="Impact"/>
              </a:rPr>
              <a:t>THEY DIDN'T JUST SPEAK ABOUT LOS ANGELES — THEY SPOKE AS LOS ANGELES.</a:t>
            </a:r>
          </a:p>
        </p:txBody>
      </p:sp>
      <p:sp>
        <p:nvSpPr>
          <p:cNvPr id="3" name="TextBox 2"/>
          <p:cNvSpPr txBox="1"/>
          <p:nvPr/>
        </p:nvSpPr>
        <p:spPr>
          <a:xfrm>
            <a:off x="1016000" y="1477268"/>
            <a:ext cx="825500" cy="1828800"/>
          </a:xfrm>
          <a:prstGeom prst="rect">
            <a:avLst/>
          </a:prstGeom>
          <a:noFill/>
        </p:spPr>
        <p:txBody>
          <a:bodyPr wrap="square" lIns="0" rIns="0" tIns="0" bIns="0">
            <a:spAutoFit/>
          </a:bodyPr>
          <a:lstStyle/>
          <a:p>
            <a:r>
              <a:rPr sz="19500" b="1" i="1">
                <a:solidFill>
                  <a:srgbClr val="F4EFE6"/>
                </a:solidFill>
                <a:latin typeface="Playfair Display"/>
              </a:rPr>
              <a:t>“</a:t>
            </a:r>
          </a:p>
        </p:txBody>
      </p:sp>
      <p:sp>
        <p:nvSpPr>
          <p:cNvPr id="4" name="TextBox 3"/>
          <p:cNvSpPr txBox="1"/>
          <p:nvPr/>
        </p:nvSpPr>
        <p:spPr>
          <a:xfrm>
            <a:off x="1016000" y="4929882"/>
            <a:ext cx="2911673" cy="158750"/>
          </a:xfrm>
          <a:prstGeom prst="rect">
            <a:avLst/>
          </a:prstGeom>
          <a:noFill/>
        </p:spPr>
        <p:txBody>
          <a:bodyPr wrap="square" lIns="0" rIns="0" tIns="0" bIns="0">
            <a:spAutoFit/>
          </a:bodyPr>
          <a:lstStyle/>
          <a:p>
            <a:r>
              <a:rPr sz="1650" b="1" i="0">
                <a:solidFill>
                  <a:srgbClr val="F4EFE6"/>
                </a:solidFill>
                <a:latin typeface="Arial"/>
              </a:rPr>
              <a:t>— THE HOLLYWOOD TIMES</a:t>
            </a:r>
          </a:p>
        </p:txBody>
      </p:sp>
      <p:sp>
        <p:nvSpPr>
          <p:cNvPr id="5" name="TextBox 4"/>
          <p:cNvSpPr txBox="1"/>
          <p:nvPr/>
        </p:nvSpPr>
        <p:spPr>
          <a:xfrm>
            <a:off x="508000" y="279400"/>
            <a:ext cx="3526929" cy="88900"/>
          </a:xfrm>
          <a:prstGeom prst="rect">
            <a:avLst/>
          </a:prstGeom>
          <a:noFill/>
        </p:spPr>
        <p:txBody>
          <a:bodyPr wrap="square" lIns="0" rIns="0" tIns="0" bIns="0">
            <a:spAutoFit/>
          </a:bodyPr>
          <a:lstStyle/>
          <a:p>
            <a:r>
              <a:rPr sz="900" b="0" i="0">
                <a:solidFill>
                  <a:srgbClr val="F4EFE6"/>
                </a:solidFill>
                <a:latin typeface="Arial"/>
              </a:rPr>
              <a:t>REVIEW FROM OUR PILOT PRODUCTION AT THE FORD THEATRE</a:t>
            </a:r>
          </a:p>
        </p:txBody>
      </p:sp>
      <p:sp>
        <p:nvSpPr>
          <p:cNvPr id="6" name="TextBox 5"/>
          <p:cNvSpPr txBox="1"/>
          <p:nvPr/>
        </p:nvSpPr>
        <p:spPr>
          <a:xfrm>
            <a:off x="508000" y="6489700"/>
            <a:ext cx="1673920" cy="88900"/>
          </a:xfrm>
          <a:prstGeom prst="rect">
            <a:avLst/>
          </a:prstGeom>
          <a:noFill/>
        </p:spPr>
        <p:txBody>
          <a:bodyPr wrap="square" lIns="0" rIns="0" tIns="0" bIns="0">
            <a:spAutoFit/>
          </a:bodyPr>
          <a:lstStyle/>
          <a:p>
            <a:r>
              <a:rPr sz="900" b="0" i="0">
                <a:solidFill>
                  <a:srgbClr val="F4EFE6"/>
                </a:solidFill>
                <a:latin typeface="Arial"/>
              </a:rPr>
              <a:t>IF I AWAKEN IN LOS ANGELES</a:t>
            </a:r>
          </a:p>
        </p:txBody>
      </p:sp>
      <p:sp>
        <p:nvSpPr>
          <p:cNvPr id="7" name="TextBox 6"/>
          <p:cNvSpPr txBox="1"/>
          <p:nvPr/>
        </p:nvSpPr>
        <p:spPr>
          <a:xfrm>
            <a:off x="10937577" y="6489700"/>
            <a:ext cx="746423" cy="88900"/>
          </a:xfrm>
          <a:prstGeom prst="rect">
            <a:avLst/>
          </a:prstGeom>
          <a:noFill/>
        </p:spPr>
        <p:txBody>
          <a:bodyPr wrap="square" lIns="0" rIns="0" tIns="0" bIns="0">
            <a:spAutoFit/>
          </a:bodyPr>
          <a:lstStyle/>
          <a:p>
            <a:r>
              <a:rPr sz="900" b="0" i="0">
                <a:solidFill>
                  <a:srgbClr val="F4EFE6"/>
                </a:solidFill>
                <a:latin typeface="Arial"/>
              </a:rPr>
              <a:t>05 PRESS</a:t>
            </a:r>
          </a:p>
        </p:txBody>
      </p:sp>
      <p:sp>
        <p:nvSpPr>
          <p:cNvPr id="8" name="Rectangle 7"/>
          <p:cNvSpPr/>
          <p:nvPr/>
        </p:nvSpPr>
        <p:spPr>
          <a:xfrm>
            <a:off x="11186319" y="6511925"/>
            <a:ext cx="38100" cy="38100"/>
          </a:xfrm>
          <a:prstGeom prst="rect">
            <a:avLst/>
          </a:prstGeom>
          <a:solidFill>
            <a:srgbClr val="C924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C0C0C"/>
        </a:solidFill>
        <a:effectLst/>
      </p:bgPr>
    </p:bg>
    <p:spTree>
      <p:nvGrpSpPr>
        <p:cNvPr id="1" name=""/>
        <p:cNvGrpSpPr/>
        <p:nvPr/>
      </p:nvGrpSpPr>
      <p:grpSpPr/>
      <p:sp>
        <p:nvSpPr>
          <p:cNvPr id="2" name="TextBox 1"/>
          <p:cNvSpPr txBox="1"/>
          <p:nvPr/>
        </p:nvSpPr>
        <p:spPr>
          <a:xfrm>
            <a:off x="762000" y="1121966"/>
            <a:ext cx="6122491" cy="1915517"/>
          </a:xfrm>
          <a:prstGeom prst="rect">
            <a:avLst/>
          </a:prstGeom>
          <a:noFill/>
        </p:spPr>
        <p:txBody>
          <a:bodyPr wrap="square" lIns="0" rIns="0" tIns="0" bIns="0">
            <a:spAutoFit/>
          </a:bodyPr>
          <a:lstStyle/>
          <a:p>
            <a:r>
              <a:rPr sz="7650" b="1" i="0">
                <a:solidFill>
                  <a:srgbClr val="F4EFE6"/>
                </a:solidFill>
                <a:latin typeface="Impact"/>
              </a:rPr>
              <a:t>IF I AWAKEN IN LOS ANGELES THE ALBUM.</a:t>
            </a:r>
          </a:p>
        </p:txBody>
      </p:sp>
      <p:sp>
        <p:nvSpPr>
          <p:cNvPr id="3" name="Rectangle 2"/>
          <p:cNvSpPr/>
          <p:nvPr/>
        </p:nvSpPr>
        <p:spPr>
          <a:xfrm>
            <a:off x="7874000" y="571500"/>
            <a:ext cx="3556000" cy="3048000"/>
          </a:xfrm>
          <a:prstGeom prst="rect">
            <a:avLst/>
          </a:prstGeom>
          <a:solidFill>
            <a:srgbClr val="121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2000" y="4674890"/>
            <a:ext cx="3501529" cy="1612900"/>
          </a:xfrm>
          <a:prstGeom prst="rect">
            <a:avLst/>
          </a:prstGeom>
          <a:noFill/>
        </p:spPr>
        <p:txBody>
          <a:bodyPr wrap="square" lIns="0" rIns="0" tIns="0" bIns="0">
            <a:spAutoFit/>
          </a:bodyPr>
          <a:lstStyle/>
          <a:p>
            <a:r>
              <a:rPr sz="17100" b="1" i="0">
                <a:solidFill>
                  <a:srgbClr val="C9242A"/>
                </a:solidFill>
                <a:latin typeface="Impact"/>
              </a:rPr>
              <a:t>30K+</a:t>
            </a:r>
          </a:p>
        </p:txBody>
      </p:sp>
      <p:sp>
        <p:nvSpPr>
          <p:cNvPr id="5" name="TextBox 4"/>
          <p:cNvSpPr txBox="1"/>
          <p:nvPr/>
        </p:nvSpPr>
        <p:spPr>
          <a:xfrm>
            <a:off x="762000" y="3163391"/>
            <a:ext cx="9093200" cy="546100"/>
          </a:xfrm>
          <a:prstGeom prst="rect">
            <a:avLst/>
          </a:prstGeom>
          <a:noFill/>
        </p:spPr>
        <p:txBody>
          <a:bodyPr wrap="square" lIns="0" rIns="0" tIns="0" bIns="0">
            <a:spAutoFit/>
          </a:bodyPr>
          <a:lstStyle/>
          <a:p>
            <a:r>
              <a:rPr sz="2400" b="0" i="0">
                <a:solidFill>
                  <a:srgbClr val="F4EFE6"/>
                </a:solidFill>
                <a:latin typeface="Arial"/>
              </a:rPr>
              <a:t>Grammy-winning composer Derrick Hodge partnered with some of LA's most influential voices to extend the show's impact far beyond the theater.</a:t>
            </a:r>
          </a:p>
        </p:txBody>
      </p:sp>
      <p:sp>
        <p:nvSpPr>
          <p:cNvPr id="6" name="TextBox 5"/>
          <p:cNvSpPr txBox="1"/>
          <p:nvPr/>
        </p:nvSpPr>
        <p:spPr>
          <a:xfrm>
            <a:off x="8817868" y="5034359"/>
            <a:ext cx="2611735" cy="298450"/>
          </a:xfrm>
          <a:prstGeom prst="rect">
            <a:avLst/>
          </a:prstGeom>
          <a:noFill/>
        </p:spPr>
        <p:txBody>
          <a:bodyPr wrap="square" lIns="0" rIns="0" tIns="0" bIns="0">
            <a:spAutoFit/>
          </a:bodyPr>
          <a:lstStyle/>
          <a:p>
            <a:r>
              <a:rPr sz="3150" b="1" i="0">
                <a:solidFill>
                  <a:srgbClr val="F4EFE6"/>
                </a:solidFill>
                <a:latin typeface="Impact"/>
              </a:rPr>
              <a:t>JACKSON BROWNE</a:t>
            </a:r>
          </a:p>
        </p:txBody>
      </p:sp>
      <p:sp>
        <p:nvSpPr>
          <p:cNvPr id="7" name="TextBox 6"/>
          <p:cNvSpPr txBox="1"/>
          <p:nvPr/>
        </p:nvSpPr>
        <p:spPr>
          <a:xfrm>
            <a:off x="8817868" y="5831880"/>
            <a:ext cx="2407940" cy="298450"/>
          </a:xfrm>
          <a:prstGeom prst="rect">
            <a:avLst/>
          </a:prstGeom>
          <a:noFill/>
        </p:spPr>
        <p:txBody>
          <a:bodyPr wrap="square" lIns="0" rIns="0" tIns="0" bIns="0">
            <a:spAutoFit/>
          </a:bodyPr>
          <a:lstStyle/>
          <a:p>
            <a:r>
              <a:rPr sz="3150" b="1" i="0">
                <a:solidFill>
                  <a:srgbClr val="F4EFE6"/>
                </a:solidFill>
                <a:latin typeface="Impact"/>
              </a:rPr>
              <a:t>SEKOU ANDREWS</a:t>
            </a:r>
          </a:p>
        </p:txBody>
      </p:sp>
      <p:sp>
        <p:nvSpPr>
          <p:cNvPr id="8" name="TextBox 7"/>
          <p:cNvSpPr txBox="1"/>
          <p:nvPr/>
        </p:nvSpPr>
        <p:spPr>
          <a:xfrm>
            <a:off x="5850334" y="5831880"/>
            <a:ext cx="2090440" cy="298450"/>
          </a:xfrm>
          <a:prstGeom prst="rect">
            <a:avLst/>
          </a:prstGeom>
          <a:noFill/>
        </p:spPr>
        <p:txBody>
          <a:bodyPr wrap="square" lIns="0" rIns="0" tIns="0" bIns="0">
            <a:spAutoFit/>
          </a:bodyPr>
          <a:lstStyle/>
          <a:p>
            <a:r>
              <a:rPr sz="3150" b="1" i="0">
                <a:solidFill>
                  <a:srgbClr val="F4EFE6"/>
                </a:solidFill>
                <a:latin typeface="Impact"/>
              </a:rPr>
              <a:t>CHEECH MARIN</a:t>
            </a:r>
          </a:p>
        </p:txBody>
      </p:sp>
      <p:sp>
        <p:nvSpPr>
          <p:cNvPr id="9" name="TextBox 8"/>
          <p:cNvSpPr txBox="1"/>
          <p:nvPr/>
        </p:nvSpPr>
        <p:spPr>
          <a:xfrm>
            <a:off x="762000" y="863600"/>
            <a:ext cx="3024783" cy="158750"/>
          </a:xfrm>
          <a:prstGeom prst="rect">
            <a:avLst/>
          </a:prstGeom>
          <a:noFill/>
        </p:spPr>
        <p:txBody>
          <a:bodyPr wrap="square" lIns="0" rIns="0" tIns="0" bIns="0">
            <a:spAutoFit/>
          </a:bodyPr>
          <a:lstStyle/>
          <a:p>
            <a:r>
              <a:rPr sz="1650" b="0" i="1">
                <a:solidFill>
                  <a:srgbClr val="F4EFE6"/>
                </a:solidFill>
                <a:latin typeface="Arial"/>
              </a:rPr>
              <a:t>Demand didn't stop at the stage. It surged.</a:t>
            </a:r>
          </a:p>
        </p:txBody>
      </p:sp>
      <p:sp>
        <p:nvSpPr>
          <p:cNvPr id="10" name="TextBox 9"/>
          <p:cNvSpPr txBox="1"/>
          <p:nvPr/>
        </p:nvSpPr>
        <p:spPr>
          <a:xfrm>
            <a:off x="5850334" y="5034359"/>
            <a:ext cx="1548606" cy="298450"/>
          </a:xfrm>
          <a:prstGeom prst="rect">
            <a:avLst/>
          </a:prstGeom>
          <a:noFill/>
        </p:spPr>
        <p:txBody>
          <a:bodyPr wrap="square" lIns="0" rIns="0" tIns="0" bIns="0">
            <a:spAutoFit/>
          </a:bodyPr>
          <a:lstStyle/>
          <a:p>
            <a:r>
              <a:rPr sz="3150" b="1" i="0">
                <a:solidFill>
                  <a:srgbClr val="F4EFE6"/>
                </a:solidFill>
                <a:latin typeface="Impact"/>
              </a:rPr>
              <a:t>JOY HARJO</a:t>
            </a:r>
          </a:p>
        </p:txBody>
      </p:sp>
      <p:sp>
        <p:nvSpPr>
          <p:cNvPr id="11" name="TextBox 10"/>
          <p:cNvSpPr txBox="1"/>
          <p:nvPr/>
        </p:nvSpPr>
        <p:spPr>
          <a:xfrm>
            <a:off x="5850334" y="6174780"/>
            <a:ext cx="2430363" cy="158750"/>
          </a:xfrm>
          <a:prstGeom prst="rect">
            <a:avLst/>
          </a:prstGeom>
          <a:noFill/>
        </p:spPr>
        <p:txBody>
          <a:bodyPr wrap="square" lIns="0" rIns="0" tIns="0" bIns="0">
            <a:spAutoFit/>
          </a:bodyPr>
          <a:lstStyle/>
          <a:p>
            <a:r>
              <a:rPr sz="1650" b="0" i="0">
                <a:solidFill>
                  <a:srgbClr val="F4EFE6"/>
                </a:solidFill>
                <a:latin typeface="Arial"/>
              </a:rPr>
              <a:t>Grammy Award–winning comedian</a:t>
            </a:r>
          </a:p>
        </p:txBody>
      </p:sp>
      <p:sp>
        <p:nvSpPr>
          <p:cNvPr id="12" name="TextBox 11"/>
          <p:cNvSpPr txBox="1"/>
          <p:nvPr/>
        </p:nvSpPr>
        <p:spPr>
          <a:xfrm>
            <a:off x="762000" y="6191250"/>
            <a:ext cx="2423517" cy="158750"/>
          </a:xfrm>
          <a:prstGeom prst="rect">
            <a:avLst/>
          </a:prstGeom>
          <a:noFill/>
        </p:spPr>
        <p:txBody>
          <a:bodyPr wrap="square" lIns="0" rIns="0" tIns="0" bIns="0">
            <a:spAutoFit/>
          </a:bodyPr>
          <a:lstStyle/>
          <a:p>
            <a:r>
              <a:rPr sz="1650" b="1" i="0">
                <a:solidFill>
                  <a:srgbClr val="F4EFE6"/>
                </a:solidFill>
                <a:latin typeface="Arial"/>
              </a:rPr>
              <a:t>LISTENS · FIRST WEEK</a:t>
            </a:r>
          </a:p>
        </p:txBody>
      </p:sp>
      <p:sp>
        <p:nvSpPr>
          <p:cNvPr id="13" name="TextBox 12"/>
          <p:cNvSpPr txBox="1"/>
          <p:nvPr/>
        </p:nvSpPr>
        <p:spPr>
          <a:xfrm>
            <a:off x="8817868" y="5377259"/>
            <a:ext cx="2327374" cy="158750"/>
          </a:xfrm>
          <a:prstGeom prst="rect">
            <a:avLst/>
          </a:prstGeom>
          <a:noFill/>
        </p:spPr>
        <p:txBody>
          <a:bodyPr wrap="square" lIns="0" rIns="0" tIns="0" bIns="0">
            <a:spAutoFit/>
          </a:bodyPr>
          <a:lstStyle/>
          <a:p>
            <a:r>
              <a:rPr sz="1650" b="0" i="0">
                <a:solidFill>
                  <a:srgbClr val="F4EFE6"/>
                </a:solidFill>
                <a:latin typeface="Arial"/>
              </a:rPr>
              <a:t>8× Grammy-nominated musician</a:t>
            </a:r>
          </a:p>
        </p:txBody>
      </p:sp>
      <p:sp>
        <p:nvSpPr>
          <p:cNvPr id="14" name="TextBox 13"/>
          <p:cNvSpPr txBox="1"/>
          <p:nvPr/>
        </p:nvSpPr>
        <p:spPr>
          <a:xfrm>
            <a:off x="8817868" y="6174780"/>
            <a:ext cx="1765895" cy="158750"/>
          </a:xfrm>
          <a:prstGeom prst="rect">
            <a:avLst/>
          </a:prstGeom>
          <a:noFill/>
        </p:spPr>
        <p:txBody>
          <a:bodyPr wrap="square" lIns="0" rIns="0" tIns="0" bIns="0">
            <a:spAutoFit/>
          </a:bodyPr>
          <a:lstStyle/>
          <a:p>
            <a:r>
              <a:rPr sz="1650" b="0" i="0">
                <a:solidFill>
                  <a:srgbClr val="F4EFE6"/>
                </a:solidFill>
                <a:latin typeface="Arial"/>
              </a:rPr>
              <a:t>Grammy-nominated poet</a:t>
            </a:r>
          </a:p>
        </p:txBody>
      </p:sp>
      <p:sp>
        <p:nvSpPr>
          <p:cNvPr id="15" name="TextBox 14"/>
          <p:cNvSpPr txBox="1"/>
          <p:nvPr/>
        </p:nvSpPr>
        <p:spPr>
          <a:xfrm>
            <a:off x="762000" y="571500"/>
            <a:ext cx="1597025" cy="158750"/>
          </a:xfrm>
          <a:prstGeom prst="rect">
            <a:avLst/>
          </a:prstGeom>
          <a:noFill/>
        </p:spPr>
        <p:txBody>
          <a:bodyPr wrap="square" lIns="0" rIns="0" tIns="0" bIns="0">
            <a:spAutoFit/>
          </a:bodyPr>
          <a:lstStyle/>
          <a:p>
            <a:r>
              <a:rPr sz="1650" b="1" i="0">
                <a:solidFill>
                  <a:srgbClr val="C9242A"/>
                </a:solidFill>
                <a:latin typeface="Impact"/>
              </a:rPr>
              <a:t>THE LIVE ALBUM</a:t>
            </a:r>
          </a:p>
        </p:txBody>
      </p:sp>
      <p:sp>
        <p:nvSpPr>
          <p:cNvPr id="16" name="TextBox 15"/>
          <p:cNvSpPr txBox="1"/>
          <p:nvPr/>
        </p:nvSpPr>
        <p:spPr>
          <a:xfrm>
            <a:off x="5850334" y="5377259"/>
            <a:ext cx="1454249" cy="158750"/>
          </a:xfrm>
          <a:prstGeom prst="rect">
            <a:avLst/>
          </a:prstGeom>
          <a:noFill/>
        </p:spPr>
        <p:txBody>
          <a:bodyPr wrap="square" lIns="0" rIns="0" tIns="0" bIns="0">
            <a:spAutoFit/>
          </a:bodyPr>
          <a:lstStyle/>
          <a:p>
            <a:r>
              <a:rPr sz="1650" b="0" i="0">
                <a:solidFill>
                  <a:srgbClr val="F4EFE6"/>
                </a:solidFill>
                <a:latin typeface="Arial"/>
              </a:rPr>
              <a:t>3× US Poet Laureate</a:t>
            </a:r>
          </a:p>
        </p:txBody>
      </p:sp>
      <p:sp>
        <p:nvSpPr>
          <p:cNvPr id="17" name="TextBox 16"/>
          <p:cNvSpPr txBox="1"/>
          <p:nvPr/>
        </p:nvSpPr>
        <p:spPr>
          <a:xfrm>
            <a:off x="5850334" y="4596209"/>
            <a:ext cx="1290340" cy="158750"/>
          </a:xfrm>
          <a:prstGeom prst="rect">
            <a:avLst/>
          </a:prstGeom>
          <a:noFill/>
        </p:spPr>
        <p:txBody>
          <a:bodyPr wrap="square" lIns="0" rIns="0" tIns="0" bIns="0">
            <a:spAutoFit/>
          </a:bodyPr>
          <a:lstStyle/>
          <a:p>
            <a:r>
              <a:rPr sz="1650" b="1" i="0">
                <a:solidFill>
                  <a:srgbClr val="F4EFE6"/>
                </a:solidFill>
                <a:latin typeface="Arial"/>
              </a:rPr>
              <a:t>FEATURING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C9242A"/>
        </a:solidFill>
        <a:effectLst/>
      </p:bgPr>
    </p:bg>
    <p:spTree>
      <p:nvGrpSpPr>
        <p:cNvPr id="1" name=""/>
        <p:cNvGrpSpPr/>
        <p:nvPr/>
      </p:nvGrpSpPr>
      <p:grpSpPr/>
      <p:sp>
        <p:nvSpPr>
          <p:cNvPr id="2" name="TextBox 1"/>
          <p:cNvSpPr txBox="1"/>
          <p:nvPr/>
        </p:nvSpPr>
        <p:spPr>
          <a:xfrm>
            <a:off x="2286000" y="3075285"/>
            <a:ext cx="8998049" cy="2599630"/>
          </a:xfrm>
          <a:prstGeom prst="rect">
            <a:avLst/>
          </a:prstGeom>
          <a:noFill/>
        </p:spPr>
        <p:txBody>
          <a:bodyPr wrap="square" lIns="0" rIns="0" tIns="0" bIns="0">
            <a:spAutoFit/>
          </a:bodyPr>
          <a:lstStyle/>
          <a:p>
            <a:r>
              <a:rPr sz="7200" b="1" i="0">
                <a:solidFill>
                  <a:srgbClr val="F4EFE6"/>
                </a:solidFill>
                <a:latin typeface="Impact"/>
              </a:rPr>
              <a:t>A RICH, MOVING EXPERIENCE. THE POETRY, DANCE, AND FILM CAME TOGETHER BEAUTIFULLY.</a:t>
            </a:r>
          </a:p>
        </p:txBody>
      </p:sp>
      <p:sp>
        <p:nvSpPr>
          <p:cNvPr id="3" name="TextBox 2"/>
          <p:cNvSpPr txBox="1"/>
          <p:nvPr/>
        </p:nvSpPr>
        <p:spPr>
          <a:xfrm>
            <a:off x="2286000" y="784324"/>
            <a:ext cx="8676084" cy="1468041"/>
          </a:xfrm>
          <a:prstGeom prst="rect">
            <a:avLst/>
          </a:prstGeom>
          <a:noFill/>
        </p:spPr>
        <p:txBody>
          <a:bodyPr wrap="square" lIns="0" rIns="0" tIns="0" bIns="0">
            <a:spAutoFit/>
          </a:bodyPr>
          <a:lstStyle/>
          <a:p>
            <a:r>
              <a:rPr sz="5400" b="1" i="0">
                <a:solidFill>
                  <a:srgbClr val="F4EFE6"/>
                </a:solidFill>
                <a:latin typeface="Impact"/>
              </a:rPr>
              <a:t>THE AUDIENCE WILL WALK AWAY WITH AN EVEN RICHER APPRECIATION FOR THE CITY'S DIVERSITY.</a:t>
            </a:r>
          </a:p>
        </p:txBody>
      </p:sp>
      <p:sp>
        <p:nvSpPr>
          <p:cNvPr id="4" name="TextBox 3"/>
          <p:cNvSpPr txBox="1"/>
          <p:nvPr/>
        </p:nvSpPr>
        <p:spPr>
          <a:xfrm>
            <a:off x="2286000" y="5813326"/>
            <a:ext cx="5124549" cy="241300"/>
          </a:xfrm>
          <a:prstGeom prst="rect">
            <a:avLst/>
          </a:prstGeom>
          <a:noFill/>
        </p:spPr>
        <p:txBody>
          <a:bodyPr wrap="square" lIns="0" rIns="0" tIns="0" bIns="0">
            <a:spAutoFit/>
          </a:bodyPr>
          <a:lstStyle/>
          <a:p>
            <a:r>
              <a:rPr sz="2400" b="0" i="0">
                <a:solidFill>
                  <a:srgbClr val="F4EFE6"/>
                </a:solidFill>
                <a:latin typeface="Arial"/>
              </a:rPr>
              <a:t>— JODIE FOSTER &amp; ALEX HEDISON</a:t>
            </a:r>
          </a:p>
        </p:txBody>
      </p:sp>
      <p:sp>
        <p:nvSpPr>
          <p:cNvPr id="5" name="TextBox 4"/>
          <p:cNvSpPr txBox="1"/>
          <p:nvPr/>
        </p:nvSpPr>
        <p:spPr>
          <a:xfrm>
            <a:off x="889000" y="543024"/>
            <a:ext cx="635000" cy="1403350"/>
          </a:xfrm>
          <a:prstGeom prst="rect">
            <a:avLst/>
          </a:prstGeom>
          <a:noFill/>
        </p:spPr>
        <p:txBody>
          <a:bodyPr wrap="square" lIns="0" rIns="0" tIns="0" bIns="0">
            <a:spAutoFit/>
          </a:bodyPr>
          <a:lstStyle/>
          <a:p>
            <a:r>
              <a:rPr sz="15000" b="1" i="0">
                <a:solidFill>
                  <a:srgbClr val="F4EFE6"/>
                </a:solidFill>
                <a:latin typeface="Playfair Display"/>
              </a:rPr>
              <a:t>“</a:t>
            </a:r>
          </a:p>
        </p:txBody>
      </p:sp>
      <p:sp>
        <p:nvSpPr>
          <p:cNvPr id="6" name="TextBox 5"/>
          <p:cNvSpPr txBox="1"/>
          <p:nvPr/>
        </p:nvSpPr>
        <p:spPr>
          <a:xfrm>
            <a:off x="889000" y="2840335"/>
            <a:ext cx="635000" cy="1403350"/>
          </a:xfrm>
          <a:prstGeom prst="rect">
            <a:avLst/>
          </a:prstGeom>
          <a:noFill/>
        </p:spPr>
        <p:txBody>
          <a:bodyPr wrap="square" lIns="0" rIns="0" tIns="0" bIns="0">
            <a:spAutoFit/>
          </a:bodyPr>
          <a:lstStyle/>
          <a:p>
            <a:r>
              <a:rPr sz="15000" b="1" i="0">
                <a:solidFill>
                  <a:srgbClr val="F4EFE6"/>
                </a:solidFill>
                <a:latin typeface="Playfair Display"/>
              </a:rPr>
              <a:t>“</a:t>
            </a:r>
          </a:p>
        </p:txBody>
      </p:sp>
      <p:sp>
        <p:nvSpPr>
          <p:cNvPr id="7" name="TextBox 6"/>
          <p:cNvSpPr txBox="1"/>
          <p:nvPr/>
        </p:nvSpPr>
        <p:spPr>
          <a:xfrm>
            <a:off x="2286000" y="2395835"/>
            <a:ext cx="1838127" cy="241300"/>
          </a:xfrm>
          <a:prstGeom prst="rect">
            <a:avLst/>
          </a:prstGeom>
          <a:noFill/>
        </p:spPr>
        <p:txBody>
          <a:bodyPr wrap="square" lIns="0" rIns="0" tIns="0" bIns="0">
            <a:spAutoFit/>
          </a:bodyPr>
          <a:lstStyle/>
          <a:p>
            <a:r>
              <a:rPr sz="2400" b="0" i="0">
                <a:solidFill>
                  <a:srgbClr val="F4EFE6"/>
                </a:solidFill>
                <a:latin typeface="Arial"/>
              </a:rPr>
              <a:t>— DEADLINE</a:t>
            </a:r>
          </a:p>
        </p:txBody>
      </p:sp>
      <p:sp>
        <p:nvSpPr>
          <p:cNvPr id="8" name="TextBox 7"/>
          <p:cNvSpPr txBox="1"/>
          <p:nvPr/>
        </p:nvSpPr>
        <p:spPr>
          <a:xfrm>
            <a:off x="508000" y="279400"/>
            <a:ext cx="3596580" cy="88900"/>
          </a:xfrm>
          <a:prstGeom prst="rect">
            <a:avLst/>
          </a:prstGeom>
          <a:noFill/>
        </p:spPr>
        <p:txBody>
          <a:bodyPr wrap="square" lIns="0" rIns="0" tIns="0" bIns="0">
            <a:spAutoFit/>
          </a:bodyPr>
          <a:lstStyle/>
          <a:p>
            <a:r>
              <a:rPr sz="900" b="0" i="0">
                <a:solidFill>
                  <a:srgbClr val="F4EFE6"/>
                </a:solidFill>
                <a:latin typeface="Arial"/>
              </a:rPr>
              <a:t>REVIEWS FROM OUR PILOT PRODUCTION AT THE FORD THEATRE</a:t>
            </a:r>
          </a:p>
        </p:txBody>
      </p:sp>
      <p:sp>
        <p:nvSpPr>
          <p:cNvPr id="9" name="TextBox 8"/>
          <p:cNvSpPr txBox="1"/>
          <p:nvPr/>
        </p:nvSpPr>
        <p:spPr>
          <a:xfrm>
            <a:off x="508000" y="6489700"/>
            <a:ext cx="1673920" cy="88900"/>
          </a:xfrm>
          <a:prstGeom prst="rect">
            <a:avLst/>
          </a:prstGeom>
          <a:noFill/>
        </p:spPr>
        <p:txBody>
          <a:bodyPr wrap="square" lIns="0" rIns="0" tIns="0" bIns="0">
            <a:spAutoFit/>
          </a:bodyPr>
          <a:lstStyle/>
          <a:p>
            <a:r>
              <a:rPr sz="900" b="0" i="0">
                <a:solidFill>
                  <a:srgbClr val="F4EFE6"/>
                </a:solidFill>
                <a:latin typeface="Arial"/>
              </a:rPr>
              <a:t>IF I AWAKEN IN LOS ANGELES</a:t>
            </a:r>
          </a:p>
        </p:txBody>
      </p:sp>
      <p:sp>
        <p:nvSpPr>
          <p:cNvPr id="10" name="TextBox 9"/>
          <p:cNvSpPr txBox="1"/>
          <p:nvPr/>
        </p:nvSpPr>
        <p:spPr>
          <a:xfrm>
            <a:off x="10937577" y="6489700"/>
            <a:ext cx="746423" cy="88900"/>
          </a:xfrm>
          <a:prstGeom prst="rect">
            <a:avLst/>
          </a:prstGeom>
          <a:noFill/>
        </p:spPr>
        <p:txBody>
          <a:bodyPr wrap="square" lIns="0" rIns="0" tIns="0" bIns="0">
            <a:spAutoFit/>
          </a:bodyPr>
          <a:lstStyle/>
          <a:p>
            <a:r>
              <a:rPr sz="900" b="0" i="0">
                <a:solidFill>
                  <a:srgbClr val="F4EFE6"/>
                </a:solidFill>
                <a:latin typeface="Arial"/>
              </a:rPr>
              <a:t>07 PRESS</a:t>
            </a:r>
          </a:p>
        </p:txBody>
      </p:sp>
      <p:sp>
        <p:nvSpPr>
          <p:cNvPr id="11" name="Rectangle 10"/>
          <p:cNvSpPr/>
          <p:nvPr/>
        </p:nvSpPr>
        <p:spPr>
          <a:xfrm>
            <a:off x="11186319" y="6511925"/>
            <a:ext cx="38100" cy="38100"/>
          </a:xfrm>
          <a:prstGeom prst="rect">
            <a:avLst/>
          </a:prstGeom>
          <a:solidFill>
            <a:srgbClr val="C924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EFE6"/>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7366000" y="3937000"/>
            <a:ext cx="4064000" cy="2286000"/>
          </a:xfrm>
          <a:prstGeom prst="rect">
            <a:avLst/>
          </a:prstGeom>
        </p:spPr>
      </p:pic>
      <p:sp>
        <p:nvSpPr>
          <p:cNvPr id="3" name="Rectangle 2"/>
          <p:cNvSpPr/>
          <p:nvPr/>
        </p:nvSpPr>
        <p:spPr>
          <a:xfrm>
            <a:off x="7366000" y="3937000"/>
            <a:ext cx="4064000" cy="2286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2000" y="965200"/>
            <a:ext cx="8204597" cy="971550"/>
          </a:xfrm>
          <a:prstGeom prst="rect">
            <a:avLst/>
          </a:prstGeom>
          <a:noFill/>
        </p:spPr>
        <p:txBody>
          <a:bodyPr wrap="square" lIns="0" rIns="0" tIns="0" bIns="0">
            <a:spAutoFit/>
          </a:bodyPr>
          <a:lstStyle/>
          <a:p>
            <a:r>
              <a:rPr sz="5625" b="1" i="0">
                <a:solidFill>
                  <a:srgbClr val="111111"/>
                </a:solidFill>
                <a:latin typeface="Impact"/>
              </a:rPr>
              <a:t>IF I AWAKEN IN LOS ANGELES THE CITYWIDE POETRY SHOWCASE</a:t>
            </a:r>
          </a:p>
        </p:txBody>
      </p:sp>
      <p:sp>
        <p:nvSpPr>
          <p:cNvPr id="5" name="TextBox 4"/>
          <p:cNvSpPr txBox="1"/>
          <p:nvPr/>
        </p:nvSpPr>
        <p:spPr>
          <a:xfrm>
            <a:off x="762000" y="2057400"/>
            <a:ext cx="9589393" cy="509191"/>
          </a:xfrm>
          <a:prstGeom prst="rect">
            <a:avLst/>
          </a:prstGeom>
          <a:noFill/>
        </p:spPr>
        <p:txBody>
          <a:bodyPr wrap="square" lIns="0" rIns="0" tIns="0" bIns="0">
            <a:spAutoFit/>
          </a:bodyPr>
          <a:lstStyle/>
          <a:p>
            <a:r>
              <a:rPr sz="2400" b="0" i="0">
                <a:solidFill>
                  <a:srgbClr val="14100C"/>
                </a:solidFill>
                <a:latin typeface="Arial"/>
              </a:rPr>
              <a:t>We inadvertently kick‑started the largest poetry competition in the country with a single ask: Tell us what LA means to you…</a:t>
            </a:r>
          </a:p>
        </p:txBody>
      </p:sp>
      <p:sp>
        <p:nvSpPr>
          <p:cNvPr id="6" name="TextBox 5"/>
          <p:cNvSpPr txBox="1"/>
          <p:nvPr/>
        </p:nvSpPr>
        <p:spPr>
          <a:xfrm>
            <a:off x="762000" y="3139281"/>
            <a:ext cx="2155924" cy="781050"/>
          </a:xfrm>
          <a:prstGeom prst="rect">
            <a:avLst/>
          </a:prstGeom>
          <a:noFill/>
        </p:spPr>
        <p:txBody>
          <a:bodyPr wrap="square" lIns="0" rIns="0" tIns="0" bIns="0">
            <a:spAutoFit/>
          </a:bodyPr>
          <a:lstStyle/>
          <a:p>
            <a:r>
              <a:rPr sz="8250" b="1" i="0">
                <a:solidFill>
                  <a:srgbClr val="C9242A"/>
                </a:solidFill>
                <a:latin typeface="Impact"/>
              </a:rPr>
              <a:t>1,400+</a:t>
            </a:r>
          </a:p>
        </p:txBody>
      </p:sp>
      <p:sp>
        <p:nvSpPr>
          <p:cNvPr id="7" name="TextBox 6"/>
          <p:cNvSpPr txBox="1"/>
          <p:nvPr/>
        </p:nvSpPr>
        <p:spPr>
          <a:xfrm>
            <a:off x="762000" y="698500"/>
            <a:ext cx="3702447" cy="158750"/>
          </a:xfrm>
          <a:prstGeom prst="rect">
            <a:avLst/>
          </a:prstGeom>
          <a:noFill/>
        </p:spPr>
        <p:txBody>
          <a:bodyPr wrap="square" lIns="0" rIns="0" tIns="0" bIns="0">
            <a:spAutoFit/>
          </a:bodyPr>
          <a:lstStyle/>
          <a:p>
            <a:r>
              <a:rPr sz="1650" b="1" i="0">
                <a:solidFill>
                  <a:srgbClr val="C9242A"/>
                </a:solidFill>
                <a:latin typeface="Impact"/>
              </a:rPr>
              <a:t>THEN THE ENTIRE CITY GOT INVOLVED</a:t>
            </a:r>
          </a:p>
        </p:txBody>
      </p:sp>
      <p:sp>
        <p:nvSpPr>
          <p:cNvPr id="8" name="TextBox 7"/>
          <p:cNvSpPr txBox="1"/>
          <p:nvPr/>
        </p:nvSpPr>
        <p:spPr>
          <a:xfrm>
            <a:off x="762000" y="3939381"/>
            <a:ext cx="1734245" cy="278110"/>
          </a:xfrm>
          <a:prstGeom prst="rect">
            <a:avLst/>
          </a:prstGeom>
          <a:noFill/>
        </p:spPr>
        <p:txBody>
          <a:bodyPr wrap="square" lIns="0" rIns="0" tIns="0" bIns="0">
            <a:spAutoFit/>
          </a:bodyPr>
          <a:lstStyle/>
          <a:p>
            <a:r>
              <a:rPr sz="1275" b="0" i="0">
                <a:solidFill>
                  <a:srgbClr val="1A1A1A"/>
                </a:solidFill>
                <a:latin typeface="Arial"/>
              </a:rPr>
              <a:t>Original submissions across LA County.</a:t>
            </a:r>
          </a:p>
        </p:txBody>
      </p:sp>
      <p:sp>
        <p:nvSpPr>
          <p:cNvPr id="9" name="TextBox 8"/>
          <p:cNvSpPr txBox="1"/>
          <p:nvPr/>
        </p:nvSpPr>
        <p:spPr>
          <a:xfrm>
            <a:off x="2449711" y="4981674"/>
            <a:ext cx="3469084" cy="114300"/>
          </a:xfrm>
          <a:prstGeom prst="rect">
            <a:avLst/>
          </a:prstGeom>
          <a:noFill/>
        </p:spPr>
        <p:txBody>
          <a:bodyPr wrap="square" lIns="0" rIns="0" tIns="0" bIns="0">
            <a:spAutoFit/>
          </a:bodyPr>
          <a:lstStyle/>
          <a:p>
            <a:r>
              <a:rPr sz="1125" b="0" i="0">
                <a:solidFill>
                  <a:srgbClr val="111111"/>
                </a:solidFill>
                <a:latin typeface="Arial"/>
              </a:rPr>
              <a:t>Grammy-nominated singer-songwriter · “Wake Me Up,” “I Need a Dollar”</a:t>
            </a:r>
          </a:p>
        </p:txBody>
      </p:sp>
      <p:sp>
        <p:nvSpPr>
          <p:cNvPr id="10" name="TextBox 9"/>
          <p:cNvSpPr txBox="1"/>
          <p:nvPr/>
        </p:nvSpPr>
        <p:spPr>
          <a:xfrm>
            <a:off x="2449711" y="5522615"/>
            <a:ext cx="3140968" cy="114300"/>
          </a:xfrm>
          <a:prstGeom prst="rect">
            <a:avLst/>
          </a:prstGeom>
          <a:noFill/>
        </p:spPr>
        <p:txBody>
          <a:bodyPr wrap="square" lIns="0" rIns="0" tIns="0" bIns="0">
            <a:spAutoFit/>
          </a:bodyPr>
          <a:lstStyle/>
          <a:p>
            <a:r>
              <a:rPr sz="1125" b="0" i="0">
                <a:solidFill>
                  <a:srgbClr val="111111"/>
                </a:solidFill>
                <a:latin typeface="Arial"/>
              </a:rPr>
              <a:t>Sudanese-American poet · The January Children · Ruth Lilly Fellow</a:t>
            </a:r>
          </a:p>
        </p:txBody>
      </p:sp>
      <p:sp>
        <p:nvSpPr>
          <p:cNvPr id="11" name="TextBox 10"/>
          <p:cNvSpPr txBox="1"/>
          <p:nvPr/>
        </p:nvSpPr>
        <p:spPr>
          <a:xfrm>
            <a:off x="2449711" y="6063555"/>
            <a:ext cx="3044329" cy="114300"/>
          </a:xfrm>
          <a:prstGeom prst="rect">
            <a:avLst/>
          </a:prstGeom>
          <a:noFill/>
        </p:spPr>
        <p:txBody>
          <a:bodyPr wrap="square" lIns="0" rIns="0" tIns="0" bIns="0">
            <a:spAutoFit/>
          </a:bodyPr>
          <a:lstStyle/>
          <a:p>
            <a:r>
              <a:rPr sz="1125" b="0" i="0">
                <a:solidFill>
                  <a:srgbClr val="111111"/>
                </a:solidFill>
                <a:latin typeface="Arial"/>
              </a:rPr>
              <a:t>Poet · When I Grow Up I Want to Be a List of Further Possibilities</a:t>
            </a:r>
          </a:p>
        </p:txBody>
      </p:sp>
      <p:sp>
        <p:nvSpPr>
          <p:cNvPr id="12" name="TextBox 11"/>
          <p:cNvSpPr txBox="1"/>
          <p:nvPr/>
        </p:nvSpPr>
        <p:spPr>
          <a:xfrm>
            <a:off x="2449711" y="6334026"/>
            <a:ext cx="2830314" cy="114300"/>
          </a:xfrm>
          <a:prstGeom prst="rect">
            <a:avLst/>
          </a:prstGeom>
          <a:noFill/>
        </p:spPr>
        <p:txBody>
          <a:bodyPr wrap="square" lIns="0" rIns="0" tIns="0" bIns="0">
            <a:spAutoFit/>
          </a:bodyPr>
          <a:lstStyle/>
          <a:p>
            <a:r>
              <a:rPr sz="1125" b="0" i="0">
                <a:solidFill>
                  <a:srgbClr val="111111"/>
                </a:solidFill>
                <a:latin typeface="Arial"/>
              </a:rPr>
              <a:t>Poet &amp; novelist · Life of the Party · Whoever You Are, Honey</a:t>
            </a:r>
          </a:p>
        </p:txBody>
      </p:sp>
      <p:sp>
        <p:nvSpPr>
          <p:cNvPr id="13" name="TextBox 12"/>
          <p:cNvSpPr txBox="1"/>
          <p:nvPr/>
        </p:nvSpPr>
        <p:spPr>
          <a:xfrm>
            <a:off x="2449711" y="5252145"/>
            <a:ext cx="2789833" cy="114300"/>
          </a:xfrm>
          <a:prstGeom prst="rect">
            <a:avLst/>
          </a:prstGeom>
          <a:noFill/>
        </p:spPr>
        <p:txBody>
          <a:bodyPr wrap="square" lIns="0" rIns="0" tIns="0" bIns="0">
            <a:spAutoFit/>
          </a:bodyPr>
          <a:lstStyle/>
          <a:p>
            <a:r>
              <a:rPr sz="1125" b="0" i="0">
                <a:solidFill>
                  <a:srgbClr val="111111"/>
                </a:solidFill>
                <a:latin typeface="Arial"/>
              </a:rPr>
              <a:t>Producer · Co-founder, Sankofa.org · Sing Your Song (HBO)</a:t>
            </a:r>
          </a:p>
        </p:txBody>
      </p:sp>
      <p:sp>
        <p:nvSpPr>
          <p:cNvPr id="14" name="TextBox 13"/>
          <p:cNvSpPr txBox="1"/>
          <p:nvPr/>
        </p:nvSpPr>
        <p:spPr>
          <a:xfrm>
            <a:off x="2449711" y="5793085"/>
            <a:ext cx="2593280" cy="114300"/>
          </a:xfrm>
          <a:prstGeom prst="rect">
            <a:avLst/>
          </a:prstGeom>
          <a:noFill/>
        </p:spPr>
        <p:txBody>
          <a:bodyPr wrap="square" lIns="0" rIns="0" tIns="0" bIns="0">
            <a:spAutoFit/>
          </a:bodyPr>
          <a:lstStyle/>
          <a:p>
            <a:r>
              <a:rPr sz="1125" b="0" i="0">
                <a:solidFill>
                  <a:srgbClr val="111111"/>
                </a:solidFill>
                <a:latin typeface="Arial"/>
              </a:rPr>
              <a:t>Poet · Citizen Illegal · NYT bestselling Promises of Gold</a:t>
            </a:r>
          </a:p>
        </p:txBody>
      </p:sp>
      <p:sp>
        <p:nvSpPr>
          <p:cNvPr id="15" name="TextBox 14"/>
          <p:cNvSpPr txBox="1"/>
          <p:nvPr/>
        </p:nvSpPr>
        <p:spPr>
          <a:xfrm>
            <a:off x="762000" y="5216922"/>
            <a:ext cx="1484511" cy="190500"/>
          </a:xfrm>
          <a:prstGeom prst="rect">
            <a:avLst/>
          </a:prstGeom>
          <a:noFill/>
        </p:spPr>
        <p:txBody>
          <a:bodyPr wrap="square" lIns="0" rIns="0" tIns="0" bIns="0">
            <a:spAutoFit/>
          </a:bodyPr>
          <a:lstStyle/>
          <a:p>
            <a:r>
              <a:rPr sz="1950" b="1" i="0">
                <a:solidFill>
                  <a:srgbClr val="111111"/>
                </a:solidFill>
                <a:latin typeface="Impact"/>
              </a:rPr>
              <a:t>GINA BELAFONTE</a:t>
            </a:r>
          </a:p>
        </p:txBody>
      </p:sp>
      <p:sp>
        <p:nvSpPr>
          <p:cNvPr id="16" name="TextBox 15"/>
          <p:cNvSpPr txBox="1"/>
          <p:nvPr/>
        </p:nvSpPr>
        <p:spPr>
          <a:xfrm>
            <a:off x="762000" y="6298803"/>
            <a:ext cx="1481435" cy="190500"/>
          </a:xfrm>
          <a:prstGeom prst="rect">
            <a:avLst/>
          </a:prstGeom>
          <a:noFill/>
        </p:spPr>
        <p:txBody>
          <a:bodyPr wrap="square" lIns="0" rIns="0" tIns="0" bIns="0">
            <a:spAutoFit/>
          </a:bodyPr>
          <a:lstStyle/>
          <a:p>
            <a:r>
              <a:rPr sz="1950" b="1" i="0">
                <a:solidFill>
                  <a:srgbClr val="111111"/>
                </a:solidFill>
                <a:latin typeface="Impact"/>
              </a:rPr>
              <a:t>OLIVIA GATWOOD</a:t>
            </a:r>
          </a:p>
        </p:txBody>
      </p:sp>
      <p:sp>
        <p:nvSpPr>
          <p:cNvPr id="17" name="TextBox 16"/>
          <p:cNvSpPr txBox="1"/>
          <p:nvPr/>
        </p:nvSpPr>
        <p:spPr>
          <a:xfrm>
            <a:off x="762000" y="5757862"/>
            <a:ext cx="1330325" cy="190500"/>
          </a:xfrm>
          <a:prstGeom prst="rect">
            <a:avLst/>
          </a:prstGeom>
          <a:noFill/>
        </p:spPr>
        <p:txBody>
          <a:bodyPr wrap="square" lIns="0" rIns="0" tIns="0" bIns="0">
            <a:spAutoFit/>
          </a:bodyPr>
          <a:lstStyle/>
          <a:p>
            <a:r>
              <a:rPr sz="1950" b="1" i="0">
                <a:solidFill>
                  <a:srgbClr val="111111"/>
                </a:solidFill>
                <a:latin typeface="Impact"/>
              </a:rPr>
              <a:t>JOSÉ OLIVAREZ</a:t>
            </a:r>
          </a:p>
        </p:txBody>
      </p:sp>
      <p:sp>
        <p:nvSpPr>
          <p:cNvPr id="18" name="Rectangle 17"/>
          <p:cNvSpPr/>
          <p:nvPr/>
        </p:nvSpPr>
        <p:spPr>
          <a:xfrm>
            <a:off x="7454900" y="5975350"/>
            <a:ext cx="1420118" cy="17145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2000" y="5487392"/>
            <a:ext cx="1262757" cy="190500"/>
          </a:xfrm>
          <a:prstGeom prst="rect">
            <a:avLst/>
          </a:prstGeom>
          <a:noFill/>
        </p:spPr>
        <p:txBody>
          <a:bodyPr wrap="square" lIns="0" rIns="0" tIns="0" bIns="0">
            <a:spAutoFit/>
          </a:bodyPr>
          <a:lstStyle/>
          <a:p>
            <a:r>
              <a:rPr sz="1950" b="1" i="0">
                <a:solidFill>
                  <a:srgbClr val="111111"/>
                </a:solidFill>
                <a:latin typeface="Impact"/>
              </a:rPr>
              <a:t>SAFIA ELHILLO</a:t>
            </a:r>
          </a:p>
        </p:txBody>
      </p:sp>
      <p:sp>
        <p:nvSpPr>
          <p:cNvPr id="20" name="TextBox 19"/>
          <p:cNvSpPr txBox="1"/>
          <p:nvPr/>
        </p:nvSpPr>
        <p:spPr>
          <a:xfrm>
            <a:off x="762000" y="4946452"/>
            <a:ext cx="1098848" cy="190500"/>
          </a:xfrm>
          <a:prstGeom prst="rect">
            <a:avLst/>
          </a:prstGeom>
          <a:noFill/>
        </p:spPr>
        <p:txBody>
          <a:bodyPr wrap="square" lIns="0" rIns="0" tIns="0" bIns="0">
            <a:spAutoFit/>
          </a:bodyPr>
          <a:lstStyle/>
          <a:p>
            <a:r>
              <a:rPr sz="1950" b="1" i="0">
                <a:solidFill>
                  <a:srgbClr val="111111"/>
                </a:solidFill>
                <a:latin typeface="Impact"/>
              </a:rPr>
              <a:t>ALOE BLACC</a:t>
            </a:r>
          </a:p>
        </p:txBody>
      </p:sp>
      <p:sp>
        <p:nvSpPr>
          <p:cNvPr id="21" name="TextBox 20"/>
          <p:cNvSpPr txBox="1"/>
          <p:nvPr/>
        </p:nvSpPr>
        <p:spPr>
          <a:xfrm>
            <a:off x="762000" y="6028333"/>
            <a:ext cx="996355" cy="190500"/>
          </a:xfrm>
          <a:prstGeom prst="rect">
            <a:avLst/>
          </a:prstGeom>
          <a:noFill/>
        </p:spPr>
        <p:txBody>
          <a:bodyPr wrap="square" lIns="0" rIns="0" tIns="0" bIns="0">
            <a:spAutoFit/>
          </a:bodyPr>
          <a:lstStyle/>
          <a:p>
            <a:r>
              <a:rPr sz="1950" b="1" i="0">
                <a:solidFill>
                  <a:srgbClr val="111111"/>
                </a:solidFill>
                <a:latin typeface="Impact"/>
              </a:rPr>
              <a:t>CHEN CHEN</a:t>
            </a:r>
          </a:p>
        </p:txBody>
      </p:sp>
      <p:sp>
        <p:nvSpPr>
          <p:cNvPr id="22" name="TextBox 21"/>
          <p:cNvSpPr txBox="1"/>
          <p:nvPr/>
        </p:nvSpPr>
        <p:spPr>
          <a:xfrm>
            <a:off x="508000" y="6489700"/>
            <a:ext cx="1753195" cy="88900"/>
          </a:xfrm>
          <a:prstGeom prst="rect">
            <a:avLst/>
          </a:prstGeom>
          <a:noFill/>
        </p:spPr>
        <p:txBody>
          <a:bodyPr wrap="square" lIns="0" rIns="0" tIns="0" bIns="0">
            <a:spAutoFit/>
          </a:bodyPr>
          <a:lstStyle/>
          <a:p>
            <a:r>
              <a:rPr sz="900" b="0" i="0">
                <a:solidFill>
                  <a:srgbClr val="111111"/>
                </a:solidFill>
                <a:latin typeface="Arial"/>
              </a:rPr>
              <a:t>WITH GET LIT – WORDS IGNITE</a:t>
            </a:r>
          </a:p>
        </p:txBody>
      </p:sp>
      <p:sp>
        <p:nvSpPr>
          <p:cNvPr id="23" name="TextBox 22"/>
          <p:cNvSpPr txBox="1"/>
          <p:nvPr/>
        </p:nvSpPr>
        <p:spPr>
          <a:xfrm>
            <a:off x="7518400" y="6013450"/>
            <a:ext cx="1293118" cy="95250"/>
          </a:xfrm>
          <a:prstGeom prst="rect">
            <a:avLst/>
          </a:prstGeom>
          <a:noFill/>
        </p:spPr>
        <p:txBody>
          <a:bodyPr wrap="square" lIns="0" rIns="0" tIns="0" bIns="0">
            <a:spAutoFit/>
          </a:bodyPr>
          <a:lstStyle/>
          <a:p>
            <a:r>
              <a:rPr sz="975" b="0" i="0">
                <a:solidFill>
                  <a:srgbClr val="F4EFE6"/>
                </a:solidFill>
                <a:latin typeface="Arial"/>
              </a:rPr>
              <a:t>VIDEO — COMING SOON</a:t>
            </a:r>
          </a:p>
        </p:txBody>
      </p:sp>
      <p:sp>
        <p:nvSpPr>
          <p:cNvPr id="24" name="TextBox 23"/>
          <p:cNvSpPr txBox="1"/>
          <p:nvPr/>
        </p:nvSpPr>
        <p:spPr>
          <a:xfrm>
            <a:off x="10623054" y="6489700"/>
            <a:ext cx="1060946" cy="88900"/>
          </a:xfrm>
          <a:prstGeom prst="rect">
            <a:avLst/>
          </a:prstGeom>
          <a:noFill/>
        </p:spPr>
        <p:txBody>
          <a:bodyPr wrap="square" lIns="0" rIns="0" tIns="0" bIns="0">
            <a:spAutoFit/>
          </a:bodyPr>
          <a:lstStyle/>
          <a:p>
            <a:r>
              <a:rPr sz="900" b="0" i="0">
                <a:solidFill>
                  <a:srgbClr val="111111"/>
                </a:solidFill>
                <a:latin typeface="Arial"/>
              </a:rPr>
              <a:t>08 COMMUNITY</a:t>
            </a:r>
          </a:p>
        </p:txBody>
      </p:sp>
      <p:sp>
        <p:nvSpPr>
          <p:cNvPr id="25" name="TextBox 24"/>
          <p:cNvSpPr txBox="1"/>
          <p:nvPr/>
        </p:nvSpPr>
        <p:spPr>
          <a:xfrm>
            <a:off x="762000" y="4724202"/>
            <a:ext cx="768846" cy="101600"/>
          </a:xfrm>
          <a:prstGeom prst="rect">
            <a:avLst/>
          </a:prstGeom>
          <a:noFill/>
        </p:spPr>
        <p:txBody>
          <a:bodyPr wrap="square" lIns="0" rIns="0" tIns="0" bIns="0">
            <a:spAutoFit/>
          </a:bodyPr>
          <a:lstStyle/>
          <a:p>
            <a:r>
              <a:rPr sz="1050" b="1" i="0">
                <a:solidFill>
                  <a:srgbClr val="111111"/>
                </a:solidFill>
                <a:latin typeface="Arial"/>
              </a:rPr>
              <a:t>JUDGED BY</a:t>
            </a:r>
          </a:p>
        </p:txBody>
      </p:sp>
      <p:sp>
        <p:nvSpPr>
          <p:cNvPr id="26" name="Rectangle 25"/>
          <p:cNvSpPr/>
          <p:nvPr/>
        </p:nvSpPr>
        <p:spPr>
          <a:xfrm>
            <a:off x="10871795" y="6511925"/>
            <a:ext cx="38100" cy="38100"/>
          </a:xfrm>
          <a:prstGeom prst="rect">
            <a:avLst/>
          </a:prstGeom>
          <a:solidFill>
            <a:srgbClr val="C924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C9242A"/>
        </a:solidFill>
        <a:effectLst/>
      </p:bgPr>
    </p:bg>
    <p:spTree>
      <p:nvGrpSpPr>
        <p:cNvPr id="1" name=""/>
        <p:cNvGrpSpPr/>
        <p:nvPr/>
      </p:nvGrpSpPr>
      <p:grpSpPr/>
      <p:sp>
        <p:nvSpPr>
          <p:cNvPr id="2" name="Rectangle 1"/>
          <p:cNvSpPr/>
          <p:nvPr/>
        </p:nvSpPr>
        <p:spPr>
          <a:xfrm>
            <a:off x="762000" y="1503958"/>
            <a:ext cx="10668000" cy="1728192"/>
          </a:xfrm>
          <a:prstGeom prst="rect">
            <a:avLst/>
          </a:prstGeom>
          <a:solidFill>
            <a:srgbClr val="F4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97000" y="3536950"/>
            <a:ext cx="10033000" cy="1728192"/>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68400" y="1783358"/>
            <a:ext cx="7412732" cy="1190228"/>
          </a:xfrm>
          <a:prstGeom prst="rect">
            <a:avLst/>
          </a:prstGeom>
          <a:noFill/>
        </p:spPr>
        <p:txBody>
          <a:bodyPr wrap="square" lIns="0" rIns="0" tIns="0" bIns="0">
            <a:spAutoFit/>
          </a:bodyPr>
          <a:lstStyle/>
          <a:p>
            <a:r>
              <a:rPr sz="4200" b="0" i="1">
                <a:solidFill>
                  <a:srgbClr val="F4EFE6"/>
                </a:solidFill>
                <a:latin typeface="Playfair Display"/>
              </a:rPr>
              <a:t>Brilliant storytelling. A groundbreaking approach to history, modernity, place, and people. This show changes everything.</a:t>
            </a:r>
          </a:p>
        </p:txBody>
      </p:sp>
      <p:sp>
        <p:nvSpPr>
          <p:cNvPr id="5" name="TextBox 4"/>
          <p:cNvSpPr txBox="1"/>
          <p:nvPr/>
        </p:nvSpPr>
        <p:spPr>
          <a:xfrm>
            <a:off x="1803400" y="3816350"/>
            <a:ext cx="5813723" cy="1190228"/>
          </a:xfrm>
          <a:prstGeom prst="rect">
            <a:avLst/>
          </a:prstGeom>
          <a:noFill/>
        </p:spPr>
        <p:txBody>
          <a:bodyPr wrap="square" lIns="0" rIns="0" tIns="0" bIns="0">
            <a:spAutoFit/>
          </a:bodyPr>
          <a:lstStyle/>
          <a:p>
            <a:r>
              <a:rPr sz="4200" b="0" i="1">
                <a:solidFill>
                  <a:srgbClr val="F4EFE6"/>
                </a:solidFill>
                <a:latin typeface="Playfair Display"/>
              </a:rPr>
              <a:t>A powerful celebration of LA's diversity and resilience. Get Lit's creativity shines. Unforgettable.</a:t>
            </a:r>
          </a:p>
        </p:txBody>
      </p:sp>
      <p:sp>
        <p:nvSpPr>
          <p:cNvPr id="6" name="TextBox 5"/>
          <p:cNvSpPr txBox="1"/>
          <p:nvPr/>
        </p:nvSpPr>
        <p:spPr>
          <a:xfrm>
            <a:off x="939800" y="1046758"/>
            <a:ext cx="853480" cy="1974850"/>
          </a:xfrm>
          <a:prstGeom prst="rect">
            <a:avLst/>
          </a:prstGeom>
          <a:noFill/>
        </p:spPr>
        <p:txBody>
          <a:bodyPr wrap="square" lIns="0" rIns="0" tIns="0" bIns="0">
            <a:spAutoFit/>
          </a:bodyPr>
          <a:lstStyle/>
          <a:p>
            <a:r>
              <a:rPr sz="21000" b="1" i="1">
                <a:solidFill>
                  <a:srgbClr val="C9242A"/>
                </a:solidFill>
                <a:latin typeface="Playfair Display"/>
              </a:rPr>
              <a:t>“</a:t>
            </a:r>
          </a:p>
        </p:txBody>
      </p:sp>
      <p:sp>
        <p:nvSpPr>
          <p:cNvPr id="7" name="TextBox 6"/>
          <p:cNvSpPr txBox="1"/>
          <p:nvPr/>
        </p:nvSpPr>
        <p:spPr>
          <a:xfrm>
            <a:off x="10373320" y="3963392"/>
            <a:ext cx="853480" cy="1974850"/>
          </a:xfrm>
          <a:prstGeom prst="rect">
            <a:avLst/>
          </a:prstGeom>
          <a:noFill/>
        </p:spPr>
        <p:txBody>
          <a:bodyPr wrap="square" lIns="0" rIns="0" tIns="0" bIns="0">
            <a:spAutoFit/>
          </a:bodyPr>
          <a:lstStyle/>
          <a:p>
            <a:r>
              <a:rPr sz="21000" b="1" i="1">
                <a:solidFill>
                  <a:srgbClr val="C9242A"/>
                </a:solidFill>
                <a:latin typeface="Playfair Display"/>
              </a:rPr>
              <a:t>”</a:t>
            </a:r>
          </a:p>
        </p:txBody>
      </p:sp>
      <p:sp>
        <p:nvSpPr>
          <p:cNvPr id="8" name="TextBox 7"/>
          <p:cNvSpPr txBox="1"/>
          <p:nvPr/>
        </p:nvSpPr>
        <p:spPr>
          <a:xfrm>
            <a:off x="9296400" y="2716609"/>
            <a:ext cx="1685627" cy="245070"/>
          </a:xfrm>
          <a:prstGeom prst="rect">
            <a:avLst/>
          </a:prstGeom>
          <a:noFill/>
        </p:spPr>
        <p:txBody>
          <a:bodyPr wrap="square" lIns="0" rIns="0" tIns="0" bIns="0">
            <a:spAutoFit/>
          </a:bodyPr>
          <a:lstStyle/>
          <a:p>
            <a:r>
              <a:rPr sz="1200" b="0" i="1">
                <a:solidFill>
                  <a:srgbClr val="111111"/>
                </a:solidFill>
                <a:latin typeface="Playfair Display"/>
              </a:rPr>
              <a:t>Grammy-nominated singer-songwriter — “Wake Me Up,” “I Need a Dollar”</a:t>
            </a:r>
          </a:p>
        </p:txBody>
      </p:sp>
      <p:sp>
        <p:nvSpPr>
          <p:cNvPr id="9" name="TextBox 8"/>
          <p:cNvSpPr txBox="1"/>
          <p:nvPr/>
        </p:nvSpPr>
        <p:spPr>
          <a:xfrm>
            <a:off x="508000" y="279400"/>
            <a:ext cx="3596580" cy="88900"/>
          </a:xfrm>
          <a:prstGeom prst="rect">
            <a:avLst/>
          </a:prstGeom>
          <a:noFill/>
        </p:spPr>
        <p:txBody>
          <a:bodyPr wrap="square" lIns="0" rIns="0" tIns="0" bIns="0">
            <a:spAutoFit/>
          </a:bodyPr>
          <a:lstStyle/>
          <a:p>
            <a:r>
              <a:rPr sz="900" b="0" i="0">
                <a:solidFill>
                  <a:srgbClr val="F4EFE6"/>
                </a:solidFill>
                <a:latin typeface="Arial"/>
              </a:rPr>
              <a:t>REVIEWS FROM OUR PILOT PRODUCTION AT THE FORD THEATRE</a:t>
            </a:r>
          </a:p>
        </p:txBody>
      </p:sp>
      <p:sp>
        <p:nvSpPr>
          <p:cNvPr id="10" name="TextBox 9"/>
          <p:cNvSpPr txBox="1"/>
          <p:nvPr/>
        </p:nvSpPr>
        <p:spPr>
          <a:xfrm>
            <a:off x="9575800" y="4648002"/>
            <a:ext cx="1330325" cy="190500"/>
          </a:xfrm>
          <a:prstGeom prst="rect">
            <a:avLst/>
          </a:prstGeom>
          <a:noFill/>
        </p:spPr>
        <p:txBody>
          <a:bodyPr wrap="square" lIns="0" rIns="0" tIns="0" bIns="0">
            <a:spAutoFit/>
          </a:bodyPr>
          <a:lstStyle/>
          <a:p>
            <a:r>
              <a:rPr sz="1950" b="1" i="0">
                <a:solidFill>
                  <a:srgbClr val="F4EFE6"/>
                </a:solidFill>
                <a:latin typeface="Impact"/>
              </a:rPr>
              <a:t>REINA PEREIRA</a:t>
            </a:r>
          </a:p>
        </p:txBody>
      </p:sp>
      <p:sp>
        <p:nvSpPr>
          <p:cNvPr id="11" name="TextBox 10"/>
          <p:cNvSpPr txBox="1"/>
          <p:nvPr/>
        </p:nvSpPr>
        <p:spPr>
          <a:xfrm>
            <a:off x="9296400" y="2477889"/>
            <a:ext cx="1115318" cy="190500"/>
          </a:xfrm>
          <a:prstGeom prst="rect">
            <a:avLst/>
          </a:prstGeom>
          <a:noFill/>
        </p:spPr>
        <p:txBody>
          <a:bodyPr wrap="square" lIns="0" rIns="0" tIns="0" bIns="0">
            <a:spAutoFit/>
          </a:bodyPr>
          <a:lstStyle/>
          <a:p>
            <a:r>
              <a:rPr sz="1950" b="1" i="0">
                <a:solidFill>
                  <a:srgbClr val="F4EFE6"/>
                </a:solidFill>
                <a:latin typeface="Impact"/>
              </a:rPr>
              <a:t>ALOE BLACC</a:t>
            </a:r>
          </a:p>
        </p:txBody>
      </p:sp>
      <p:sp>
        <p:nvSpPr>
          <p:cNvPr id="12" name="TextBox 11"/>
          <p:cNvSpPr txBox="1"/>
          <p:nvPr/>
        </p:nvSpPr>
        <p:spPr>
          <a:xfrm>
            <a:off x="9575800" y="4886722"/>
            <a:ext cx="1498600" cy="107950"/>
          </a:xfrm>
          <a:prstGeom prst="rect">
            <a:avLst/>
          </a:prstGeom>
          <a:noFill/>
        </p:spPr>
        <p:txBody>
          <a:bodyPr wrap="square" lIns="0" rIns="0" tIns="0" bIns="0">
            <a:spAutoFit/>
          </a:bodyPr>
          <a:lstStyle/>
          <a:p>
            <a:r>
              <a:rPr sz="1200" b="0" i="1">
                <a:solidFill>
                  <a:srgbClr val="F4EFE6"/>
                </a:solidFill>
                <a:latin typeface="Playfair Display"/>
              </a:rPr>
              <a:t>Critic · The Ford Theatre press night</a:t>
            </a:r>
          </a:p>
        </p:txBody>
      </p:sp>
      <p:sp>
        <p:nvSpPr>
          <p:cNvPr id="13" name="TextBox 12"/>
          <p:cNvSpPr txBox="1"/>
          <p:nvPr/>
        </p:nvSpPr>
        <p:spPr>
          <a:xfrm>
            <a:off x="10267950" y="1643658"/>
            <a:ext cx="984250" cy="158750"/>
          </a:xfrm>
          <a:prstGeom prst="rect">
            <a:avLst/>
          </a:prstGeom>
          <a:noFill/>
        </p:spPr>
        <p:txBody>
          <a:bodyPr wrap="square" lIns="0" rIns="0" tIns="0" bIns="0">
            <a:spAutoFit/>
          </a:bodyPr>
          <a:lstStyle/>
          <a:p>
            <a:r>
              <a:rPr sz="1650" b="0" i="0">
                <a:solidFill>
                  <a:srgbClr val="C9242A"/>
                </a:solidFill>
                <a:latin typeface="Impact"/>
              </a:rPr>
              <a:t>★★★★★</a:t>
            </a:r>
          </a:p>
        </p:txBody>
      </p:sp>
      <p:sp>
        <p:nvSpPr>
          <p:cNvPr id="14" name="TextBox 13"/>
          <p:cNvSpPr txBox="1"/>
          <p:nvPr/>
        </p:nvSpPr>
        <p:spPr>
          <a:xfrm>
            <a:off x="508000" y="6489700"/>
            <a:ext cx="1673920" cy="88900"/>
          </a:xfrm>
          <a:prstGeom prst="rect">
            <a:avLst/>
          </a:prstGeom>
          <a:noFill/>
        </p:spPr>
        <p:txBody>
          <a:bodyPr wrap="square" lIns="0" rIns="0" tIns="0" bIns="0">
            <a:spAutoFit/>
          </a:bodyPr>
          <a:lstStyle/>
          <a:p>
            <a:r>
              <a:rPr sz="900" b="0" i="0">
                <a:solidFill>
                  <a:srgbClr val="111111"/>
                </a:solidFill>
                <a:latin typeface="Arial"/>
              </a:rPr>
              <a:t>IF I AWAKEN IN LOS ANGELES</a:t>
            </a:r>
          </a:p>
        </p:txBody>
      </p:sp>
      <p:sp>
        <p:nvSpPr>
          <p:cNvPr id="15" name="TextBox 14"/>
          <p:cNvSpPr txBox="1"/>
          <p:nvPr/>
        </p:nvSpPr>
        <p:spPr>
          <a:xfrm>
            <a:off x="10937577" y="6489700"/>
            <a:ext cx="746423" cy="88900"/>
          </a:xfrm>
          <a:prstGeom prst="rect">
            <a:avLst/>
          </a:prstGeom>
          <a:noFill/>
        </p:spPr>
        <p:txBody>
          <a:bodyPr wrap="square" lIns="0" rIns="0" tIns="0" bIns="0">
            <a:spAutoFit/>
          </a:bodyPr>
          <a:lstStyle/>
          <a:p>
            <a:r>
              <a:rPr sz="900" b="0" i="0">
                <a:solidFill>
                  <a:srgbClr val="111111"/>
                </a:solidFill>
                <a:latin typeface="Arial"/>
              </a:rPr>
              <a:t>09 PRESS</a:t>
            </a:r>
          </a:p>
        </p:txBody>
      </p:sp>
      <p:sp>
        <p:nvSpPr>
          <p:cNvPr id="16" name="Rectangle 15"/>
          <p:cNvSpPr/>
          <p:nvPr/>
        </p:nvSpPr>
        <p:spPr>
          <a:xfrm>
            <a:off x="11186319" y="6511925"/>
            <a:ext cx="38100" cy="38100"/>
          </a:xfrm>
          <a:prstGeom prst="rect">
            <a:avLst/>
          </a:prstGeom>
          <a:solidFill>
            <a:srgbClr val="C924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C0C0C"/>
        </a:solidFill>
        <a:effectLst/>
      </p:bgPr>
    </p:bg>
    <p:spTree>
      <p:nvGrpSpPr>
        <p:cNvPr id="1" name=""/>
        <p:cNvGrpSpPr/>
        <p:nvPr/>
      </p:nvGrpSpPr>
      <p:grpSpPr/>
      <p:sp>
        <p:nvSpPr>
          <p:cNvPr id="2" name="TextBox 1"/>
          <p:cNvSpPr txBox="1"/>
          <p:nvPr/>
        </p:nvSpPr>
        <p:spPr>
          <a:xfrm>
            <a:off x="889000" y="0"/>
            <a:ext cx="9304635" cy="5434806"/>
          </a:xfrm>
          <a:prstGeom prst="rect">
            <a:avLst/>
          </a:prstGeom>
          <a:noFill/>
        </p:spPr>
        <p:txBody>
          <a:bodyPr wrap="square" lIns="0" rIns="0" tIns="0" bIns="0">
            <a:spAutoFit/>
          </a:bodyPr>
          <a:lstStyle/>
          <a:p>
            <a:r>
              <a:rPr sz="11400" b="1" i="0">
                <a:solidFill>
                  <a:srgbClr val="F4EFE6"/>
                </a:solidFill>
                <a:latin typeface="Impact"/>
              </a:rPr>
              <a:t>WE ARE CREATING THE SHOW THAT LA HAS BEEN WAITING FOR. THE REAL LOS ANGELES.</a:t>
            </a:r>
          </a:p>
        </p:txBody>
      </p:sp>
      <p:sp>
        <p:nvSpPr>
          <p:cNvPr id="3" name="TextBox 2"/>
          <p:cNvSpPr txBox="1"/>
          <p:nvPr/>
        </p:nvSpPr>
        <p:spPr>
          <a:xfrm>
            <a:off x="8017867" y="6443365"/>
            <a:ext cx="3068439" cy="766266"/>
          </a:xfrm>
          <a:prstGeom prst="rect">
            <a:avLst/>
          </a:prstGeom>
          <a:noFill/>
        </p:spPr>
        <p:txBody>
          <a:bodyPr wrap="square" lIns="0" rIns="0" tIns="0" bIns="0">
            <a:spAutoFit/>
          </a:bodyPr>
          <a:lstStyle/>
          <a:p>
            <a:r>
              <a:rPr sz="1650" b="0" i="0">
                <a:solidFill>
                  <a:srgbClr val="F4EFE6"/>
                </a:solidFill>
                <a:latin typeface="Arial"/>
              </a:rPr>
              <a:t>A permanent home for the city to showcase itself — to FIFA, to the Olympics, to a billion viewers. A cultural front door for LA on the global stage.</a:t>
            </a:r>
          </a:p>
        </p:txBody>
      </p:sp>
      <p:sp>
        <p:nvSpPr>
          <p:cNvPr id="4" name="TextBox 3"/>
          <p:cNvSpPr txBox="1"/>
          <p:nvPr/>
        </p:nvSpPr>
        <p:spPr>
          <a:xfrm>
            <a:off x="4453434" y="6443365"/>
            <a:ext cx="3025775" cy="766266"/>
          </a:xfrm>
          <a:prstGeom prst="rect">
            <a:avLst/>
          </a:prstGeom>
          <a:noFill/>
        </p:spPr>
        <p:txBody>
          <a:bodyPr wrap="square" lIns="0" rIns="0" tIns="0" bIns="0">
            <a:spAutoFit/>
          </a:bodyPr>
          <a:lstStyle/>
          <a:p>
            <a:r>
              <a:rPr sz="1650" b="0" i="0">
                <a:solidFill>
                  <a:srgbClr val="F4EFE6"/>
                </a:solidFill>
                <a:latin typeface="Arial"/>
              </a:rPr>
              <a:t>The Los Angeles tourists came here to find — past the Walk of Fame, past Hollywood Boulevard. The real city, told by the people who live in it.</a:t>
            </a:r>
          </a:p>
        </p:txBody>
      </p:sp>
      <p:sp>
        <p:nvSpPr>
          <p:cNvPr id="5" name="TextBox 4"/>
          <p:cNvSpPr txBox="1"/>
          <p:nvPr/>
        </p:nvSpPr>
        <p:spPr>
          <a:xfrm>
            <a:off x="889000" y="6443365"/>
            <a:ext cx="2962374" cy="766266"/>
          </a:xfrm>
          <a:prstGeom prst="rect">
            <a:avLst/>
          </a:prstGeom>
          <a:noFill/>
        </p:spPr>
        <p:txBody>
          <a:bodyPr wrap="square" lIns="0" rIns="0" tIns="0" bIns="0">
            <a:spAutoFit/>
          </a:bodyPr>
          <a:lstStyle/>
          <a:p>
            <a:r>
              <a:rPr sz="1650" b="0" i="0">
                <a:solidFill>
                  <a:srgbClr val="F4EFE6"/>
                </a:solidFill>
                <a:latin typeface="Arial"/>
              </a:rPr>
              <a:t>A space to celebrate the city they actually live in — beyond the stereotypes, beyond the postcard. The neighborhoods, the languages, the music that make LA LA .</a:t>
            </a:r>
          </a:p>
        </p:txBody>
      </p:sp>
      <p:sp>
        <p:nvSpPr>
          <p:cNvPr id="6" name="TextBox 5"/>
          <p:cNvSpPr txBox="1"/>
          <p:nvPr/>
        </p:nvSpPr>
        <p:spPr>
          <a:xfrm>
            <a:off x="889000" y="6113165"/>
            <a:ext cx="1407220" cy="101600"/>
          </a:xfrm>
          <a:prstGeom prst="rect">
            <a:avLst/>
          </a:prstGeom>
          <a:noFill/>
        </p:spPr>
        <p:txBody>
          <a:bodyPr wrap="square" lIns="0" rIns="0" tIns="0" bIns="0">
            <a:spAutoFit/>
          </a:bodyPr>
          <a:lstStyle/>
          <a:p>
            <a:r>
              <a:rPr sz="1050" b="1" i="0">
                <a:solidFill>
                  <a:srgbClr val="C9242A"/>
                </a:solidFill>
                <a:latin typeface="Arial"/>
              </a:rPr>
              <a:t>FOR LA RESIDENTS</a:t>
            </a:r>
          </a:p>
        </p:txBody>
      </p:sp>
      <p:sp>
        <p:nvSpPr>
          <p:cNvPr id="7" name="TextBox 6"/>
          <p:cNvSpPr txBox="1"/>
          <p:nvPr/>
        </p:nvSpPr>
        <p:spPr>
          <a:xfrm>
            <a:off x="8017867" y="6113165"/>
            <a:ext cx="1204813" cy="101600"/>
          </a:xfrm>
          <a:prstGeom prst="rect">
            <a:avLst/>
          </a:prstGeom>
          <a:noFill/>
        </p:spPr>
        <p:txBody>
          <a:bodyPr wrap="square" lIns="0" rIns="0" tIns="0" bIns="0">
            <a:spAutoFit/>
          </a:bodyPr>
          <a:lstStyle/>
          <a:p>
            <a:r>
              <a:rPr sz="1050" b="1" i="0">
                <a:solidFill>
                  <a:srgbClr val="C9242A"/>
                </a:solidFill>
                <a:latin typeface="Arial"/>
              </a:rPr>
              <a:t>FOR THE WORLD</a:t>
            </a:r>
          </a:p>
        </p:txBody>
      </p:sp>
      <p:sp>
        <p:nvSpPr>
          <p:cNvPr id="8" name="TextBox 7"/>
          <p:cNvSpPr txBox="1"/>
          <p:nvPr/>
        </p:nvSpPr>
        <p:spPr>
          <a:xfrm>
            <a:off x="4453434" y="6113165"/>
            <a:ext cx="1044773" cy="101600"/>
          </a:xfrm>
          <a:prstGeom prst="rect">
            <a:avLst/>
          </a:prstGeom>
          <a:noFill/>
        </p:spPr>
        <p:txBody>
          <a:bodyPr wrap="square" lIns="0" rIns="0" tIns="0" bIns="0">
            <a:spAutoFit/>
          </a:bodyPr>
          <a:lstStyle/>
          <a:p>
            <a:r>
              <a:rPr sz="1050" b="1" i="0">
                <a:solidFill>
                  <a:srgbClr val="C9242A"/>
                </a:solidFill>
                <a:latin typeface="Arial"/>
              </a:rPr>
              <a:t>FOR VISITORS</a:t>
            </a:r>
          </a:p>
        </p:txBody>
      </p:sp>
      <p:sp>
        <p:nvSpPr>
          <p:cNvPr id="9" name="TextBox 8"/>
          <p:cNvSpPr txBox="1"/>
          <p:nvPr/>
        </p:nvSpPr>
        <p:spPr>
          <a:xfrm>
            <a:off x="508000" y="6489700"/>
            <a:ext cx="912812" cy="88900"/>
          </a:xfrm>
          <a:prstGeom prst="rect">
            <a:avLst/>
          </a:prstGeom>
          <a:noFill/>
        </p:spPr>
        <p:txBody>
          <a:bodyPr wrap="square" lIns="0" rIns="0" tIns="0" bIns="0">
            <a:spAutoFit/>
          </a:bodyPr>
          <a:lstStyle/>
          <a:p>
            <a:r>
              <a:rPr sz="900" b="0" i="0">
                <a:solidFill>
                  <a:srgbClr val="F4EFE6"/>
                </a:solidFill>
                <a:latin typeface="Arial"/>
              </a:rPr>
              <a:t>THE 2027 SHOW</a:t>
            </a:r>
          </a:p>
        </p:txBody>
      </p:sp>
      <p:sp>
        <p:nvSpPr>
          <p:cNvPr id="10" name="TextBox 9"/>
          <p:cNvSpPr txBox="1"/>
          <p:nvPr/>
        </p:nvSpPr>
        <p:spPr>
          <a:xfrm>
            <a:off x="10888861" y="6489700"/>
            <a:ext cx="795139" cy="88900"/>
          </a:xfrm>
          <a:prstGeom prst="rect">
            <a:avLst/>
          </a:prstGeom>
          <a:noFill/>
        </p:spPr>
        <p:txBody>
          <a:bodyPr wrap="square" lIns="0" rIns="0" tIns="0" bIns="0">
            <a:spAutoFit/>
          </a:bodyPr>
          <a:lstStyle/>
          <a:p>
            <a:r>
              <a:rPr sz="900" b="0" i="0">
                <a:solidFill>
                  <a:srgbClr val="F4EFE6"/>
                </a:solidFill>
                <a:latin typeface="Arial"/>
              </a:rPr>
              <a:t>10 THESIS</a:t>
            </a:r>
          </a:p>
        </p:txBody>
      </p:sp>
      <p:sp>
        <p:nvSpPr>
          <p:cNvPr id="11" name="Rectangle 10"/>
          <p:cNvSpPr/>
          <p:nvPr/>
        </p:nvSpPr>
        <p:spPr>
          <a:xfrm>
            <a:off x="11137602" y="6511925"/>
            <a:ext cx="38100" cy="38100"/>
          </a:xfrm>
          <a:prstGeom prst="rect">
            <a:avLst/>
          </a:prstGeom>
          <a:solidFill>
            <a:srgbClr val="C924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EFE6"/>
        </a:solidFill>
        <a:effectLst/>
      </p:bgPr>
    </p:bg>
    <p:spTree>
      <p:nvGrpSpPr>
        <p:cNvPr id="1" name=""/>
        <p:cNvGrpSpPr/>
        <p:nvPr/>
      </p:nvGrpSpPr>
      <p:grpSpPr/>
      <p:sp>
        <p:nvSpPr>
          <p:cNvPr id="2" name="Rectangle 1"/>
          <p:cNvSpPr/>
          <p:nvPr/>
        </p:nvSpPr>
        <p:spPr>
          <a:xfrm>
            <a:off x="762000" y="2235200"/>
            <a:ext cx="6074767" cy="3987800"/>
          </a:xfrm>
          <a:prstGeom prst="rect">
            <a:avLst/>
          </a:prstGeom>
          <a:solidFill>
            <a:srgbClr val="E8E1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2000" y="787400"/>
            <a:ext cx="5517455" cy="1301750"/>
          </a:xfrm>
          <a:prstGeom prst="rect">
            <a:avLst/>
          </a:prstGeom>
          <a:noFill/>
        </p:spPr>
        <p:txBody>
          <a:bodyPr wrap="square" lIns="0" rIns="0" tIns="0" bIns="0">
            <a:spAutoFit/>
          </a:bodyPr>
          <a:lstStyle/>
          <a:p>
            <a:r>
              <a:rPr sz="7500" b="1" i="0">
                <a:solidFill>
                  <a:srgbClr val="111111"/>
                </a:solidFill>
                <a:latin typeface="Impact"/>
              </a:rPr>
              <a:t>SIX CHAPTERS, ONE CITY AWAKENING.</a:t>
            </a:r>
          </a:p>
        </p:txBody>
      </p:sp>
      <p:sp>
        <p:nvSpPr>
          <p:cNvPr id="4" name="TextBox 3"/>
          <p:cNvSpPr txBox="1"/>
          <p:nvPr/>
        </p:nvSpPr>
        <p:spPr>
          <a:xfrm>
            <a:off x="7090767" y="2247900"/>
            <a:ext cx="3509863" cy="347266"/>
          </a:xfrm>
          <a:prstGeom prst="rect">
            <a:avLst/>
          </a:prstGeom>
          <a:noFill/>
        </p:spPr>
        <p:txBody>
          <a:bodyPr wrap="square" lIns="0" rIns="0" tIns="0" bIns="0">
            <a:spAutoFit/>
          </a:bodyPr>
          <a:lstStyle/>
          <a:p>
            <a:r>
              <a:rPr sz="1650" b="0" i="1">
                <a:solidFill>
                  <a:srgbClr val="111111"/>
                </a:solidFill>
                <a:latin typeface="Playfair Display"/>
              </a:rPr>
              <a:t>The audience enters through the lobby, and the city speaks. Six acts. One ensemble.</a:t>
            </a:r>
          </a:p>
        </p:txBody>
      </p:sp>
      <p:sp>
        <p:nvSpPr>
          <p:cNvPr id="5" name="TextBox 4"/>
          <p:cNvSpPr txBox="1"/>
          <p:nvPr/>
        </p:nvSpPr>
        <p:spPr>
          <a:xfrm>
            <a:off x="9273580" y="1557338"/>
            <a:ext cx="2156420" cy="447675"/>
          </a:xfrm>
          <a:prstGeom prst="rect">
            <a:avLst/>
          </a:prstGeom>
          <a:noFill/>
        </p:spPr>
        <p:txBody>
          <a:bodyPr wrap="square" lIns="0" rIns="0" tIns="0" bIns="0">
            <a:spAutoFit/>
          </a:bodyPr>
          <a:lstStyle/>
          <a:p>
            <a:pPr algn="r"/>
            <a:r>
              <a:rPr sz="1125" b="0" i="1">
                <a:solidFill>
                  <a:srgbClr val="111111"/>
                </a:solidFill>
                <a:latin typeface="Arial"/>
              </a:rPr>
              <a:t>~110 MINUTES. LIVE ENSEMBLE THROUGHOUT. NO INTERMISSION IN THE FINAL.</a:t>
            </a:r>
          </a:p>
        </p:txBody>
      </p:sp>
      <p:sp>
        <p:nvSpPr>
          <p:cNvPr id="6" name="TextBox 5"/>
          <p:cNvSpPr txBox="1"/>
          <p:nvPr/>
        </p:nvSpPr>
        <p:spPr>
          <a:xfrm>
            <a:off x="762000" y="571500"/>
            <a:ext cx="3109416" cy="158750"/>
          </a:xfrm>
          <a:prstGeom prst="rect">
            <a:avLst/>
          </a:prstGeom>
          <a:noFill/>
        </p:spPr>
        <p:txBody>
          <a:bodyPr wrap="square" lIns="0" rIns="0" tIns="0" bIns="0">
            <a:spAutoFit/>
          </a:bodyPr>
          <a:lstStyle/>
          <a:p>
            <a:r>
              <a:rPr sz="1650" b="1" i="0">
                <a:solidFill>
                  <a:srgbClr val="C9242A"/>
                </a:solidFill>
                <a:latin typeface="Impact"/>
              </a:rPr>
              <a:t>THE JOURNEY · SIX MOVEMENTS</a:t>
            </a:r>
          </a:p>
        </p:txBody>
      </p:sp>
      <p:sp>
        <p:nvSpPr>
          <p:cNvPr id="7" name="TextBox 6"/>
          <p:cNvSpPr txBox="1"/>
          <p:nvPr/>
        </p:nvSpPr>
        <p:spPr>
          <a:xfrm>
            <a:off x="920750" y="2368550"/>
            <a:ext cx="2453481" cy="101600"/>
          </a:xfrm>
          <a:prstGeom prst="rect">
            <a:avLst/>
          </a:prstGeom>
          <a:noFill/>
        </p:spPr>
        <p:txBody>
          <a:bodyPr wrap="square" lIns="0" rIns="0" tIns="0" bIns="0">
            <a:spAutoFit/>
          </a:bodyPr>
          <a:lstStyle/>
          <a:p>
            <a:r>
              <a:rPr sz="1050" b="1" i="0">
                <a:solidFill>
                  <a:srgbClr val="C9242A"/>
                </a:solidFill>
                <a:latin typeface="Impact"/>
              </a:rPr>
              <a:t>STRUCTURAL MAP · THE SIX MOVEMENTS</a:t>
            </a:r>
          </a:p>
        </p:txBody>
      </p:sp>
      <p:sp>
        <p:nvSpPr>
          <p:cNvPr id="8" name="TextBox 7"/>
          <p:cNvSpPr txBox="1"/>
          <p:nvPr/>
        </p:nvSpPr>
        <p:spPr>
          <a:xfrm>
            <a:off x="508000" y="6489700"/>
            <a:ext cx="2208312" cy="88900"/>
          </a:xfrm>
          <a:prstGeom prst="rect">
            <a:avLst/>
          </a:prstGeom>
          <a:noFill/>
        </p:spPr>
        <p:txBody>
          <a:bodyPr wrap="square" lIns="0" rIns="0" tIns="0" bIns="0">
            <a:spAutoFit/>
          </a:bodyPr>
          <a:lstStyle/>
          <a:p>
            <a:r>
              <a:rPr sz="900" b="0" i="0">
                <a:solidFill>
                  <a:srgbClr val="111111"/>
                </a:solidFill>
                <a:latin typeface="Arial"/>
              </a:rPr>
              <a:t>PERMANENT HOME · 539 S MISSION RD</a:t>
            </a:r>
          </a:p>
        </p:txBody>
      </p:sp>
      <p:sp>
        <p:nvSpPr>
          <p:cNvPr id="9" name="TextBox 8"/>
          <p:cNvSpPr txBox="1"/>
          <p:nvPr/>
        </p:nvSpPr>
        <p:spPr>
          <a:xfrm>
            <a:off x="7471767" y="3002756"/>
            <a:ext cx="1345009" cy="139700"/>
          </a:xfrm>
          <a:prstGeom prst="rect">
            <a:avLst/>
          </a:prstGeom>
          <a:noFill/>
        </p:spPr>
        <p:txBody>
          <a:bodyPr wrap="square" lIns="0" rIns="0" tIns="0" bIns="0">
            <a:spAutoFit/>
          </a:bodyPr>
          <a:lstStyle/>
          <a:p>
            <a:r>
              <a:rPr sz="1500" b="1" i="0">
                <a:solidFill>
                  <a:srgbClr val="111111"/>
                </a:solidFill>
                <a:latin typeface="Impact"/>
              </a:rPr>
              <a:t>HOLLYWOOD · THE TOUR</a:t>
            </a:r>
          </a:p>
        </p:txBody>
      </p:sp>
      <p:sp>
        <p:nvSpPr>
          <p:cNvPr id="10" name="TextBox 9"/>
          <p:cNvSpPr txBox="1"/>
          <p:nvPr/>
        </p:nvSpPr>
        <p:spPr>
          <a:xfrm>
            <a:off x="7471767" y="4202906"/>
            <a:ext cx="1300956" cy="139700"/>
          </a:xfrm>
          <a:prstGeom prst="rect">
            <a:avLst/>
          </a:prstGeom>
          <a:noFill/>
        </p:spPr>
        <p:txBody>
          <a:bodyPr wrap="square" lIns="0" rIns="0" tIns="0" bIns="0">
            <a:spAutoFit/>
          </a:bodyPr>
          <a:lstStyle/>
          <a:p>
            <a:r>
              <a:rPr sz="1500" b="1" i="0">
                <a:solidFill>
                  <a:srgbClr val="111111"/>
                </a:solidFill>
                <a:latin typeface="Impact"/>
              </a:rPr>
              <a:t>SOUTH CENTRAL · BLOOD</a:t>
            </a:r>
          </a:p>
        </p:txBody>
      </p:sp>
      <p:sp>
        <p:nvSpPr>
          <p:cNvPr id="11" name="TextBox 10"/>
          <p:cNvSpPr txBox="1"/>
          <p:nvPr/>
        </p:nvSpPr>
        <p:spPr>
          <a:xfrm>
            <a:off x="883330" y="4597277"/>
            <a:ext cx="1675110" cy="107950"/>
          </a:xfrm>
          <a:prstGeom prst="rect">
            <a:avLst/>
          </a:prstGeom>
          <a:noFill/>
        </p:spPr>
        <p:txBody>
          <a:bodyPr wrap="square" lIns="0" rIns="0" tIns="0" bIns="0">
            <a:spAutoFit/>
          </a:bodyPr>
          <a:lstStyle/>
          <a:p>
            <a:r>
              <a:rPr sz="1275" b="1" i="0">
                <a:solidFill>
                  <a:srgbClr val="111111"/>
                </a:solidFill>
                <a:latin typeface="Impact"/>
              </a:rPr>
              <a:t>SOUTH CENTRAL · THE BLOOD</a:t>
            </a:r>
          </a:p>
        </p:txBody>
      </p:sp>
      <p:sp>
        <p:nvSpPr>
          <p:cNvPr id="12" name="TextBox 11"/>
          <p:cNvSpPr txBox="1"/>
          <p:nvPr/>
        </p:nvSpPr>
        <p:spPr>
          <a:xfrm>
            <a:off x="7471767" y="3402806"/>
            <a:ext cx="1276648" cy="139700"/>
          </a:xfrm>
          <a:prstGeom prst="rect">
            <a:avLst/>
          </a:prstGeom>
          <a:noFill/>
        </p:spPr>
        <p:txBody>
          <a:bodyPr wrap="square" lIns="0" rIns="0" tIns="0" bIns="0">
            <a:spAutoFit/>
          </a:bodyPr>
          <a:lstStyle/>
          <a:p>
            <a:r>
              <a:rPr sz="1500" b="1" i="0">
                <a:solidFill>
                  <a:srgbClr val="111111"/>
                </a:solidFill>
                <a:latin typeface="Impact"/>
              </a:rPr>
              <a:t>BOYLE HTS. · TIANGUIS</a:t>
            </a:r>
          </a:p>
        </p:txBody>
      </p:sp>
      <p:sp>
        <p:nvSpPr>
          <p:cNvPr id="13" name="TextBox 12"/>
          <p:cNvSpPr txBox="1"/>
          <p:nvPr/>
        </p:nvSpPr>
        <p:spPr>
          <a:xfrm>
            <a:off x="7471767" y="4602956"/>
            <a:ext cx="1220391" cy="139700"/>
          </a:xfrm>
          <a:prstGeom prst="rect">
            <a:avLst/>
          </a:prstGeom>
          <a:noFill/>
        </p:spPr>
        <p:txBody>
          <a:bodyPr wrap="square" lIns="0" rIns="0" tIns="0" bIns="0">
            <a:spAutoFit/>
          </a:bodyPr>
          <a:lstStyle/>
          <a:p>
            <a:r>
              <a:rPr sz="1500" b="1" i="0">
                <a:solidFill>
                  <a:srgbClr val="111111"/>
                </a:solidFill>
                <a:latin typeface="Impact"/>
              </a:rPr>
              <a:t>THE CANYONS · FOLK</a:t>
            </a:r>
          </a:p>
        </p:txBody>
      </p:sp>
      <p:sp>
        <p:nvSpPr>
          <p:cNvPr id="14" name="TextBox 13"/>
          <p:cNvSpPr txBox="1"/>
          <p:nvPr/>
        </p:nvSpPr>
        <p:spPr>
          <a:xfrm>
            <a:off x="4663678" y="2387600"/>
            <a:ext cx="2014339" cy="82550"/>
          </a:xfrm>
          <a:prstGeom prst="rect">
            <a:avLst/>
          </a:prstGeom>
          <a:noFill/>
        </p:spPr>
        <p:txBody>
          <a:bodyPr wrap="square" lIns="0" rIns="0" tIns="0" bIns="0">
            <a:spAutoFit/>
          </a:bodyPr>
          <a:lstStyle/>
          <a:p>
            <a:r>
              <a:rPr sz="825" b="1" i="0">
                <a:solidFill>
                  <a:srgbClr val="111111"/>
                </a:solidFill>
                <a:latin typeface="Arial"/>
              </a:rPr>
              <a:t>539 S MISSION RD · OPENS JUNE 2027</a:t>
            </a:r>
          </a:p>
        </p:txBody>
      </p:sp>
      <p:sp>
        <p:nvSpPr>
          <p:cNvPr id="15" name="TextBox 14"/>
          <p:cNvSpPr txBox="1"/>
          <p:nvPr/>
        </p:nvSpPr>
        <p:spPr>
          <a:xfrm>
            <a:off x="7471767" y="5003006"/>
            <a:ext cx="1034355" cy="139700"/>
          </a:xfrm>
          <a:prstGeom prst="rect">
            <a:avLst/>
          </a:prstGeom>
          <a:noFill/>
        </p:spPr>
        <p:txBody>
          <a:bodyPr wrap="square" lIns="0" rIns="0" tIns="0" bIns="0">
            <a:spAutoFit/>
          </a:bodyPr>
          <a:lstStyle/>
          <a:p>
            <a:r>
              <a:rPr sz="1500" b="1" i="0">
                <a:solidFill>
                  <a:srgbClr val="111111"/>
                </a:solidFill>
                <a:latin typeface="Impact"/>
              </a:rPr>
              <a:t>TOPANGA · FINALE</a:t>
            </a:r>
          </a:p>
        </p:txBody>
      </p:sp>
      <p:sp>
        <p:nvSpPr>
          <p:cNvPr id="16" name="TextBox 15"/>
          <p:cNvSpPr txBox="1"/>
          <p:nvPr/>
        </p:nvSpPr>
        <p:spPr>
          <a:xfrm>
            <a:off x="5237261" y="4753897"/>
            <a:ext cx="654844" cy="215900"/>
          </a:xfrm>
          <a:prstGeom prst="rect">
            <a:avLst/>
          </a:prstGeom>
          <a:noFill/>
        </p:spPr>
        <p:txBody>
          <a:bodyPr wrap="square" lIns="0" rIns="0" tIns="0" bIns="0">
            <a:spAutoFit/>
          </a:bodyPr>
          <a:lstStyle/>
          <a:p>
            <a:r>
              <a:rPr sz="2550" b="0" i="1">
                <a:solidFill>
                  <a:srgbClr val="111111"/>
                </a:solidFill>
                <a:latin typeface="Playfair Display"/>
              </a:rPr>
              <a:t>Lobby</a:t>
            </a:r>
          </a:p>
        </p:txBody>
      </p:sp>
      <p:sp>
        <p:nvSpPr>
          <p:cNvPr id="17" name="TextBox 16"/>
          <p:cNvSpPr txBox="1"/>
          <p:nvPr/>
        </p:nvSpPr>
        <p:spPr>
          <a:xfrm>
            <a:off x="2491165" y="4597277"/>
            <a:ext cx="1192807" cy="107950"/>
          </a:xfrm>
          <a:prstGeom prst="rect">
            <a:avLst/>
          </a:prstGeom>
          <a:noFill/>
        </p:spPr>
        <p:txBody>
          <a:bodyPr wrap="square" lIns="0" rIns="0" tIns="0" bIns="0">
            <a:spAutoFit/>
          </a:bodyPr>
          <a:lstStyle/>
          <a:p>
            <a:r>
              <a:rPr sz="1275" b="1" i="0">
                <a:solidFill>
                  <a:srgbClr val="111111"/>
                </a:solidFill>
                <a:latin typeface="Impact"/>
              </a:rPr>
              <a:t>THE CANYONS · FOLK</a:t>
            </a:r>
          </a:p>
        </p:txBody>
      </p:sp>
      <p:sp>
        <p:nvSpPr>
          <p:cNvPr id="18" name="TextBox 17"/>
          <p:cNvSpPr txBox="1"/>
          <p:nvPr/>
        </p:nvSpPr>
        <p:spPr>
          <a:xfrm>
            <a:off x="7471767" y="3802856"/>
            <a:ext cx="876995" cy="139700"/>
          </a:xfrm>
          <a:prstGeom prst="rect">
            <a:avLst/>
          </a:prstGeom>
          <a:noFill/>
        </p:spPr>
        <p:txBody>
          <a:bodyPr wrap="square" lIns="0" rIns="0" tIns="0" bIns="0">
            <a:spAutoFit/>
          </a:bodyPr>
          <a:lstStyle/>
          <a:p>
            <a:r>
              <a:rPr sz="1500" b="1" i="0">
                <a:solidFill>
                  <a:srgbClr val="111111"/>
                </a:solidFill>
                <a:latin typeface="Impact"/>
              </a:rPr>
              <a:t>THE FIVE TOWNS</a:t>
            </a:r>
          </a:p>
        </p:txBody>
      </p:sp>
      <p:sp>
        <p:nvSpPr>
          <p:cNvPr id="19" name="TextBox 18"/>
          <p:cNvSpPr txBox="1"/>
          <p:nvPr/>
        </p:nvSpPr>
        <p:spPr>
          <a:xfrm>
            <a:off x="3641581" y="5793125"/>
            <a:ext cx="1112838" cy="107950"/>
          </a:xfrm>
          <a:prstGeom prst="rect">
            <a:avLst/>
          </a:prstGeom>
          <a:noFill/>
        </p:spPr>
        <p:txBody>
          <a:bodyPr wrap="square" lIns="0" rIns="0" tIns="0" bIns="0">
            <a:spAutoFit/>
          </a:bodyPr>
          <a:lstStyle/>
          <a:p>
            <a:r>
              <a:rPr sz="1275" b="1" i="0">
                <a:solidFill>
                  <a:srgbClr val="111111"/>
                </a:solidFill>
                <a:latin typeface="Impact"/>
              </a:rPr>
              <a:t>HOLLYWOOD · TOUR</a:t>
            </a:r>
          </a:p>
        </p:txBody>
      </p:sp>
      <p:sp>
        <p:nvSpPr>
          <p:cNvPr id="20" name="TextBox 19"/>
          <p:cNvSpPr txBox="1"/>
          <p:nvPr/>
        </p:nvSpPr>
        <p:spPr>
          <a:xfrm>
            <a:off x="10375305" y="6489700"/>
            <a:ext cx="1308695" cy="88900"/>
          </a:xfrm>
          <a:prstGeom prst="rect">
            <a:avLst/>
          </a:prstGeom>
          <a:noFill/>
        </p:spPr>
        <p:txBody>
          <a:bodyPr wrap="square" lIns="0" rIns="0" tIns="0" bIns="0">
            <a:spAutoFit/>
          </a:bodyPr>
          <a:lstStyle/>
          <a:p>
            <a:r>
              <a:rPr sz="900" b="0" i="0">
                <a:solidFill>
                  <a:srgbClr val="111111"/>
                </a:solidFill>
                <a:latin typeface="Arial"/>
              </a:rPr>
              <a:t>12 THE 2027 SHOW</a:t>
            </a:r>
          </a:p>
        </p:txBody>
      </p:sp>
      <p:sp>
        <p:nvSpPr>
          <p:cNvPr id="21" name="TextBox 20"/>
          <p:cNvSpPr txBox="1"/>
          <p:nvPr/>
        </p:nvSpPr>
        <p:spPr>
          <a:xfrm>
            <a:off x="4765625" y="5050421"/>
            <a:ext cx="1598116" cy="69850"/>
          </a:xfrm>
          <a:prstGeom prst="rect">
            <a:avLst/>
          </a:prstGeom>
          <a:noFill/>
        </p:spPr>
        <p:txBody>
          <a:bodyPr wrap="square" lIns="0" rIns="0" tIns="0" bIns="0">
            <a:spAutoFit/>
          </a:bodyPr>
          <a:lstStyle/>
          <a:p>
            <a:r>
              <a:rPr sz="825" b="1" i="0">
                <a:solidFill>
                  <a:srgbClr val="111111"/>
                </a:solidFill>
                <a:latin typeface="Arial"/>
              </a:rPr>
              <a:t>BOX OFFICE · GIFT SHOP · WELCOME</a:t>
            </a:r>
          </a:p>
        </p:txBody>
      </p:sp>
      <p:sp>
        <p:nvSpPr>
          <p:cNvPr id="22" name="TextBox 21"/>
          <p:cNvSpPr txBox="1"/>
          <p:nvPr/>
        </p:nvSpPr>
        <p:spPr>
          <a:xfrm>
            <a:off x="2726128" y="3048369"/>
            <a:ext cx="1030386" cy="107950"/>
          </a:xfrm>
          <a:prstGeom prst="rect">
            <a:avLst/>
          </a:prstGeom>
          <a:noFill/>
        </p:spPr>
        <p:txBody>
          <a:bodyPr wrap="square" lIns="0" rIns="0" tIns="0" bIns="0">
            <a:spAutoFit/>
          </a:bodyPr>
          <a:lstStyle/>
          <a:p>
            <a:r>
              <a:rPr sz="1275" b="1" i="0">
                <a:solidFill>
                  <a:srgbClr val="111111"/>
                </a:solidFill>
                <a:latin typeface="Impact"/>
              </a:rPr>
              <a:t>TOPANGA · FINALE</a:t>
            </a:r>
          </a:p>
        </p:txBody>
      </p:sp>
      <p:sp>
        <p:nvSpPr>
          <p:cNvPr id="23" name="TextBox 22"/>
          <p:cNvSpPr txBox="1"/>
          <p:nvPr/>
        </p:nvSpPr>
        <p:spPr>
          <a:xfrm>
            <a:off x="1256393" y="5793125"/>
            <a:ext cx="928985" cy="107950"/>
          </a:xfrm>
          <a:prstGeom prst="rect">
            <a:avLst/>
          </a:prstGeom>
          <a:noFill/>
        </p:spPr>
        <p:txBody>
          <a:bodyPr wrap="square" lIns="0" rIns="0" tIns="0" bIns="0">
            <a:spAutoFit/>
          </a:bodyPr>
          <a:lstStyle/>
          <a:p>
            <a:r>
              <a:rPr sz="1275" b="1" i="0">
                <a:solidFill>
                  <a:srgbClr val="111111"/>
                </a:solidFill>
                <a:latin typeface="Impact"/>
              </a:rPr>
              <a:t>THE FIVE TOWNS</a:t>
            </a:r>
          </a:p>
        </p:txBody>
      </p:sp>
      <p:sp>
        <p:nvSpPr>
          <p:cNvPr id="24" name="TextBox 23"/>
          <p:cNvSpPr txBox="1"/>
          <p:nvPr/>
        </p:nvSpPr>
        <p:spPr>
          <a:xfrm>
            <a:off x="2642127" y="5793125"/>
            <a:ext cx="890885" cy="107950"/>
          </a:xfrm>
          <a:prstGeom prst="rect">
            <a:avLst/>
          </a:prstGeom>
          <a:noFill/>
        </p:spPr>
        <p:txBody>
          <a:bodyPr wrap="square" lIns="0" rIns="0" tIns="0" bIns="0">
            <a:spAutoFit/>
          </a:bodyPr>
          <a:lstStyle/>
          <a:p>
            <a:r>
              <a:rPr sz="1275" b="1" i="0">
                <a:solidFill>
                  <a:srgbClr val="111111"/>
                </a:solidFill>
                <a:latin typeface="Impact"/>
              </a:rPr>
              <a:t>BOYLE HEIGHTS</a:t>
            </a:r>
          </a:p>
        </p:txBody>
      </p:sp>
      <p:sp>
        <p:nvSpPr>
          <p:cNvPr id="25" name="TextBox 24"/>
          <p:cNvSpPr txBox="1"/>
          <p:nvPr/>
        </p:nvSpPr>
        <p:spPr>
          <a:xfrm>
            <a:off x="1511022" y="3501513"/>
            <a:ext cx="704453" cy="69850"/>
          </a:xfrm>
          <a:prstGeom prst="rect">
            <a:avLst/>
          </a:prstGeom>
          <a:noFill/>
        </p:spPr>
        <p:txBody>
          <a:bodyPr wrap="square" lIns="0" rIns="0" tIns="0" bIns="0">
            <a:spAutoFit/>
          </a:bodyPr>
          <a:lstStyle/>
          <a:p>
            <a:r>
              <a:rPr sz="825" b="1" i="0">
                <a:solidFill>
                  <a:srgbClr val="111111"/>
                </a:solidFill>
                <a:latin typeface="Arial"/>
              </a:rPr>
              <a:t>BACK OF HOUSE</a:t>
            </a:r>
          </a:p>
        </p:txBody>
      </p:sp>
      <p:sp>
        <p:nvSpPr>
          <p:cNvPr id="26" name="Rectangle 25"/>
          <p:cNvSpPr/>
          <p:nvPr/>
        </p:nvSpPr>
        <p:spPr>
          <a:xfrm>
            <a:off x="7090767" y="2967831"/>
            <a:ext cx="215900" cy="215900"/>
          </a:xfrm>
          <a:prstGeom prst="rect">
            <a:avLst/>
          </a:prstGeom>
          <a:solidFill>
            <a:srgbClr val="E8B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090767" y="3367881"/>
            <a:ext cx="215900" cy="215900"/>
          </a:xfrm>
          <a:prstGeom prst="rect">
            <a:avLst/>
          </a:prstGeom>
          <a:solidFill>
            <a:srgbClr val="E27A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090767" y="3767931"/>
            <a:ext cx="215900" cy="215900"/>
          </a:xfrm>
          <a:prstGeom prst="rect">
            <a:avLst/>
          </a:prstGeom>
          <a:solidFill>
            <a:srgbClr val="8A5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090767" y="4167981"/>
            <a:ext cx="215900" cy="215900"/>
          </a:xfrm>
          <a:prstGeom prst="rect">
            <a:avLst/>
          </a:prstGeom>
          <a:solidFill>
            <a:srgbClr val="2AA5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090767" y="4568031"/>
            <a:ext cx="215900" cy="215900"/>
          </a:xfrm>
          <a:prstGeom prst="rect">
            <a:avLst/>
          </a:prstGeom>
          <a:solidFill>
            <a:srgbClr val="C924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090767" y="4968081"/>
            <a:ext cx="215900" cy="215900"/>
          </a:xfrm>
          <a:prstGeom prst="rect">
            <a:avLst/>
          </a:prstGeom>
          <a:solidFill>
            <a:srgbClr val="2E7D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191295" y="3809713"/>
            <a:ext cx="133052" cy="266700"/>
          </a:xfrm>
          <a:prstGeom prst="rect">
            <a:avLst/>
          </a:prstGeom>
          <a:noFill/>
        </p:spPr>
        <p:txBody>
          <a:bodyPr wrap="square" lIns="0" rIns="0" tIns="0" bIns="0">
            <a:spAutoFit/>
          </a:bodyPr>
          <a:lstStyle/>
          <a:p>
            <a:r>
              <a:rPr sz="3150" b="1" i="0">
                <a:solidFill>
                  <a:srgbClr val="111111"/>
                </a:solidFill>
                <a:latin typeface="Impact"/>
              </a:rPr>
              <a:t>4</a:t>
            </a:r>
          </a:p>
        </p:txBody>
      </p:sp>
      <p:sp>
        <p:nvSpPr>
          <p:cNvPr id="33" name="TextBox 32"/>
          <p:cNvSpPr txBox="1"/>
          <p:nvPr/>
        </p:nvSpPr>
        <p:spPr>
          <a:xfrm>
            <a:off x="2557979" y="3809713"/>
            <a:ext cx="133052" cy="266700"/>
          </a:xfrm>
          <a:prstGeom prst="rect">
            <a:avLst/>
          </a:prstGeom>
          <a:noFill/>
        </p:spPr>
        <p:txBody>
          <a:bodyPr wrap="square" lIns="0" rIns="0" tIns="0" bIns="0">
            <a:spAutoFit/>
          </a:bodyPr>
          <a:lstStyle/>
          <a:p>
            <a:r>
              <a:rPr sz="3150" b="1" i="0">
                <a:solidFill>
                  <a:srgbClr val="111111"/>
                </a:solidFill>
                <a:latin typeface="Impact"/>
              </a:rPr>
              <a:t>5</a:t>
            </a:r>
          </a:p>
        </p:txBody>
      </p:sp>
      <p:sp>
        <p:nvSpPr>
          <p:cNvPr id="34" name="TextBox 33"/>
          <p:cNvSpPr txBox="1"/>
          <p:nvPr/>
        </p:nvSpPr>
        <p:spPr>
          <a:xfrm>
            <a:off x="1191295" y="4891671"/>
            <a:ext cx="133052" cy="266700"/>
          </a:xfrm>
          <a:prstGeom prst="rect">
            <a:avLst/>
          </a:prstGeom>
          <a:noFill/>
        </p:spPr>
        <p:txBody>
          <a:bodyPr wrap="square" lIns="0" rIns="0" tIns="0" bIns="0">
            <a:spAutoFit/>
          </a:bodyPr>
          <a:lstStyle/>
          <a:p>
            <a:r>
              <a:rPr sz="3150" b="1" i="0">
                <a:solidFill>
                  <a:srgbClr val="111111"/>
                </a:solidFill>
                <a:latin typeface="Impact"/>
              </a:rPr>
              <a:t>3</a:t>
            </a:r>
          </a:p>
        </p:txBody>
      </p:sp>
      <p:sp>
        <p:nvSpPr>
          <p:cNvPr id="35" name="TextBox 34"/>
          <p:cNvSpPr txBox="1"/>
          <p:nvPr/>
        </p:nvSpPr>
        <p:spPr>
          <a:xfrm>
            <a:off x="2557979" y="4891671"/>
            <a:ext cx="133052" cy="266700"/>
          </a:xfrm>
          <a:prstGeom prst="rect">
            <a:avLst/>
          </a:prstGeom>
          <a:noFill/>
        </p:spPr>
        <p:txBody>
          <a:bodyPr wrap="square" lIns="0" rIns="0" tIns="0" bIns="0">
            <a:spAutoFit/>
          </a:bodyPr>
          <a:lstStyle/>
          <a:p>
            <a:r>
              <a:rPr sz="3150" b="1" i="0">
                <a:solidFill>
                  <a:srgbClr val="111111"/>
                </a:solidFill>
                <a:latin typeface="Impact"/>
              </a:rPr>
              <a:t>2</a:t>
            </a:r>
          </a:p>
        </p:txBody>
      </p:sp>
      <p:sp>
        <p:nvSpPr>
          <p:cNvPr id="36" name="TextBox 35"/>
          <p:cNvSpPr txBox="1"/>
          <p:nvPr/>
        </p:nvSpPr>
        <p:spPr>
          <a:xfrm>
            <a:off x="3924663" y="3809713"/>
            <a:ext cx="133052" cy="266700"/>
          </a:xfrm>
          <a:prstGeom prst="rect">
            <a:avLst/>
          </a:prstGeom>
          <a:noFill/>
        </p:spPr>
        <p:txBody>
          <a:bodyPr wrap="square" lIns="0" rIns="0" tIns="0" bIns="0">
            <a:spAutoFit/>
          </a:bodyPr>
          <a:lstStyle/>
          <a:p>
            <a:r>
              <a:rPr sz="3150" b="1" i="0">
                <a:solidFill>
                  <a:srgbClr val="111111"/>
                </a:solidFill>
                <a:latin typeface="Impact"/>
              </a:rPr>
              <a:t>1</a:t>
            </a:r>
          </a:p>
        </p:txBody>
      </p:sp>
      <p:sp>
        <p:nvSpPr>
          <p:cNvPr id="37" name="TextBox 36"/>
          <p:cNvSpPr txBox="1"/>
          <p:nvPr/>
        </p:nvSpPr>
        <p:spPr>
          <a:xfrm>
            <a:off x="2842705" y="2704977"/>
            <a:ext cx="133052" cy="266700"/>
          </a:xfrm>
          <a:prstGeom prst="rect">
            <a:avLst/>
          </a:prstGeom>
          <a:noFill/>
        </p:spPr>
        <p:txBody>
          <a:bodyPr wrap="square" lIns="0" rIns="0" tIns="0" bIns="0">
            <a:spAutoFit/>
          </a:bodyPr>
          <a:lstStyle/>
          <a:p>
            <a:r>
              <a:rPr sz="3150" b="1" i="0">
                <a:solidFill>
                  <a:srgbClr val="111111"/>
                </a:solidFill>
                <a:latin typeface="Impact"/>
              </a:rPr>
              <a:t>6</a:t>
            </a:r>
          </a:p>
        </p:txBody>
      </p:sp>
      <p:sp>
        <p:nvSpPr>
          <p:cNvPr id="38" name="TextBox 37"/>
          <p:cNvSpPr txBox="1"/>
          <p:nvPr/>
        </p:nvSpPr>
        <p:spPr>
          <a:xfrm>
            <a:off x="11059220" y="5034756"/>
            <a:ext cx="370681" cy="82550"/>
          </a:xfrm>
          <a:prstGeom prst="rect">
            <a:avLst/>
          </a:prstGeom>
          <a:noFill/>
        </p:spPr>
        <p:txBody>
          <a:bodyPr wrap="square" lIns="0" rIns="0" tIns="0" bIns="0">
            <a:spAutoFit/>
          </a:bodyPr>
          <a:lstStyle/>
          <a:p>
            <a:r>
              <a:rPr sz="825" b="1" i="0">
                <a:solidFill>
                  <a:srgbClr val="111111"/>
                </a:solidFill>
                <a:latin typeface="Arial"/>
              </a:rPr>
              <a:t>FINALE</a:t>
            </a:r>
          </a:p>
        </p:txBody>
      </p:sp>
      <p:sp>
        <p:nvSpPr>
          <p:cNvPr id="39" name="TextBox 38"/>
          <p:cNvSpPr txBox="1"/>
          <p:nvPr/>
        </p:nvSpPr>
        <p:spPr>
          <a:xfrm>
            <a:off x="11067058" y="3834606"/>
            <a:ext cx="362843" cy="82550"/>
          </a:xfrm>
          <a:prstGeom prst="rect">
            <a:avLst/>
          </a:prstGeom>
          <a:noFill/>
        </p:spPr>
        <p:txBody>
          <a:bodyPr wrap="square" lIns="0" rIns="0" tIns="0" bIns="0">
            <a:spAutoFit/>
          </a:bodyPr>
          <a:lstStyle/>
          <a:p>
            <a:r>
              <a:rPr sz="825" b="1" i="0">
                <a:solidFill>
                  <a:srgbClr val="111111"/>
                </a:solidFill>
                <a:latin typeface="Arial"/>
              </a:rPr>
              <a:t>ACT III</a:t>
            </a:r>
          </a:p>
        </p:txBody>
      </p:sp>
      <p:sp>
        <p:nvSpPr>
          <p:cNvPr id="40" name="TextBox 39"/>
          <p:cNvSpPr txBox="1"/>
          <p:nvPr/>
        </p:nvSpPr>
        <p:spPr>
          <a:xfrm>
            <a:off x="11080353" y="4234656"/>
            <a:ext cx="349548" cy="82550"/>
          </a:xfrm>
          <a:prstGeom prst="rect">
            <a:avLst/>
          </a:prstGeom>
          <a:noFill/>
        </p:spPr>
        <p:txBody>
          <a:bodyPr wrap="square" lIns="0" rIns="0" tIns="0" bIns="0">
            <a:spAutoFit/>
          </a:bodyPr>
          <a:lstStyle/>
          <a:p>
            <a:r>
              <a:rPr sz="825" b="1" i="0">
                <a:solidFill>
                  <a:srgbClr val="111111"/>
                </a:solidFill>
                <a:latin typeface="Arial"/>
              </a:rPr>
              <a:t>ACT IV</a:t>
            </a:r>
          </a:p>
        </p:txBody>
      </p:sp>
      <p:sp>
        <p:nvSpPr>
          <p:cNvPr id="41" name="TextBox 40"/>
          <p:cNvSpPr txBox="1"/>
          <p:nvPr/>
        </p:nvSpPr>
        <p:spPr>
          <a:xfrm>
            <a:off x="5976650" y="5636956"/>
            <a:ext cx="385266" cy="69850"/>
          </a:xfrm>
          <a:prstGeom prst="rect">
            <a:avLst/>
          </a:prstGeom>
          <a:noFill/>
        </p:spPr>
        <p:txBody>
          <a:bodyPr wrap="square" lIns="0" rIns="0" tIns="0" bIns="0">
            <a:spAutoFit/>
          </a:bodyPr>
          <a:lstStyle/>
          <a:p>
            <a:r>
              <a:rPr sz="825" b="1" i="0">
                <a:solidFill>
                  <a:srgbClr val="111111"/>
                </a:solidFill>
                <a:latin typeface="Arial"/>
              </a:rPr>
              <a:t>ENTRY →</a:t>
            </a:r>
          </a:p>
        </p:txBody>
      </p:sp>
      <p:sp>
        <p:nvSpPr>
          <p:cNvPr id="42" name="TextBox 41"/>
          <p:cNvSpPr txBox="1"/>
          <p:nvPr/>
        </p:nvSpPr>
        <p:spPr>
          <a:xfrm>
            <a:off x="11108432" y="3434556"/>
            <a:ext cx="321469" cy="82550"/>
          </a:xfrm>
          <a:prstGeom prst="rect">
            <a:avLst/>
          </a:prstGeom>
          <a:noFill/>
        </p:spPr>
        <p:txBody>
          <a:bodyPr wrap="square" lIns="0" rIns="0" tIns="0" bIns="0">
            <a:spAutoFit/>
          </a:bodyPr>
          <a:lstStyle/>
          <a:p>
            <a:r>
              <a:rPr sz="825" b="1" i="0">
                <a:solidFill>
                  <a:srgbClr val="111111"/>
                </a:solidFill>
                <a:latin typeface="Arial"/>
              </a:rPr>
              <a:t>ACT II</a:t>
            </a:r>
          </a:p>
        </p:txBody>
      </p:sp>
      <p:sp>
        <p:nvSpPr>
          <p:cNvPr id="43" name="TextBox 42"/>
          <p:cNvSpPr txBox="1"/>
          <p:nvPr/>
        </p:nvSpPr>
        <p:spPr>
          <a:xfrm>
            <a:off x="3056228" y="3455957"/>
            <a:ext cx="370185" cy="69850"/>
          </a:xfrm>
          <a:prstGeom prst="rect">
            <a:avLst/>
          </a:prstGeom>
          <a:noFill/>
        </p:spPr>
        <p:txBody>
          <a:bodyPr wrap="square" lIns="0" rIns="0" tIns="0" bIns="0">
            <a:spAutoFit/>
          </a:bodyPr>
          <a:lstStyle/>
          <a:p>
            <a:r>
              <a:rPr sz="825" b="1" i="0">
                <a:solidFill>
                  <a:srgbClr val="111111"/>
                </a:solidFill>
                <a:latin typeface="Arial"/>
              </a:rPr>
              <a:t>SEATING</a:t>
            </a:r>
          </a:p>
        </p:txBody>
      </p:sp>
      <p:sp>
        <p:nvSpPr>
          <p:cNvPr id="44" name="TextBox 43"/>
          <p:cNvSpPr txBox="1"/>
          <p:nvPr/>
        </p:nvSpPr>
        <p:spPr>
          <a:xfrm>
            <a:off x="11121628" y="4634706"/>
            <a:ext cx="308273" cy="82550"/>
          </a:xfrm>
          <a:prstGeom prst="rect">
            <a:avLst/>
          </a:prstGeom>
          <a:noFill/>
        </p:spPr>
        <p:txBody>
          <a:bodyPr wrap="square" lIns="0" rIns="0" tIns="0" bIns="0">
            <a:spAutoFit/>
          </a:bodyPr>
          <a:lstStyle/>
          <a:p>
            <a:r>
              <a:rPr sz="825" b="1" i="0">
                <a:solidFill>
                  <a:srgbClr val="111111"/>
                </a:solidFill>
                <a:latin typeface="Arial"/>
              </a:rPr>
              <a:t>ACT V</a:t>
            </a:r>
          </a:p>
        </p:txBody>
      </p:sp>
      <p:sp>
        <p:nvSpPr>
          <p:cNvPr id="45" name="TextBox 44"/>
          <p:cNvSpPr txBox="1"/>
          <p:nvPr/>
        </p:nvSpPr>
        <p:spPr>
          <a:xfrm>
            <a:off x="11149707" y="3034506"/>
            <a:ext cx="280194" cy="82550"/>
          </a:xfrm>
          <a:prstGeom prst="rect">
            <a:avLst/>
          </a:prstGeom>
          <a:noFill/>
        </p:spPr>
        <p:txBody>
          <a:bodyPr wrap="square" lIns="0" rIns="0" tIns="0" bIns="0">
            <a:spAutoFit/>
          </a:bodyPr>
          <a:lstStyle/>
          <a:p>
            <a:r>
              <a:rPr sz="825" b="1" i="0">
                <a:solidFill>
                  <a:srgbClr val="111111"/>
                </a:solidFill>
                <a:latin typeface="Arial"/>
              </a:rPr>
              <a:t>ACT I</a:t>
            </a:r>
          </a:p>
        </p:txBody>
      </p:sp>
      <p:sp>
        <p:nvSpPr>
          <p:cNvPr id="46" name="TextBox 45"/>
          <p:cNvSpPr txBox="1"/>
          <p:nvPr/>
        </p:nvSpPr>
        <p:spPr>
          <a:xfrm>
            <a:off x="7166868" y="3009106"/>
            <a:ext cx="63599" cy="127000"/>
          </a:xfrm>
          <a:prstGeom prst="rect">
            <a:avLst/>
          </a:prstGeom>
          <a:noFill/>
        </p:spPr>
        <p:txBody>
          <a:bodyPr wrap="square" lIns="0" rIns="0" tIns="0" bIns="0">
            <a:spAutoFit/>
          </a:bodyPr>
          <a:lstStyle/>
          <a:p>
            <a:r>
              <a:rPr sz="1350" b="1" i="0">
                <a:solidFill>
                  <a:srgbClr val="FFFFFF"/>
                </a:solidFill>
                <a:latin typeface="Impact"/>
              </a:rPr>
              <a:t>1</a:t>
            </a:r>
          </a:p>
        </p:txBody>
      </p:sp>
      <p:sp>
        <p:nvSpPr>
          <p:cNvPr id="47" name="TextBox 46"/>
          <p:cNvSpPr txBox="1"/>
          <p:nvPr/>
        </p:nvSpPr>
        <p:spPr>
          <a:xfrm>
            <a:off x="7166868" y="3409156"/>
            <a:ext cx="63599" cy="127000"/>
          </a:xfrm>
          <a:prstGeom prst="rect">
            <a:avLst/>
          </a:prstGeom>
          <a:noFill/>
        </p:spPr>
        <p:txBody>
          <a:bodyPr wrap="square" lIns="0" rIns="0" tIns="0" bIns="0">
            <a:spAutoFit/>
          </a:bodyPr>
          <a:lstStyle/>
          <a:p>
            <a:r>
              <a:rPr sz="1350" b="1" i="0">
                <a:solidFill>
                  <a:srgbClr val="FFFFFF"/>
                </a:solidFill>
                <a:latin typeface="Impact"/>
              </a:rPr>
              <a:t>2</a:t>
            </a:r>
          </a:p>
        </p:txBody>
      </p:sp>
      <p:sp>
        <p:nvSpPr>
          <p:cNvPr id="48" name="TextBox 47"/>
          <p:cNvSpPr txBox="1"/>
          <p:nvPr/>
        </p:nvSpPr>
        <p:spPr>
          <a:xfrm>
            <a:off x="7166868" y="3809206"/>
            <a:ext cx="63599" cy="127000"/>
          </a:xfrm>
          <a:prstGeom prst="rect">
            <a:avLst/>
          </a:prstGeom>
          <a:noFill/>
        </p:spPr>
        <p:txBody>
          <a:bodyPr wrap="square" lIns="0" rIns="0" tIns="0" bIns="0">
            <a:spAutoFit/>
          </a:bodyPr>
          <a:lstStyle/>
          <a:p>
            <a:r>
              <a:rPr sz="1350" b="1" i="0">
                <a:solidFill>
                  <a:srgbClr val="FFFFFF"/>
                </a:solidFill>
                <a:latin typeface="Impact"/>
              </a:rPr>
              <a:t>3</a:t>
            </a:r>
          </a:p>
        </p:txBody>
      </p:sp>
      <p:sp>
        <p:nvSpPr>
          <p:cNvPr id="49" name="TextBox 48"/>
          <p:cNvSpPr txBox="1"/>
          <p:nvPr/>
        </p:nvSpPr>
        <p:spPr>
          <a:xfrm>
            <a:off x="7166868" y="4209256"/>
            <a:ext cx="63599" cy="127000"/>
          </a:xfrm>
          <a:prstGeom prst="rect">
            <a:avLst/>
          </a:prstGeom>
          <a:noFill/>
        </p:spPr>
        <p:txBody>
          <a:bodyPr wrap="square" lIns="0" rIns="0" tIns="0" bIns="0">
            <a:spAutoFit/>
          </a:bodyPr>
          <a:lstStyle/>
          <a:p>
            <a:r>
              <a:rPr sz="1350" b="1" i="0">
                <a:solidFill>
                  <a:srgbClr val="FFFFFF"/>
                </a:solidFill>
                <a:latin typeface="Impact"/>
              </a:rPr>
              <a:t>4</a:t>
            </a:r>
          </a:p>
        </p:txBody>
      </p:sp>
      <p:sp>
        <p:nvSpPr>
          <p:cNvPr id="50" name="TextBox 49"/>
          <p:cNvSpPr txBox="1"/>
          <p:nvPr/>
        </p:nvSpPr>
        <p:spPr>
          <a:xfrm>
            <a:off x="7166868" y="4609306"/>
            <a:ext cx="63599" cy="127000"/>
          </a:xfrm>
          <a:prstGeom prst="rect">
            <a:avLst/>
          </a:prstGeom>
          <a:noFill/>
        </p:spPr>
        <p:txBody>
          <a:bodyPr wrap="square" lIns="0" rIns="0" tIns="0" bIns="0">
            <a:spAutoFit/>
          </a:bodyPr>
          <a:lstStyle/>
          <a:p>
            <a:r>
              <a:rPr sz="1350" b="1" i="0">
                <a:solidFill>
                  <a:srgbClr val="FFFFFF"/>
                </a:solidFill>
                <a:latin typeface="Impact"/>
              </a:rPr>
              <a:t>5</a:t>
            </a:r>
          </a:p>
        </p:txBody>
      </p:sp>
      <p:sp>
        <p:nvSpPr>
          <p:cNvPr id="51" name="TextBox 50"/>
          <p:cNvSpPr txBox="1"/>
          <p:nvPr/>
        </p:nvSpPr>
        <p:spPr>
          <a:xfrm>
            <a:off x="7166868" y="5009356"/>
            <a:ext cx="63599" cy="127000"/>
          </a:xfrm>
          <a:prstGeom prst="rect">
            <a:avLst/>
          </a:prstGeom>
          <a:noFill/>
        </p:spPr>
        <p:txBody>
          <a:bodyPr wrap="square" lIns="0" rIns="0" tIns="0" bIns="0">
            <a:spAutoFit/>
          </a:bodyPr>
          <a:lstStyle/>
          <a:p>
            <a:r>
              <a:rPr sz="1350" b="1" i="0">
                <a:solidFill>
                  <a:srgbClr val="FFFFFF"/>
                </a:solidFill>
                <a:latin typeface="Impact"/>
              </a:rPr>
              <a:t>6</a:t>
            </a:r>
          </a:p>
        </p:txBody>
      </p:sp>
      <p:sp>
        <p:nvSpPr>
          <p:cNvPr id="52" name="Rectangle 51"/>
          <p:cNvSpPr/>
          <p:nvPr/>
        </p:nvSpPr>
        <p:spPr>
          <a:xfrm>
            <a:off x="10624046" y="6511925"/>
            <a:ext cx="38100" cy="38100"/>
          </a:xfrm>
          <a:prstGeom prst="rect">
            <a:avLst/>
          </a:prstGeom>
          <a:solidFill>
            <a:srgbClr val="C924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EFE6"/>
        </a:solidFill>
        <a:effectLst/>
      </p:bgPr>
    </p:bg>
    <p:spTree>
      <p:nvGrpSpPr>
        <p:cNvPr id="1" name=""/>
        <p:cNvGrpSpPr/>
        <p:nvPr/>
      </p:nvGrpSpPr>
      <p:grpSpPr/>
      <p:sp>
        <p:nvSpPr>
          <p:cNvPr id="2" name="Rectangle 1"/>
          <p:cNvSpPr/>
          <p:nvPr/>
        </p:nvSpPr>
        <p:spPr>
          <a:xfrm>
            <a:off x="6924179" y="2647950"/>
            <a:ext cx="4505821" cy="3188494"/>
          </a:xfrm>
          <a:prstGeom prst="rect">
            <a:avLst/>
          </a:prstGeom>
          <a:solidFill>
            <a:srgbClr val="E8E1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2000" y="749300"/>
            <a:ext cx="5139432" cy="1797050"/>
          </a:xfrm>
          <a:prstGeom prst="rect">
            <a:avLst/>
          </a:prstGeom>
          <a:noFill/>
        </p:spPr>
        <p:txBody>
          <a:bodyPr wrap="square" lIns="0" rIns="0" tIns="0" bIns="0">
            <a:spAutoFit/>
          </a:bodyPr>
          <a:lstStyle/>
          <a:p>
            <a:r>
              <a:rPr sz="10500" b="1" i="0">
                <a:solidFill>
                  <a:srgbClr val="111111"/>
                </a:solidFill>
                <a:latin typeface="Impact"/>
              </a:rPr>
              <a:t>PLAN YOUR EVENING.</a:t>
            </a:r>
          </a:p>
        </p:txBody>
      </p:sp>
      <p:sp>
        <p:nvSpPr>
          <p:cNvPr id="4" name="TextBox 3"/>
          <p:cNvSpPr txBox="1"/>
          <p:nvPr/>
        </p:nvSpPr>
        <p:spPr>
          <a:xfrm>
            <a:off x="762000" y="3003550"/>
            <a:ext cx="4027488" cy="1675209"/>
          </a:xfrm>
          <a:prstGeom prst="rect">
            <a:avLst/>
          </a:prstGeom>
          <a:noFill/>
        </p:spPr>
        <p:txBody>
          <a:bodyPr wrap="square" lIns="0" rIns="0" tIns="0" bIns="0">
            <a:spAutoFit/>
          </a:bodyPr>
          <a:lstStyle/>
          <a:p>
            <a:r>
              <a:rPr sz="3900" b="1" i="0">
                <a:solidFill>
                  <a:srgbClr val="111111"/>
                </a:solidFill>
                <a:latin typeface="Impact"/>
              </a:rPr>
              <a:t>A REPURPOSED INDUSTRIAL SITE , REIMAGINED AS SIX LOS ANGELESES — STACKED, ROOM-BY-ROOM.</a:t>
            </a:r>
          </a:p>
        </p:txBody>
      </p:sp>
      <p:sp>
        <p:nvSpPr>
          <p:cNvPr id="5" name="TextBox 4"/>
          <p:cNvSpPr txBox="1"/>
          <p:nvPr/>
        </p:nvSpPr>
        <p:spPr>
          <a:xfrm>
            <a:off x="762000" y="4818162"/>
            <a:ext cx="4276626" cy="664666"/>
          </a:xfrm>
          <a:prstGeom prst="rect">
            <a:avLst/>
          </a:prstGeom>
          <a:noFill/>
        </p:spPr>
        <p:txBody>
          <a:bodyPr wrap="square" lIns="0" rIns="0" tIns="0" bIns="0">
            <a:spAutoFit/>
          </a:bodyPr>
          <a:lstStyle/>
          <a:p>
            <a:r>
              <a:rPr sz="1350" b="0" i="0">
                <a:solidFill>
                  <a:srgbClr val="111111"/>
                </a:solidFill>
                <a:latin typeface="Arial"/>
              </a:rPr>
              <a:t>Thirty-thousand-plus square feet of warehouse, unfinished brick, polished concrete, and scaffold. Parking available on-site. Rideshare drop-off on the Mission Rd side. The lobby opens one hour before each tour — your guide is already watching you.</a:t>
            </a:r>
          </a:p>
        </p:txBody>
      </p:sp>
      <p:sp>
        <p:nvSpPr>
          <p:cNvPr id="6" name="TextBox 5"/>
          <p:cNvSpPr txBox="1"/>
          <p:nvPr/>
        </p:nvSpPr>
        <p:spPr>
          <a:xfrm>
            <a:off x="8941891" y="1990725"/>
            <a:ext cx="2488109" cy="438150"/>
          </a:xfrm>
          <a:prstGeom prst="rect">
            <a:avLst/>
          </a:prstGeom>
          <a:noFill/>
        </p:spPr>
        <p:txBody>
          <a:bodyPr wrap="square" lIns="0" rIns="0" tIns="0" bIns="0">
            <a:spAutoFit/>
          </a:bodyPr>
          <a:lstStyle/>
          <a:p>
            <a:pPr algn="r"/>
            <a:r>
              <a:rPr sz="1125" b="0" i="1">
                <a:solidFill>
                  <a:srgbClr val="111111"/>
                </a:solidFill>
                <a:latin typeface="Arial"/>
              </a:rPr>
              <a:t>DOORS OPEN ONE HOUR BEFORE EACH TOUR. LATECOMERS HELD FOR NEXT.</a:t>
            </a:r>
          </a:p>
        </p:txBody>
      </p:sp>
      <p:sp>
        <p:nvSpPr>
          <p:cNvPr id="7" name="TextBox 6"/>
          <p:cNvSpPr txBox="1"/>
          <p:nvPr/>
        </p:nvSpPr>
        <p:spPr>
          <a:xfrm>
            <a:off x="762000" y="571500"/>
            <a:ext cx="2750046" cy="158750"/>
          </a:xfrm>
          <a:prstGeom prst="rect">
            <a:avLst/>
          </a:prstGeom>
          <a:noFill/>
        </p:spPr>
        <p:txBody>
          <a:bodyPr wrap="square" lIns="0" rIns="0" tIns="0" bIns="0">
            <a:spAutoFit/>
          </a:bodyPr>
          <a:lstStyle/>
          <a:p>
            <a:r>
              <a:rPr sz="1650" b="1" i="0">
                <a:solidFill>
                  <a:srgbClr val="C9242A"/>
                </a:solidFill>
                <a:latin typeface="Impact"/>
              </a:rPr>
              <a:t>VISIT · PRACTICAL MATTERS</a:t>
            </a:r>
          </a:p>
        </p:txBody>
      </p:sp>
      <p:sp>
        <p:nvSpPr>
          <p:cNvPr id="8" name="TextBox 7"/>
          <p:cNvSpPr txBox="1"/>
          <p:nvPr/>
        </p:nvSpPr>
        <p:spPr>
          <a:xfrm>
            <a:off x="7895729" y="5441553"/>
            <a:ext cx="2822178" cy="95250"/>
          </a:xfrm>
          <a:prstGeom prst="rect">
            <a:avLst/>
          </a:prstGeom>
          <a:noFill/>
        </p:spPr>
        <p:txBody>
          <a:bodyPr wrap="square" lIns="0" rIns="0" tIns="0" bIns="0">
            <a:spAutoFit/>
          </a:bodyPr>
          <a:lstStyle/>
          <a:p>
            <a:r>
              <a:rPr sz="975" b="0" i="0">
                <a:solidFill>
                  <a:srgbClr val="111111"/>
                </a:solidFill>
                <a:latin typeface="Arial"/>
              </a:rPr>
              <a:t>Assisted listening, sensory-mindful showings on select Wednesdays.</a:t>
            </a:r>
          </a:p>
        </p:txBody>
      </p:sp>
      <p:sp>
        <p:nvSpPr>
          <p:cNvPr id="9" name="TextBox 8"/>
          <p:cNvSpPr txBox="1"/>
          <p:nvPr/>
        </p:nvSpPr>
        <p:spPr>
          <a:xfrm>
            <a:off x="7895729" y="4562872"/>
            <a:ext cx="2645470" cy="95250"/>
          </a:xfrm>
          <a:prstGeom prst="rect">
            <a:avLst/>
          </a:prstGeom>
          <a:noFill/>
        </p:spPr>
        <p:txBody>
          <a:bodyPr wrap="square" lIns="0" rIns="0" tIns="0" bIns="0">
            <a:spAutoFit/>
          </a:bodyPr>
          <a:lstStyle/>
          <a:p>
            <a:r>
              <a:rPr sz="975" b="0" i="0">
                <a:solidFill>
                  <a:srgbClr val="111111"/>
                </a:solidFill>
                <a:latin typeface="Arial"/>
              </a:rPr>
              <a:t>Light fare from LA partners. No re-entry to the tour once begun.</a:t>
            </a:r>
          </a:p>
        </p:txBody>
      </p:sp>
      <p:sp>
        <p:nvSpPr>
          <p:cNvPr id="10" name="TextBox 9"/>
          <p:cNvSpPr txBox="1"/>
          <p:nvPr/>
        </p:nvSpPr>
        <p:spPr>
          <a:xfrm>
            <a:off x="7895729" y="3684191"/>
            <a:ext cx="2382143" cy="95250"/>
          </a:xfrm>
          <a:prstGeom prst="rect">
            <a:avLst/>
          </a:prstGeom>
          <a:noFill/>
        </p:spPr>
        <p:txBody>
          <a:bodyPr wrap="square" lIns="0" rIns="0" tIns="0" bIns="0">
            <a:spAutoFit/>
          </a:bodyPr>
          <a:lstStyle/>
          <a:p>
            <a:r>
              <a:rPr sz="975" b="0" i="0">
                <a:solidFill>
                  <a:srgbClr val="111111"/>
                </a:solidFill>
                <a:latin typeface="Arial"/>
              </a:rPr>
              <a:t>The venue is warehouse-cool in the back-of-house rooms.</a:t>
            </a:r>
          </a:p>
        </p:txBody>
      </p:sp>
      <p:sp>
        <p:nvSpPr>
          <p:cNvPr id="11" name="TextBox 10"/>
          <p:cNvSpPr txBox="1"/>
          <p:nvPr/>
        </p:nvSpPr>
        <p:spPr>
          <a:xfrm>
            <a:off x="3798590" y="5793284"/>
            <a:ext cx="1409204" cy="158750"/>
          </a:xfrm>
          <a:prstGeom prst="rect">
            <a:avLst/>
          </a:prstGeom>
          <a:noFill/>
        </p:spPr>
        <p:txBody>
          <a:bodyPr wrap="square" lIns="0" rIns="0" tIns="0" bIns="0">
            <a:spAutoFit/>
          </a:bodyPr>
          <a:lstStyle/>
          <a:p>
            <a:r>
              <a:rPr sz="1650" b="1" i="0">
                <a:solidFill>
                  <a:srgbClr val="111111"/>
                </a:solidFill>
                <a:latin typeface="Impact"/>
              </a:rPr>
              <a:t>A LINE · 7TH/METRO</a:t>
            </a:r>
          </a:p>
        </p:txBody>
      </p:sp>
      <p:sp>
        <p:nvSpPr>
          <p:cNvPr id="12" name="TextBox 11"/>
          <p:cNvSpPr txBox="1"/>
          <p:nvPr/>
        </p:nvSpPr>
        <p:spPr>
          <a:xfrm>
            <a:off x="508000" y="6489700"/>
            <a:ext cx="2482949" cy="88900"/>
          </a:xfrm>
          <a:prstGeom prst="rect">
            <a:avLst/>
          </a:prstGeom>
          <a:noFill/>
        </p:spPr>
        <p:txBody>
          <a:bodyPr wrap="square" lIns="0" rIns="0" tIns="0" bIns="0">
            <a:spAutoFit/>
          </a:bodyPr>
          <a:lstStyle/>
          <a:p>
            <a:r>
              <a:rPr sz="900" b="0" i="0">
                <a:solidFill>
                  <a:srgbClr val="111111"/>
                </a:solidFill>
                <a:latin typeface="Arial"/>
              </a:rPr>
              <a:t>DOWNTOWN ARTS DISTRICT · TONGVA LAND</a:t>
            </a:r>
          </a:p>
        </p:txBody>
      </p:sp>
      <p:sp>
        <p:nvSpPr>
          <p:cNvPr id="13" name="TextBox 12"/>
          <p:cNvSpPr txBox="1"/>
          <p:nvPr/>
        </p:nvSpPr>
        <p:spPr>
          <a:xfrm>
            <a:off x="7895729" y="3244850"/>
            <a:ext cx="2279352" cy="95250"/>
          </a:xfrm>
          <a:prstGeom prst="rect">
            <a:avLst/>
          </a:prstGeom>
          <a:noFill/>
        </p:spPr>
        <p:txBody>
          <a:bodyPr wrap="square" lIns="0" rIns="0" tIns="0" bIns="0">
            <a:spAutoFit/>
          </a:bodyPr>
          <a:lstStyle/>
          <a:p>
            <a:r>
              <a:rPr sz="975" b="0" i="0">
                <a:solidFill>
                  <a:srgbClr val="111111"/>
                </a:solidFill>
                <a:latin typeface="Arial"/>
              </a:rPr>
              <a:t>You'll be on your feet, moving, for most of the evening.</a:t>
            </a:r>
          </a:p>
        </p:txBody>
      </p:sp>
      <p:sp>
        <p:nvSpPr>
          <p:cNvPr id="14" name="TextBox 13"/>
          <p:cNvSpPr txBox="1"/>
          <p:nvPr/>
        </p:nvSpPr>
        <p:spPr>
          <a:xfrm>
            <a:off x="762000" y="2851150"/>
            <a:ext cx="2352873" cy="88900"/>
          </a:xfrm>
          <a:prstGeom prst="rect">
            <a:avLst/>
          </a:prstGeom>
          <a:noFill/>
        </p:spPr>
        <p:txBody>
          <a:bodyPr wrap="square" lIns="0" rIns="0" tIns="0" bIns="0">
            <a:spAutoFit/>
          </a:bodyPr>
          <a:lstStyle/>
          <a:p>
            <a:r>
              <a:rPr sz="900" b="1" i="0">
                <a:solidFill>
                  <a:srgbClr val="C9242A"/>
                </a:solidFill>
                <a:latin typeface="Arial"/>
              </a:rPr>
              <a:t>539 S MISSION RD · OPENS JUNE 2027</a:t>
            </a:r>
          </a:p>
        </p:txBody>
      </p:sp>
      <p:sp>
        <p:nvSpPr>
          <p:cNvPr id="15" name="TextBox 14"/>
          <p:cNvSpPr txBox="1"/>
          <p:nvPr/>
        </p:nvSpPr>
        <p:spPr>
          <a:xfrm>
            <a:off x="762000" y="5793284"/>
            <a:ext cx="1256804" cy="158750"/>
          </a:xfrm>
          <a:prstGeom prst="rect">
            <a:avLst/>
          </a:prstGeom>
          <a:noFill/>
        </p:spPr>
        <p:txBody>
          <a:bodyPr wrap="square" lIns="0" rIns="0" tIns="0" bIns="0">
            <a:spAutoFit/>
          </a:bodyPr>
          <a:lstStyle/>
          <a:p>
            <a:r>
              <a:rPr sz="1650" b="1" i="0">
                <a:solidFill>
                  <a:srgbClr val="111111"/>
                </a:solidFill>
                <a:latin typeface="Impact"/>
              </a:rPr>
              <a:t>539 S MISSION RD</a:t>
            </a:r>
          </a:p>
        </p:txBody>
      </p:sp>
      <p:sp>
        <p:nvSpPr>
          <p:cNvPr id="16" name="TextBox 15"/>
          <p:cNvSpPr txBox="1"/>
          <p:nvPr/>
        </p:nvSpPr>
        <p:spPr>
          <a:xfrm>
            <a:off x="7895729" y="5282803"/>
            <a:ext cx="1619151" cy="114300"/>
          </a:xfrm>
          <a:prstGeom prst="rect">
            <a:avLst/>
          </a:prstGeom>
          <a:noFill/>
        </p:spPr>
        <p:txBody>
          <a:bodyPr wrap="square" lIns="0" rIns="0" tIns="0" bIns="0">
            <a:spAutoFit/>
          </a:bodyPr>
          <a:lstStyle/>
          <a:p>
            <a:r>
              <a:rPr sz="1125" b="1" i="0">
                <a:solidFill>
                  <a:srgbClr val="171717"/>
                </a:solidFill>
                <a:latin typeface="Arial"/>
              </a:rPr>
              <a:t>ADA seating &amp; mobility paths.</a:t>
            </a:r>
          </a:p>
        </p:txBody>
      </p:sp>
      <p:sp>
        <p:nvSpPr>
          <p:cNvPr id="17" name="TextBox 16"/>
          <p:cNvSpPr txBox="1"/>
          <p:nvPr/>
        </p:nvSpPr>
        <p:spPr>
          <a:xfrm>
            <a:off x="3798590" y="6283722"/>
            <a:ext cx="1139825" cy="158750"/>
          </a:xfrm>
          <a:prstGeom prst="rect">
            <a:avLst/>
          </a:prstGeom>
          <a:noFill/>
        </p:spPr>
        <p:txBody>
          <a:bodyPr wrap="square" lIns="0" rIns="0" tIns="0" bIns="0">
            <a:spAutoFit/>
          </a:bodyPr>
          <a:lstStyle/>
          <a:p>
            <a:r>
              <a:rPr sz="1650" b="1" i="0">
                <a:solidFill>
                  <a:srgbClr val="111111"/>
                </a:solidFill>
                <a:latin typeface="Impact"/>
              </a:rPr>
              <a:t>ALL AGES · ADA</a:t>
            </a:r>
          </a:p>
        </p:txBody>
      </p:sp>
      <p:sp>
        <p:nvSpPr>
          <p:cNvPr id="18" name="TextBox 17"/>
          <p:cNvSpPr txBox="1"/>
          <p:nvPr/>
        </p:nvSpPr>
        <p:spPr>
          <a:xfrm>
            <a:off x="7895729" y="5002212"/>
            <a:ext cx="1771154" cy="95250"/>
          </a:xfrm>
          <a:prstGeom prst="rect">
            <a:avLst/>
          </a:prstGeom>
          <a:noFill/>
        </p:spPr>
        <p:txBody>
          <a:bodyPr wrap="square" lIns="0" rIns="0" tIns="0" bIns="0">
            <a:spAutoFit/>
          </a:bodyPr>
          <a:lstStyle/>
          <a:p>
            <a:r>
              <a:rPr sz="975" b="0" i="0">
                <a:solidFill>
                  <a:srgbClr val="111111"/>
                </a:solidFill>
                <a:latin typeface="Arial"/>
              </a:rPr>
              <a:t>Write [email protected] for block bookings.</a:t>
            </a:r>
          </a:p>
        </p:txBody>
      </p:sp>
      <p:sp>
        <p:nvSpPr>
          <p:cNvPr id="19" name="TextBox 18"/>
          <p:cNvSpPr txBox="1"/>
          <p:nvPr/>
        </p:nvSpPr>
        <p:spPr>
          <a:xfrm>
            <a:off x="762000" y="6283722"/>
            <a:ext cx="966589" cy="158750"/>
          </a:xfrm>
          <a:prstGeom prst="rect">
            <a:avLst/>
          </a:prstGeom>
          <a:noFill/>
        </p:spPr>
        <p:txBody>
          <a:bodyPr wrap="square" lIns="0" rIns="0" tIns="0" bIns="0">
            <a:spAutoFit/>
          </a:bodyPr>
          <a:lstStyle/>
          <a:p>
            <a:r>
              <a:rPr sz="1650" b="1" i="0">
                <a:solidFill>
                  <a:srgbClr val="111111"/>
                </a:solidFill>
                <a:latin typeface="Impact"/>
              </a:rPr>
              <a:t>30 MIN EARLY</a:t>
            </a:r>
          </a:p>
        </p:txBody>
      </p:sp>
      <p:sp>
        <p:nvSpPr>
          <p:cNvPr id="20" name="TextBox 19"/>
          <p:cNvSpPr txBox="1"/>
          <p:nvPr/>
        </p:nvSpPr>
        <p:spPr>
          <a:xfrm>
            <a:off x="7895729" y="3086100"/>
            <a:ext cx="1224657" cy="114300"/>
          </a:xfrm>
          <a:prstGeom prst="rect">
            <a:avLst/>
          </a:prstGeom>
          <a:noFill/>
        </p:spPr>
        <p:txBody>
          <a:bodyPr wrap="square" lIns="0" rIns="0" tIns="0" bIns="0">
            <a:spAutoFit/>
          </a:bodyPr>
          <a:lstStyle/>
          <a:p>
            <a:r>
              <a:rPr sz="1125" b="1" i="0">
                <a:solidFill>
                  <a:srgbClr val="171717"/>
                </a:solidFill>
                <a:latin typeface="Arial"/>
              </a:rPr>
              <a:t>Shoes you can walk in.</a:t>
            </a:r>
          </a:p>
        </p:txBody>
      </p:sp>
      <p:sp>
        <p:nvSpPr>
          <p:cNvPr id="21" name="TextBox 20"/>
          <p:cNvSpPr txBox="1"/>
          <p:nvPr/>
        </p:nvSpPr>
        <p:spPr>
          <a:xfrm>
            <a:off x="7895729" y="4123531"/>
            <a:ext cx="1469231" cy="95250"/>
          </a:xfrm>
          <a:prstGeom prst="rect">
            <a:avLst/>
          </a:prstGeom>
          <a:noFill/>
        </p:spPr>
        <p:txBody>
          <a:bodyPr wrap="square" lIns="0" rIns="0" tIns="0" bIns="0">
            <a:spAutoFit/>
          </a:bodyPr>
          <a:lstStyle/>
          <a:p>
            <a:r>
              <a:rPr sz="975" b="0" i="0">
                <a:solidFill>
                  <a:srgbClr val="111111"/>
                </a:solidFill>
                <a:latin typeface="Arial"/>
              </a:rPr>
              <a:t>Photos welcome between acts only.</a:t>
            </a:r>
          </a:p>
        </p:txBody>
      </p:sp>
      <p:sp>
        <p:nvSpPr>
          <p:cNvPr id="22" name="TextBox 21"/>
          <p:cNvSpPr txBox="1"/>
          <p:nvPr/>
        </p:nvSpPr>
        <p:spPr>
          <a:xfrm>
            <a:off x="7895729" y="3964781"/>
            <a:ext cx="1131788" cy="114300"/>
          </a:xfrm>
          <a:prstGeom prst="rect">
            <a:avLst/>
          </a:prstGeom>
          <a:noFill/>
        </p:spPr>
        <p:txBody>
          <a:bodyPr wrap="square" lIns="0" rIns="0" tIns="0" bIns="0">
            <a:spAutoFit/>
          </a:bodyPr>
          <a:lstStyle/>
          <a:p>
            <a:r>
              <a:rPr sz="1125" b="1" i="0">
                <a:solidFill>
                  <a:srgbClr val="171717"/>
                </a:solidFill>
                <a:latin typeface="Arial"/>
              </a:rPr>
              <a:t>On silent, lens down.</a:t>
            </a:r>
          </a:p>
        </p:txBody>
      </p:sp>
      <p:sp>
        <p:nvSpPr>
          <p:cNvPr id="23" name="TextBox 22"/>
          <p:cNvSpPr txBox="1"/>
          <p:nvPr/>
        </p:nvSpPr>
        <p:spPr>
          <a:xfrm>
            <a:off x="762000" y="6463407"/>
            <a:ext cx="1280616" cy="95250"/>
          </a:xfrm>
          <a:prstGeom prst="rect">
            <a:avLst/>
          </a:prstGeom>
          <a:noFill/>
        </p:spPr>
        <p:txBody>
          <a:bodyPr wrap="square" lIns="0" rIns="0" tIns="0" bIns="0">
            <a:spAutoFit/>
          </a:bodyPr>
          <a:lstStyle/>
          <a:p>
            <a:r>
              <a:rPr sz="975" b="0" i="0">
                <a:solidFill>
                  <a:srgbClr val="111111"/>
                </a:solidFill>
                <a:latin typeface="Arial"/>
              </a:rPr>
              <a:t>Latecomers held for next tour</a:t>
            </a:r>
          </a:p>
        </p:txBody>
      </p:sp>
      <p:sp>
        <p:nvSpPr>
          <p:cNvPr id="24" name="TextBox 23"/>
          <p:cNvSpPr txBox="1"/>
          <p:nvPr/>
        </p:nvSpPr>
        <p:spPr>
          <a:xfrm>
            <a:off x="10375305" y="6489700"/>
            <a:ext cx="1308695" cy="88900"/>
          </a:xfrm>
          <a:prstGeom prst="rect">
            <a:avLst/>
          </a:prstGeom>
          <a:noFill/>
        </p:spPr>
        <p:txBody>
          <a:bodyPr wrap="square" lIns="0" rIns="0" tIns="0" bIns="0">
            <a:spAutoFit/>
          </a:bodyPr>
          <a:lstStyle/>
          <a:p>
            <a:r>
              <a:rPr sz="900" b="0" i="0">
                <a:solidFill>
                  <a:srgbClr val="111111"/>
                </a:solidFill>
                <a:latin typeface="Arial"/>
              </a:rPr>
              <a:t>13 THE 2027 SHOW</a:t>
            </a:r>
          </a:p>
        </p:txBody>
      </p:sp>
      <p:sp>
        <p:nvSpPr>
          <p:cNvPr id="25" name="TextBox 24"/>
          <p:cNvSpPr txBox="1"/>
          <p:nvPr/>
        </p:nvSpPr>
        <p:spPr>
          <a:xfrm>
            <a:off x="7895729" y="4404122"/>
            <a:ext cx="990501" cy="114300"/>
          </a:xfrm>
          <a:prstGeom prst="rect">
            <a:avLst/>
          </a:prstGeom>
          <a:noFill/>
        </p:spPr>
        <p:txBody>
          <a:bodyPr wrap="square" lIns="0" rIns="0" tIns="0" bIns="0">
            <a:spAutoFit/>
          </a:bodyPr>
          <a:lstStyle/>
          <a:p>
            <a:r>
              <a:rPr sz="1125" b="1" i="0">
                <a:solidFill>
                  <a:srgbClr val="171717"/>
                </a:solidFill>
                <a:latin typeface="Arial"/>
              </a:rPr>
              <a:t>Lobby bar &amp; bites.</a:t>
            </a:r>
          </a:p>
        </p:txBody>
      </p:sp>
      <p:sp>
        <p:nvSpPr>
          <p:cNvPr id="26" name="TextBox 25"/>
          <p:cNvSpPr txBox="1"/>
          <p:nvPr/>
        </p:nvSpPr>
        <p:spPr>
          <a:xfrm>
            <a:off x="3798590" y="5972969"/>
            <a:ext cx="1176536" cy="95250"/>
          </a:xfrm>
          <a:prstGeom prst="rect">
            <a:avLst/>
          </a:prstGeom>
          <a:noFill/>
        </p:spPr>
        <p:txBody>
          <a:bodyPr wrap="square" lIns="0" rIns="0" tIns="0" bIns="0">
            <a:spAutoFit/>
          </a:bodyPr>
          <a:lstStyle/>
          <a:p>
            <a:r>
              <a:rPr sz="975" b="0" i="0">
                <a:solidFill>
                  <a:srgbClr val="111111"/>
                </a:solidFill>
                <a:latin typeface="Arial"/>
              </a:rPr>
              <a:t>Then shuttle or 15-min ride</a:t>
            </a:r>
          </a:p>
        </p:txBody>
      </p:sp>
      <p:sp>
        <p:nvSpPr>
          <p:cNvPr id="27" name="TextBox 26"/>
          <p:cNvSpPr txBox="1"/>
          <p:nvPr/>
        </p:nvSpPr>
        <p:spPr>
          <a:xfrm>
            <a:off x="7146429" y="2857500"/>
            <a:ext cx="1222375" cy="88900"/>
          </a:xfrm>
          <a:prstGeom prst="rect">
            <a:avLst/>
          </a:prstGeom>
          <a:noFill/>
        </p:spPr>
        <p:txBody>
          <a:bodyPr wrap="square" lIns="0" rIns="0" tIns="0" bIns="0">
            <a:spAutoFit/>
          </a:bodyPr>
          <a:lstStyle/>
          <a:p>
            <a:r>
              <a:rPr sz="900" b="1" i="0">
                <a:solidFill>
                  <a:srgbClr val="111111"/>
                </a:solidFill>
                <a:latin typeface="Arial"/>
              </a:rPr>
              <a:t>BEFORE YOU ARRIVE</a:t>
            </a:r>
          </a:p>
        </p:txBody>
      </p:sp>
      <p:sp>
        <p:nvSpPr>
          <p:cNvPr id="28" name="TextBox 27"/>
          <p:cNvSpPr txBox="1"/>
          <p:nvPr/>
        </p:nvSpPr>
        <p:spPr>
          <a:xfrm>
            <a:off x="7895729" y="4843462"/>
            <a:ext cx="695027" cy="114300"/>
          </a:xfrm>
          <a:prstGeom prst="rect">
            <a:avLst/>
          </a:prstGeom>
          <a:noFill/>
        </p:spPr>
        <p:txBody>
          <a:bodyPr wrap="square" lIns="0" rIns="0" tIns="0" bIns="0">
            <a:spAutoFit/>
          </a:bodyPr>
          <a:lstStyle/>
          <a:p>
            <a:r>
              <a:rPr sz="1125" b="1" i="0">
                <a:solidFill>
                  <a:srgbClr val="171717"/>
                </a:solidFill>
                <a:latin typeface="Arial"/>
              </a:rPr>
              <a:t>Ten or more?</a:t>
            </a:r>
          </a:p>
        </p:txBody>
      </p:sp>
      <p:sp>
        <p:nvSpPr>
          <p:cNvPr id="29" name="TextBox 28"/>
          <p:cNvSpPr txBox="1"/>
          <p:nvPr/>
        </p:nvSpPr>
        <p:spPr>
          <a:xfrm>
            <a:off x="3798590" y="6463407"/>
            <a:ext cx="823615" cy="95250"/>
          </a:xfrm>
          <a:prstGeom prst="rect">
            <a:avLst/>
          </a:prstGeom>
          <a:noFill/>
        </p:spPr>
        <p:txBody>
          <a:bodyPr wrap="square" lIns="0" rIns="0" tIns="0" bIns="0">
            <a:spAutoFit/>
          </a:bodyPr>
          <a:lstStyle/>
          <a:p>
            <a:r>
              <a:rPr sz="975" b="0" i="0">
                <a:solidFill>
                  <a:srgbClr val="111111"/>
                </a:solidFill>
                <a:latin typeface="Arial"/>
              </a:rPr>
              <a:t>13+ recommended</a:t>
            </a:r>
          </a:p>
        </p:txBody>
      </p:sp>
      <p:sp>
        <p:nvSpPr>
          <p:cNvPr id="30" name="TextBox 29"/>
          <p:cNvSpPr txBox="1"/>
          <p:nvPr/>
        </p:nvSpPr>
        <p:spPr>
          <a:xfrm>
            <a:off x="7895729" y="3525441"/>
            <a:ext cx="677168" cy="114300"/>
          </a:xfrm>
          <a:prstGeom prst="rect">
            <a:avLst/>
          </a:prstGeom>
          <a:noFill/>
        </p:spPr>
        <p:txBody>
          <a:bodyPr wrap="square" lIns="0" rIns="0" tIns="0" bIns="0">
            <a:spAutoFit/>
          </a:bodyPr>
          <a:lstStyle/>
          <a:p>
            <a:r>
              <a:rPr sz="1125" b="1" i="0">
                <a:solidFill>
                  <a:srgbClr val="171717"/>
                </a:solidFill>
                <a:latin typeface="Arial"/>
              </a:rPr>
              <a:t>A light layer.</a:t>
            </a:r>
          </a:p>
        </p:txBody>
      </p:sp>
      <p:sp>
        <p:nvSpPr>
          <p:cNvPr id="31" name="TextBox 30"/>
          <p:cNvSpPr txBox="1"/>
          <p:nvPr/>
        </p:nvSpPr>
        <p:spPr>
          <a:xfrm>
            <a:off x="7146429" y="4830762"/>
            <a:ext cx="522883" cy="127000"/>
          </a:xfrm>
          <a:prstGeom prst="rect">
            <a:avLst/>
          </a:prstGeom>
          <a:noFill/>
        </p:spPr>
        <p:txBody>
          <a:bodyPr wrap="square" lIns="0" rIns="0" tIns="0" bIns="0">
            <a:spAutoFit/>
          </a:bodyPr>
          <a:lstStyle/>
          <a:p>
            <a:r>
              <a:rPr sz="1350" b="1" i="0">
                <a:solidFill>
                  <a:srgbClr val="C9242A"/>
                </a:solidFill>
                <a:latin typeface="Impact"/>
              </a:rPr>
              <a:t>GROUPS</a:t>
            </a:r>
          </a:p>
        </p:txBody>
      </p:sp>
      <p:sp>
        <p:nvSpPr>
          <p:cNvPr id="32" name="TextBox 31"/>
          <p:cNvSpPr txBox="1"/>
          <p:nvPr/>
        </p:nvSpPr>
        <p:spPr>
          <a:xfrm>
            <a:off x="762000" y="5972969"/>
            <a:ext cx="684411" cy="95250"/>
          </a:xfrm>
          <a:prstGeom prst="rect">
            <a:avLst/>
          </a:prstGeom>
          <a:noFill/>
        </p:spPr>
        <p:txBody>
          <a:bodyPr wrap="square" lIns="0" rIns="0" tIns="0" bIns="0">
            <a:spAutoFit/>
          </a:bodyPr>
          <a:lstStyle/>
          <a:p>
            <a:r>
              <a:rPr sz="975" b="0" i="0">
                <a:solidFill>
                  <a:srgbClr val="111111"/>
                </a:solidFill>
                <a:latin typeface="Arial"/>
              </a:rPr>
              <a:t>Los Angeles, CA</a:t>
            </a:r>
          </a:p>
        </p:txBody>
      </p:sp>
      <p:sp>
        <p:nvSpPr>
          <p:cNvPr id="33" name="TextBox 32"/>
          <p:cNvSpPr txBox="1"/>
          <p:nvPr/>
        </p:nvSpPr>
        <p:spPr>
          <a:xfrm>
            <a:off x="7146429" y="3952081"/>
            <a:ext cx="510183" cy="127000"/>
          </a:xfrm>
          <a:prstGeom prst="rect">
            <a:avLst/>
          </a:prstGeom>
          <a:noFill/>
        </p:spPr>
        <p:txBody>
          <a:bodyPr wrap="square" lIns="0" rIns="0" tIns="0" bIns="0">
            <a:spAutoFit/>
          </a:bodyPr>
          <a:lstStyle/>
          <a:p>
            <a:r>
              <a:rPr sz="1350" b="1" i="0">
                <a:solidFill>
                  <a:srgbClr val="C9242A"/>
                </a:solidFill>
                <a:latin typeface="Impact"/>
              </a:rPr>
              <a:t>PHONES</a:t>
            </a:r>
          </a:p>
        </p:txBody>
      </p:sp>
      <p:sp>
        <p:nvSpPr>
          <p:cNvPr id="34" name="TextBox 33"/>
          <p:cNvSpPr txBox="1"/>
          <p:nvPr/>
        </p:nvSpPr>
        <p:spPr>
          <a:xfrm>
            <a:off x="7146429" y="5270103"/>
            <a:ext cx="503833" cy="127000"/>
          </a:xfrm>
          <a:prstGeom prst="rect">
            <a:avLst/>
          </a:prstGeom>
          <a:noFill/>
        </p:spPr>
        <p:txBody>
          <a:bodyPr wrap="square" lIns="0" rIns="0" tIns="0" bIns="0">
            <a:spAutoFit/>
          </a:bodyPr>
          <a:lstStyle/>
          <a:p>
            <a:r>
              <a:rPr sz="1350" b="1" i="0">
                <a:solidFill>
                  <a:srgbClr val="C9242A"/>
                </a:solidFill>
                <a:latin typeface="Impact"/>
              </a:rPr>
              <a:t>ACCESS</a:t>
            </a:r>
          </a:p>
        </p:txBody>
      </p:sp>
      <p:sp>
        <p:nvSpPr>
          <p:cNvPr id="35" name="TextBox 34"/>
          <p:cNvSpPr txBox="1"/>
          <p:nvPr/>
        </p:nvSpPr>
        <p:spPr>
          <a:xfrm>
            <a:off x="7146429" y="3512741"/>
            <a:ext cx="391220" cy="127000"/>
          </a:xfrm>
          <a:prstGeom prst="rect">
            <a:avLst/>
          </a:prstGeom>
          <a:noFill/>
        </p:spPr>
        <p:txBody>
          <a:bodyPr wrap="square" lIns="0" rIns="0" tIns="0" bIns="0">
            <a:spAutoFit/>
          </a:bodyPr>
          <a:lstStyle/>
          <a:p>
            <a:r>
              <a:rPr sz="1350" b="1" i="0">
                <a:solidFill>
                  <a:srgbClr val="C9242A"/>
                </a:solidFill>
                <a:latin typeface="Impact"/>
              </a:rPr>
              <a:t>BRING</a:t>
            </a:r>
          </a:p>
        </p:txBody>
      </p:sp>
      <p:sp>
        <p:nvSpPr>
          <p:cNvPr id="36" name="TextBox 35"/>
          <p:cNvSpPr txBox="1"/>
          <p:nvPr/>
        </p:nvSpPr>
        <p:spPr>
          <a:xfrm>
            <a:off x="7146429" y="3073400"/>
            <a:ext cx="367506" cy="127000"/>
          </a:xfrm>
          <a:prstGeom prst="rect">
            <a:avLst/>
          </a:prstGeom>
          <a:noFill/>
        </p:spPr>
        <p:txBody>
          <a:bodyPr wrap="square" lIns="0" rIns="0" tIns="0" bIns="0">
            <a:spAutoFit/>
          </a:bodyPr>
          <a:lstStyle/>
          <a:p>
            <a:r>
              <a:rPr sz="1350" b="1" i="0">
                <a:solidFill>
                  <a:srgbClr val="C9242A"/>
                </a:solidFill>
                <a:latin typeface="Impact"/>
              </a:rPr>
              <a:t>WEAR</a:t>
            </a:r>
          </a:p>
        </p:txBody>
      </p:sp>
      <p:sp>
        <p:nvSpPr>
          <p:cNvPr id="37" name="TextBox 36"/>
          <p:cNvSpPr txBox="1"/>
          <p:nvPr/>
        </p:nvSpPr>
        <p:spPr>
          <a:xfrm>
            <a:off x="7146429" y="4391422"/>
            <a:ext cx="348555" cy="127000"/>
          </a:xfrm>
          <a:prstGeom prst="rect">
            <a:avLst/>
          </a:prstGeom>
          <a:noFill/>
        </p:spPr>
        <p:txBody>
          <a:bodyPr wrap="square" lIns="0" rIns="0" tIns="0" bIns="0">
            <a:spAutoFit/>
          </a:bodyPr>
          <a:lstStyle/>
          <a:p>
            <a:r>
              <a:rPr sz="1350" b="1" i="0">
                <a:solidFill>
                  <a:srgbClr val="C9242A"/>
                </a:solidFill>
                <a:latin typeface="Impact"/>
              </a:rPr>
              <a:t>FOOD</a:t>
            </a:r>
          </a:p>
        </p:txBody>
      </p:sp>
      <p:sp>
        <p:nvSpPr>
          <p:cNvPr id="38" name="TextBox 37"/>
          <p:cNvSpPr txBox="1"/>
          <p:nvPr/>
        </p:nvSpPr>
        <p:spPr>
          <a:xfrm>
            <a:off x="762000" y="5685334"/>
            <a:ext cx="476647" cy="82550"/>
          </a:xfrm>
          <a:prstGeom prst="rect">
            <a:avLst/>
          </a:prstGeom>
          <a:noFill/>
        </p:spPr>
        <p:txBody>
          <a:bodyPr wrap="square" lIns="0" rIns="0" tIns="0" bIns="0">
            <a:spAutoFit/>
          </a:bodyPr>
          <a:lstStyle/>
          <a:p>
            <a:r>
              <a:rPr sz="825" b="1" i="0">
                <a:solidFill>
                  <a:srgbClr val="111111"/>
                </a:solidFill>
                <a:latin typeface="Arial"/>
              </a:rPr>
              <a:t>ADDRESS</a:t>
            </a:r>
          </a:p>
        </p:txBody>
      </p:sp>
      <p:sp>
        <p:nvSpPr>
          <p:cNvPr id="39" name="TextBox 38"/>
          <p:cNvSpPr txBox="1"/>
          <p:nvPr/>
        </p:nvSpPr>
        <p:spPr>
          <a:xfrm>
            <a:off x="762000" y="6175772"/>
            <a:ext cx="443111" cy="82550"/>
          </a:xfrm>
          <a:prstGeom prst="rect">
            <a:avLst/>
          </a:prstGeom>
          <a:noFill/>
        </p:spPr>
        <p:txBody>
          <a:bodyPr wrap="square" lIns="0" rIns="0" tIns="0" bIns="0">
            <a:spAutoFit/>
          </a:bodyPr>
          <a:lstStyle/>
          <a:p>
            <a:r>
              <a:rPr sz="825" b="1" i="0">
                <a:solidFill>
                  <a:srgbClr val="111111"/>
                </a:solidFill>
                <a:latin typeface="Arial"/>
              </a:rPr>
              <a:t>ARRIVAL</a:t>
            </a:r>
          </a:p>
        </p:txBody>
      </p:sp>
      <p:sp>
        <p:nvSpPr>
          <p:cNvPr id="40" name="TextBox 39"/>
          <p:cNvSpPr txBox="1"/>
          <p:nvPr/>
        </p:nvSpPr>
        <p:spPr>
          <a:xfrm>
            <a:off x="3798590" y="6175772"/>
            <a:ext cx="393998" cy="82550"/>
          </a:xfrm>
          <a:prstGeom prst="rect">
            <a:avLst/>
          </a:prstGeom>
          <a:noFill/>
        </p:spPr>
        <p:txBody>
          <a:bodyPr wrap="square" lIns="0" rIns="0" tIns="0" bIns="0">
            <a:spAutoFit/>
          </a:bodyPr>
          <a:lstStyle/>
          <a:p>
            <a:r>
              <a:rPr sz="825" b="1" i="0">
                <a:solidFill>
                  <a:srgbClr val="111111"/>
                </a:solidFill>
                <a:latin typeface="Arial"/>
              </a:rPr>
              <a:t>ACCESS</a:t>
            </a:r>
          </a:p>
        </p:txBody>
      </p:sp>
      <p:sp>
        <p:nvSpPr>
          <p:cNvPr id="41" name="TextBox 40"/>
          <p:cNvSpPr txBox="1"/>
          <p:nvPr/>
        </p:nvSpPr>
        <p:spPr>
          <a:xfrm>
            <a:off x="3798590" y="5685334"/>
            <a:ext cx="354905" cy="82550"/>
          </a:xfrm>
          <a:prstGeom prst="rect">
            <a:avLst/>
          </a:prstGeom>
          <a:noFill/>
        </p:spPr>
        <p:txBody>
          <a:bodyPr wrap="square" lIns="0" rIns="0" tIns="0" bIns="0">
            <a:spAutoFit/>
          </a:bodyPr>
          <a:lstStyle/>
          <a:p>
            <a:r>
              <a:rPr sz="825" b="1" i="0">
                <a:solidFill>
                  <a:srgbClr val="111111"/>
                </a:solidFill>
                <a:latin typeface="Arial"/>
              </a:rPr>
              <a:t>METRO</a:t>
            </a:r>
          </a:p>
        </p:txBody>
      </p:sp>
      <p:sp>
        <p:nvSpPr>
          <p:cNvPr id="42" name="Rectangle 41"/>
          <p:cNvSpPr/>
          <p:nvPr/>
        </p:nvSpPr>
        <p:spPr>
          <a:xfrm>
            <a:off x="10624046" y="6511925"/>
            <a:ext cx="38100" cy="38100"/>
          </a:xfrm>
          <a:prstGeom prst="rect">
            <a:avLst/>
          </a:prstGeom>
          <a:solidFill>
            <a:srgbClr val="C924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EFE6"/>
        </a:solidFill>
        <a:effectLst/>
      </p:bgPr>
    </p:bg>
    <p:spTree>
      <p:nvGrpSpPr>
        <p:cNvPr id="1" name=""/>
        <p:cNvGrpSpPr/>
        <p:nvPr/>
      </p:nvGrpSpPr>
      <p:grpSpPr/>
      <p:sp>
        <p:nvSpPr>
          <p:cNvPr id="2" name="TextBox 1"/>
          <p:cNvSpPr txBox="1"/>
          <p:nvPr/>
        </p:nvSpPr>
        <p:spPr>
          <a:xfrm>
            <a:off x="762000" y="768350"/>
            <a:ext cx="5565080" cy="1543050"/>
          </a:xfrm>
          <a:prstGeom prst="rect">
            <a:avLst/>
          </a:prstGeom>
          <a:noFill/>
        </p:spPr>
        <p:txBody>
          <a:bodyPr wrap="square" lIns="0" rIns="0" tIns="0" bIns="0">
            <a:spAutoFit/>
          </a:bodyPr>
          <a:lstStyle/>
          <a:p>
            <a:r>
              <a:rPr sz="9000" b="1" i="0">
                <a:solidFill>
                  <a:srgbClr val="111111"/>
                </a:solidFill>
                <a:latin typeface="Impact"/>
              </a:rPr>
              <a:t>THE EVENING, MINUTE-BY-MINUTE.</a:t>
            </a:r>
          </a:p>
        </p:txBody>
      </p:sp>
      <p:sp>
        <p:nvSpPr>
          <p:cNvPr id="3" name="TextBox 2"/>
          <p:cNvSpPr txBox="1"/>
          <p:nvPr/>
        </p:nvSpPr>
        <p:spPr>
          <a:xfrm>
            <a:off x="9974759" y="1768475"/>
            <a:ext cx="1455241" cy="438150"/>
          </a:xfrm>
          <a:prstGeom prst="rect">
            <a:avLst/>
          </a:prstGeom>
          <a:noFill/>
        </p:spPr>
        <p:txBody>
          <a:bodyPr wrap="square" lIns="0" rIns="0" tIns="0" bIns="0">
            <a:spAutoFit/>
          </a:bodyPr>
          <a:lstStyle/>
          <a:p>
            <a:pPr algn="r"/>
            <a:r>
              <a:rPr sz="1125" b="0" i="1">
                <a:solidFill>
                  <a:srgbClr val="111111"/>
                </a:solidFill>
                <a:latin typeface="Arial"/>
              </a:rPr>
              <a:t>SEVEN STATIONS. ONE CONTINUOUS MOVEMENT FORWARD.</a:t>
            </a:r>
          </a:p>
        </p:txBody>
      </p:sp>
      <p:sp>
        <p:nvSpPr>
          <p:cNvPr id="4" name="TextBox 3"/>
          <p:cNvSpPr txBox="1"/>
          <p:nvPr/>
        </p:nvSpPr>
        <p:spPr>
          <a:xfrm>
            <a:off x="762000" y="571500"/>
            <a:ext cx="3194348" cy="158750"/>
          </a:xfrm>
          <a:prstGeom prst="rect">
            <a:avLst/>
          </a:prstGeom>
          <a:noFill/>
        </p:spPr>
        <p:txBody>
          <a:bodyPr wrap="square" lIns="0" rIns="0" tIns="0" bIns="0">
            <a:spAutoFit/>
          </a:bodyPr>
          <a:lstStyle/>
          <a:p>
            <a:r>
              <a:rPr sz="1650" b="1" i="0">
                <a:solidFill>
                  <a:srgbClr val="C9242A"/>
                </a:solidFill>
                <a:latin typeface="Impact"/>
              </a:rPr>
              <a:t>YOUR 110 MINUTES · A RUNDOWN</a:t>
            </a:r>
          </a:p>
        </p:txBody>
      </p:sp>
      <p:sp>
        <p:nvSpPr>
          <p:cNvPr id="5" name="TextBox 4"/>
          <p:cNvSpPr txBox="1"/>
          <p:nvPr/>
        </p:nvSpPr>
        <p:spPr>
          <a:xfrm>
            <a:off x="6921500" y="3792141"/>
            <a:ext cx="3068241" cy="139700"/>
          </a:xfrm>
          <a:prstGeom prst="rect">
            <a:avLst/>
          </a:prstGeom>
          <a:noFill/>
        </p:spPr>
        <p:txBody>
          <a:bodyPr wrap="square" lIns="0" rIns="0" tIns="0" bIns="0">
            <a:spAutoFit/>
          </a:bodyPr>
          <a:lstStyle/>
          <a:p>
            <a:r>
              <a:rPr sz="1500" b="1" i="0">
                <a:solidFill>
                  <a:srgbClr val="111111"/>
                </a:solidFill>
                <a:latin typeface="Impact"/>
              </a:rPr>
              <a:t>FINALE · TOPANGA · THE LAND REMEMBERS US</a:t>
            </a:r>
          </a:p>
        </p:txBody>
      </p:sp>
      <p:sp>
        <p:nvSpPr>
          <p:cNvPr id="6" name="TextBox 5"/>
          <p:cNvSpPr txBox="1"/>
          <p:nvPr/>
        </p:nvSpPr>
        <p:spPr>
          <a:xfrm>
            <a:off x="6921500" y="2882900"/>
            <a:ext cx="2517279" cy="139700"/>
          </a:xfrm>
          <a:prstGeom prst="rect">
            <a:avLst/>
          </a:prstGeom>
          <a:noFill/>
        </p:spPr>
        <p:txBody>
          <a:bodyPr wrap="square" lIns="0" rIns="0" tIns="0" bIns="0">
            <a:spAutoFit/>
          </a:bodyPr>
          <a:lstStyle/>
          <a:p>
            <a:r>
              <a:rPr sz="1500" b="1" i="0">
                <a:solidFill>
                  <a:srgbClr val="111111"/>
                </a:solidFill>
                <a:latin typeface="Impact"/>
              </a:rPr>
              <a:t>ACT IV · SOUTH CENTRAL · THE BLOOD</a:t>
            </a:r>
          </a:p>
        </p:txBody>
      </p:sp>
      <p:sp>
        <p:nvSpPr>
          <p:cNvPr id="7" name="TextBox 6"/>
          <p:cNvSpPr txBox="1"/>
          <p:nvPr/>
        </p:nvSpPr>
        <p:spPr>
          <a:xfrm>
            <a:off x="1397000" y="3792141"/>
            <a:ext cx="2278559" cy="139700"/>
          </a:xfrm>
          <a:prstGeom prst="rect">
            <a:avLst/>
          </a:prstGeom>
          <a:noFill/>
        </p:spPr>
        <p:txBody>
          <a:bodyPr wrap="square" lIns="0" rIns="0" tIns="0" bIns="0">
            <a:spAutoFit/>
          </a:bodyPr>
          <a:lstStyle/>
          <a:p>
            <a:r>
              <a:rPr sz="1500" b="1" i="0">
                <a:solidFill>
                  <a:srgbClr val="111111"/>
                </a:solidFill>
                <a:latin typeface="Impact"/>
              </a:rPr>
              <a:t>ACT II · BOYLE HEIGHTS · TIANGUIS</a:t>
            </a:r>
          </a:p>
        </p:txBody>
      </p:sp>
      <p:sp>
        <p:nvSpPr>
          <p:cNvPr id="8" name="TextBox 7"/>
          <p:cNvSpPr txBox="1"/>
          <p:nvPr/>
        </p:nvSpPr>
        <p:spPr>
          <a:xfrm>
            <a:off x="6921500" y="4879181"/>
            <a:ext cx="2864048" cy="101600"/>
          </a:xfrm>
          <a:prstGeom prst="rect">
            <a:avLst/>
          </a:prstGeom>
          <a:noFill/>
        </p:spPr>
        <p:txBody>
          <a:bodyPr wrap="square" lIns="0" rIns="0" tIns="0" bIns="0">
            <a:spAutoFit/>
          </a:bodyPr>
          <a:lstStyle/>
          <a:p>
            <a:r>
              <a:rPr sz="1050" b="0" i="0">
                <a:solidFill>
                  <a:srgbClr val="111111"/>
                </a:solidFill>
                <a:latin typeface="Arial"/>
              </a:rPr>
              <a:t>Cast recordings available in the lobby. Signings on select nights.</a:t>
            </a:r>
          </a:p>
        </p:txBody>
      </p:sp>
      <p:sp>
        <p:nvSpPr>
          <p:cNvPr id="9" name="TextBox 8"/>
          <p:cNvSpPr txBox="1"/>
          <p:nvPr/>
        </p:nvSpPr>
        <p:spPr>
          <a:xfrm>
            <a:off x="1397000" y="3337520"/>
            <a:ext cx="2067520" cy="139700"/>
          </a:xfrm>
          <a:prstGeom prst="rect">
            <a:avLst/>
          </a:prstGeom>
          <a:noFill/>
        </p:spPr>
        <p:txBody>
          <a:bodyPr wrap="square" lIns="0" rIns="0" tIns="0" bIns="0">
            <a:spAutoFit/>
          </a:bodyPr>
          <a:lstStyle/>
          <a:p>
            <a:r>
              <a:rPr sz="1500" b="1" i="0">
                <a:solidFill>
                  <a:srgbClr val="111111"/>
                </a:solidFill>
                <a:latin typeface="Impact"/>
              </a:rPr>
              <a:t>ACT I · HOLLYWOOD · THE TOUR</a:t>
            </a:r>
          </a:p>
        </p:txBody>
      </p:sp>
      <p:sp>
        <p:nvSpPr>
          <p:cNvPr id="10" name="TextBox 9"/>
          <p:cNvSpPr txBox="1"/>
          <p:nvPr/>
        </p:nvSpPr>
        <p:spPr>
          <a:xfrm>
            <a:off x="508000" y="6489700"/>
            <a:ext cx="3216275" cy="88900"/>
          </a:xfrm>
          <a:prstGeom prst="rect">
            <a:avLst/>
          </a:prstGeom>
          <a:noFill/>
        </p:spPr>
        <p:txBody>
          <a:bodyPr wrap="square" lIns="0" rIns="0" tIns="0" bIns="0">
            <a:spAutoFit/>
          </a:bodyPr>
          <a:lstStyle/>
          <a:p>
            <a:r>
              <a:rPr sz="900" b="0" i="0">
                <a:solidFill>
                  <a:srgbClr val="111111"/>
                </a:solidFill>
                <a:latin typeface="Arial"/>
              </a:rPr>
              <a:t>~110 MINUTES · ONE CONTINUOUS MOVEMENT FORWARD</a:t>
            </a:r>
          </a:p>
        </p:txBody>
      </p:sp>
      <p:sp>
        <p:nvSpPr>
          <p:cNvPr id="11" name="TextBox 10"/>
          <p:cNvSpPr txBox="1"/>
          <p:nvPr/>
        </p:nvSpPr>
        <p:spPr>
          <a:xfrm>
            <a:off x="6921500" y="3337520"/>
            <a:ext cx="1909762" cy="139700"/>
          </a:xfrm>
          <a:prstGeom prst="rect">
            <a:avLst/>
          </a:prstGeom>
          <a:noFill/>
        </p:spPr>
        <p:txBody>
          <a:bodyPr wrap="square" lIns="0" rIns="0" tIns="0" bIns="0">
            <a:spAutoFit/>
          </a:bodyPr>
          <a:lstStyle/>
          <a:p>
            <a:r>
              <a:rPr sz="1500" b="1" i="0">
                <a:solidFill>
                  <a:srgbClr val="111111"/>
                </a:solidFill>
                <a:latin typeface="Impact"/>
              </a:rPr>
              <a:t>ACT V · THE CANYONS · FOLK</a:t>
            </a:r>
          </a:p>
        </p:txBody>
      </p:sp>
      <p:sp>
        <p:nvSpPr>
          <p:cNvPr id="12" name="TextBox 11"/>
          <p:cNvSpPr txBox="1"/>
          <p:nvPr/>
        </p:nvSpPr>
        <p:spPr>
          <a:xfrm>
            <a:off x="6921500" y="4701381"/>
            <a:ext cx="1866205" cy="139700"/>
          </a:xfrm>
          <a:prstGeom prst="rect">
            <a:avLst/>
          </a:prstGeom>
          <a:noFill/>
        </p:spPr>
        <p:txBody>
          <a:bodyPr wrap="square" lIns="0" rIns="0" tIns="0" bIns="0">
            <a:spAutoFit/>
          </a:bodyPr>
          <a:lstStyle/>
          <a:p>
            <a:r>
              <a:rPr sz="1500" b="1" i="0">
                <a:solidFill>
                  <a:srgbClr val="111111"/>
                </a:solidFill>
                <a:latin typeface="Impact"/>
              </a:rPr>
              <a:t>AFTER · GIFT SHOP &amp; ALBUM</a:t>
            </a:r>
          </a:p>
        </p:txBody>
      </p:sp>
      <p:sp>
        <p:nvSpPr>
          <p:cNvPr id="13" name="TextBox 12"/>
          <p:cNvSpPr txBox="1"/>
          <p:nvPr/>
        </p:nvSpPr>
        <p:spPr>
          <a:xfrm>
            <a:off x="1397000" y="2882900"/>
            <a:ext cx="1841599" cy="139700"/>
          </a:xfrm>
          <a:prstGeom prst="rect">
            <a:avLst/>
          </a:prstGeom>
          <a:noFill/>
        </p:spPr>
        <p:txBody>
          <a:bodyPr wrap="square" lIns="0" rIns="0" tIns="0" bIns="0">
            <a:spAutoFit/>
          </a:bodyPr>
          <a:lstStyle/>
          <a:p>
            <a:r>
              <a:rPr sz="1500" b="1" i="0">
                <a:solidFill>
                  <a:srgbClr val="111111"/>
                </a:solidFill>
                <a:latin typeface="Impact"/>
              </a:rPr>
              <a:t>LOBBY OPENS · BOX OFFICE</a:t>
            </a:r>
          </a:p>
        </p:txBody>
      </p:sp>
      <p:sp>
        <p:nvSpPr>
          <p:cNvPr id="14" name="TextBox 13"/>
          <p:cNvSpPr txBox="1"/>
          <p:nvPr/>
        </p:nvSpPr>
        <p:spPr>
          <a:xfrm>
            <a:off x="1397000" y="4701381"/>
            <a:ext cx="1809948" cy="139700"/>
          </a:xfrm>
          <a:prstGeom prst="rect">
            <a:avLst/>
          </a:prstGeom>
          <a:noFill/>
        </p:spPr>
        <p:txBody>
          <a:bodyPr wrap="square" lIns="0" rIns="0" tIns="0" bIns="0">
            <a:spAutoFit/>
          </a:bodyPr>
          <a:lstStyle/>
          <a:p>
            <a:r>
              <a:rPr sz="1500" b="1" i="0">
                <a:solidFill>
                  <a:srgbClr val="111111"/>
                </a:solidFill>
                <a:latin typeface="Impact"/>
              </a:rPr>
              <a:t>INTERMISSION · 15 MINUTES</a:t>
            </a:r>
          </a:p>
        </p:txBody>
      </p:sp>
      <p:sp>
        <p:nvSpPr>
          <p:cNvPr id="15" name="TextBox 14"/>
          <p:cNvSpPr txBox="1"/>
          <p:nvPr/>
        </p:nvSpPr>
        <p:spPr>
          <a:xfrm>
            <a:off x="6921500" y="3969941"/>
            <a:ext cx="2419251" cy="101600"/>
          </a:xfrm>
          <a:prstGeom prst="rect">
            <a:avLst/>
          </a:prstGeom>
          <a:noFill/>
        </p:spPr>
        <p:txBody>
          <a:bodyPr wrap="square" lIns="0" rIns="0" tIns="0" bIns="0">
            <a:spAutoFit/>
          </a:bodyPr>
          <a:lstStyle/>
          <a:p>
            <a:r>
              <a:rPr sz="1050" b="0" i="0">
                <a:solidFill>
                  <a:srgbClr val="111111"/>
                </a:solidFill>
                <a:latin typeface="Arial"/>
              </a:rPr>
              <a:t>Sammy invokes the Chumash. The whole house sings.</a:t>
            </a:r>
          </a:p>
        </p:txBody>
      </p:sp>
      <p:sp>
        <p:nvSpPr>
          <p:cNvPr id="16" name="TextBox 15"/>
          <p:cNvSpPr txBox="1"/>
          <p:nvPr/>
        </p:nvSpPr>
        <p:spPr>
          <a:xfrm>
            <a:off x="1397000" y="3969941"/>
            <a:ext cx="2400995" cy="101600"/>
          </a:xfrm>
          <a:prstGeom prst="rect">
            <a:avLst/>
          </a:prstGeom>
          <a:noFill/>
        </p:spPr>
        <p:txBody>
          <a:bodyPr wrap="square" lIns="0" rIns="0" tIns="0" bIns="0">
            <a:spAutoFit/>
          </a:bodyPr>
          <a:lstStyle/>
          <a:p>
            <a:r>
              <a:rPr sz="1050" b="0" i="0">
                <a:solidFill>
                  <a:srgbClr val="111111"/>
                </a:solidFill>
                <a:latin typeface="Arial"/>
              </a:rPr>
              <a:t>Luis J. Rodriguez &amp; Jasmine Minchez. Mariachi Square.</a:t>
            </a:r>
          </a:p>
        </p:txBody>
      </p:sp>
      <p:sp>
        <p:nvSpPr>
          <p:cNvPr id="17" name="TextBox 16"/>
          <p:cNvSpPr txBox="1"/>
          <p:nvPr/>
        </p:nvSpPr>
        <p:spPr>
          <a:xfrm>
            <a:off x="1397000" y="4424561"/>
            <a:ext cx="2317353" cy="101600"/>
          </a:xfrm>
          <a:prstGeom prst="rect">
            <a:avLst/>
          </a:prstGeom>
          <a:noFill/>
        </p:spPr>
        <p:txBody>
          <a:bodyPr wrap="square" lIns="0" rIns="0" tIns="0" bIns="0">
            <a:spAutoFit/>
          </a:bodyPr>
          <a:lstStyle/>
          <a:p>
            <a:r>
              <a:rPr sz="1050" b="0" i="0">
                <a:solidFill>
                  <a:srgbClr val="111111"/>
                </a:solidFill>
                <a:latin typeface="Arial"/>
              </a:rPr>
              <a:t>Dante Basco, Jason &amp; Ariana. Five verses, one hook.</a:t>
            </a:r>
          </a:p>
        </p:txBody>
      </p:sp>
      <p:sp>
        <p:nvSpPr>
          <p:cNvPr id="18" name="TextBox 17"/>
          <p:cNvSpPr txBox="1"/>
          <p:nvPr/>
        </p:nvSpPr>
        <p:spPr>
          <a:xfrm>
            <a:off x="6921500" y="4424561"/>
            <a:ext cx="2261890" cy="101600"/>
          </a:xfrm>
          <a:prstGeom prst="rect">
            <a:avLst/>
          </a:prstGeom>
          <a:noFill/>
        </p:spPr>
        <p:txBody>
          <a:bodyPr wrap="square" lIns="0" rIns="0" tIns="0" bIns="0">
            <a:spAutoFit/>
          </a:bodyPr>
          <a:lstStyle/>
          <a:p>
            <a:r>
              <a:rPr sz="1050" b="0" i="0">
                <a:solidFill>
                  <a:srgbClr val="111111"/>
                </a:solidFill>
                <a:latin typeface="Arial"/>
              </a:rPr>
              <a:t>Band plays out. House lights slow. Lobby re-opens.</a:t>
            </a:r>
          </a:p>
        </p:txBody>
      </p:sp>
      <p:sp>
        <p:nvSpPr>
          <p:cNvPr id="19" name="TextBox 18"/>
          <p:cNvSpPr txBox="1"/>
          <p:nvPr/>
        </p:nvSpPr>
        <p:spPr>
          <a:xfrm>
            <a:off x="6921500" y="3060700"/>
            <a:ext cx="2257921" cy="101600"/>
          </a:xfrm>
          <a:prstGeom prst="rect">
            <a:avLst/>
          </a:prstGeom>
          <a:noFill/>
        </p:spPr>
        <p:txBody>
          <a:bodyPr wrap="square" lIns="0" rIns="0" tIns="0" bIns="0">
            <a:spAutoFit/>
          </a:bodyPr>
          <a:lstStyle/>
          <a:p>
            <a:r>
              <a:rPr sz="1050" b="0" i="0">
                <a:solidFill>
                  <a:srgbClr val="111111"/>
                </a:solidFill>
                <a:latin typeface="Arial"/>
              </a:rPr>
              <a:t>Pullum Choir, Monique, Elize &amp; Tru. Leimert drums.</a:t>
            </a:r>
          </a:p>
        </p:txBody>
      </p:sp>
      <p:sp>
        <p:nvSpPr>
          <p:cNvPr id="20" name="TextBox 19"/>
          <p:cNvSpPr txBox="1"/>
          <p:nvPr/>
        </p:nvSpPr>
        <p:spPr>
          <a:xfrm>
            <a:off x="1397000" y="4246761"/>
            <a:ext cx="1622723" cy="139700"/>
          </a:xfrm>
          <a:prstGeom prst="rect">
            <a:avLst/>
          </a:prstGeom>
          <a:noFill/>
        </p:spPr>
        <p:txBody>
          <a:bodyPr wrap="square" lIns="0" rIns="0" tIns="0" bIns="0">
            <a:spAutoFit/>
          </a:bodyPr>
          <a:lstStyle/>
          <a:p>
            <a:r>
              <a:rPr sz="1500" b="1" i="0">
                <a:solidFill>
                  <a:srgbClr val="111111"/>
                </a:solidFill>
                <a:latin typeface="Impact"/>
              </a:rPr>
              <a:t>ACT III · THE FIVE TOWNS</a:t>
            </a:r>
          </a:p>
        </p:txBody>
      </p:sp>
      <p:sp>
        <p:nvSpPr>
          <p:cNvPr id="21" name="TextBox 20"/>
          <p:cNvSpPr txBox="1"/>
          <p:nvPr/>
        </p:nvSpPr>
        <p:spPr>
          <a:xfrm>
            <a:off x="6921500" y="4246761"/>
            <a:ext cx="1517650" cy="139700"/>
          </a:xfrm>
          <a:prstGeom prst="rect">
            <a:avLst/>
          </a:prstGeom>
          <a:noFill/>
        </p:spPr>
        <p:txBody>
          <a:bodyPr wrap="square" lIns="0" rIns="0" tIns="0" bIns="0">
            <a:spAutoFit/>
          </a:bodyPr>
          <a:lstStyle/>
          <a:p>
            <a:r>
              <a:rPr sz="1500" b="1" i="0">
                <a:solidFill>
                  <a:srgbClr val="111111"/>
                </a:solidFill>
                <a:latin typeface="Impact"/>
              </a:rPr>
              <a:t>BOW · THEME REPEATS</a:t>
            </a:r>
          </a:p>
        </p:txBody>
      </p:sp>
      <p:sp>
        <p:nvSpPr>
          <p:cNvPr id="22" name="TextBox 21"/>
          <p:cNvSpPr txBox="1"/>
          <p:nvPr/>
        </p:nvSpPr>
        <p:spPr>
          <a:xfrm>
            <a:off x="1397000" y="3515320"/>
            <a:ext cx="2031107" cy="101600"/>
          </a:xfrm>
          <a:prstGeom prst="rect">
            <a:avLst/>
          </a:prstGeom>
          <a:noFill/>
        </p:spPr>
        <p:txBody>
          <a:bodyPr wrap="square" lIns="0" rIns="0" tIns="0" bIns="0">
            <a:spAutoFit/>
          </a:bodyPr>
          <a:lstStyle/>
          <a:p>
            <a:r>
              <a:rPr sz="1050" b="0" i="0">
                <a:solidFill>
                  <a:srgbClr val="111111"/>
                </a:solidFill>
                <a:latin typeface="Arial"/>
              </a:rPr>
              <a:t>Sekou Andrews. The tour you think you know.</a:t>
            </a:r>
          </a:p>
        </p:txBody>
      </p:sp>
      <p:sp>
        <p:nvSpPr>
          <p:cNvPr id="23" name="TextBox 22"/>
          <p:cNvSpPr txBox="1"/>
          <p:nvPr/>
        </p:nvSpPr>
        <p:spPr>
          <a:xfrm>
            <a:off x="6921500" y="3515320"/>
            <a:ext cx="1905099" cy="101600"/>
          </a:xfrm>
          <a:prstGeom prst="rect">
            <a:avLst/>
          </a:prstGeom>
          <a:noFill/>
        </p:spPr>
        <p:txBody>
          <a:bodyPr wrap="square" lIns="0" rIns="0" tIns="0" bIns="0">
            <a:spAutoFit/>
          </a:bodyPr>
          <a:lstStyle/>
          <a:p>
            <a:r>
              <a:rPr sz="1050" b="0" i="0">
                <a:solidFill>
                  <a:srgbClr val="111111"/>
                </a:solidFill>
                <a:latin typeface="Arial"/>
              </a:rPr>
              <a:t>Lev. Banjo, guitar, the psychedelic swerve.</a:t>
            </a:r>
          </a:p>
        </p:txBody>
      </p:sp>
      <p:sp>
        <p:nvSpPr>
          <p:cNvPr id="24" name="TextBox 23"/>
          <p:cNvSpPr txBox="1"/>
          <p:nvPr/>
        </p:nvSpPr>
        <p:spPr>
          <a:xfrm>
            <a:off x="1397000" y="4879181"/>
            <a:ext cx="1598116" cy="101600"/>
          </a:xfrm>
          <a:prstGeom prst="rect">
            <a:avLst/>
          </a:prstGeom>
          <a:noFill/>
        </p:spPr>
        <p:txBody>
          <a:bodyPr wrap="square" lIns="0" rIns="0" tIns="0" bIns="0">
            <a:spAutoFit/>
          </a:bodyPr>
          <a:lstStyle/>
          <a:p>
            <a:r>
              <a:rPr sz="1050" b="0" i="0">
                <a:solidFill>
                  <a:srgbClr val="111111"/>
                </a:solidFill>
                <a:latin typeface="Arial"/>
              </a:rPr>
              <a:t>Band plays theme out. Lobby &amp; bar.</a:t>
            </a:r>
          </a:p>
        </p:txBody>
      </p:sp>
      <p:sp>
        <p:nvSpPr>
          <p:cNvPr id="25" name="TextBox 24"/>
          <p:cNvSpPr txBox="1"/>
          <p:nvPr/>
        </p:nvSpPr>
        <p:spPr>
          <a:xfrm>
            <a:off x="1397000" y="3060700"/>
            <a:ext cx="1579066" cy="101600"/>
          </a:xfrm>
          <a:prstGeom prst="rect">
            <a:avLst/>
          </a:prstGeom>
          <a:noFill/>
        </p:spPr>
        <p:txBody>
          <a:bodyPr wrap="square" lIns="0" rIns="0" tIns="0" bIns="0">
            <a:spAutoFit/>
          </a:bodyPr>
          <a:lstStyle/>
          <a:p>
            <a:r>
              <a:rPr sz="1050" b="0" i="0">
                <a:solidFill>
                  <a:srgbClr val="111111"/>
                </a:solidFill>
                <a:latin typeface="Arial"/>
              </a:rPr>
              <a:t>Your guide is already watching you.</a:t>
            </a:r>
          </a:p>
        </p:txBody>
      </p:sp>
      <p:sp>
        <p:nvSpPr>
          <p:cNvPr id="26" name="TextBox 25"/>
          <p:cNvSpPr txBox="1"/>
          <p:nvPr/>
        </p:nvSpPr>
        <p:spPr>
          <a:xfrm>
            <a:off x="6286500" y="2489200"/>
            <a:ext cx="1728291" cy="88900"/>
          </a:xfrm>
          <a:prstGeom prst="rect">
            <a:avLst/>
          </a:prstGeom>
          <a:noFill/>
        </p:spPr>
        <p:txBody>
          <a:bodyPr wrap="square" lIns="0" rIns="0" tIns="0" bIns="0">
            <a:spAutoFit/>
          </a:bodyPr>
          <a:lstStyle/>
          <a:p>
            <a:r>
              <a:rPr sz="900" b="1" i="0">
                <a:solidFill>
                  <a:srgbClr val="C9242A"/>
                </a:solidFill>
                <a:latin typeface="Arial"/>
              </a:rPr>
              <a:t>SECOND HALF · 1:05 — 2:00</a:t>
            </a:r>
          </a:p>
        </p:txBody>
      </p:sp>
      <p:sp>
        <p:nvSpPr>
          <p:cNvPr id="27" name="TextBox 26"/>
          <p:cNvSpPr txBox="1"/>
          <p:nvPr/>
        </p:nvSpPr>
        <p:spPr>
          <a:xfrm>
            <a:off x="762000" y="2489200"/>
            <a:ext cx="1598216" cy="88900"/>
          </a:xfrm>
          <a:prstGeom prst="rect">
            <a:avLst/>
          </a:prstGeom>
          <a:noFill/>
        </p:spPr>
        <p:txBody>
          <a:bodyPr wrap="square" lIns="0" rIns="0" tIns="0" bIns="0">
            <a:spAutoFit/>
          </a:bodyPr>
          <a:lstStyle/>
          <a:p>
            <a:r>
              <a:rPr sz="900" b="1" i="0">
                <a:solidFill>
                  <a:srgbClr val="C9242A"/>
                </a:solidFill>
                <a:latin typeface="Arial"/>
              </a:rPr>
              <a:t>FIRST HALF · 0:00 — 0:50</a:t>
            </a:r>
          </a:p>
        </p:txBody>
      </p:sp>
      <p:sp>
        <p:nvSpPr>
          <p:cNvPr id="28" name="TextBox 27"/>
          <p:cNvSpPr txBox="1"/>
          <p:nvPr/>
        </p:nvSpPr>
        <p:spPr>
          <a:xfrm>
            <a:off x="10375305" y="6489700"/>
            <a:ext cx="1308695" cy="88900"/>
          </a:xfrm>
          <a:prstGeom prst="rect">
            <a:avLst/>
          </a:prstGeom>
          <a:noFill/>
        </p:spPr>
        <p:txBody>
          <a:bodyPr wrap="square" lIns="0" rIns="0" tIns="0" bIns="0">
            <a:spAutoFit/>
          </a:bodyPr>
          <a:lstStyle/>
          <a:p>
            <a:r>
              <a:rPr sz="900" b="0" i="0">
                <a:solidFill>
                  <a:srgbClr val="111111"/>
                </a:solidFill>
                <a:latin typeface="Arial"/>
              </a:rPr>
              <a:t>14 THE 2027 SHOW</a:t>
            </a:r>
          </a:p>
        </p:txBody>
      </p:sp>
      <p:sp>
        <p:nvSpPr>
          <p:cNvPr id="29" name="TextBox 28"/>
          <p:cNvSpPr txBox="1"/>
          <p:nvPr/>
        </p:nvSpPr>
        <p:spPr>
          <a:xfrm>
            <a:off x="762000" y="2870200"/>
            <a:ext cx="343694" cy="190500"/>
          </a:xfrm>
          <a:prstGeom prst="rect">
            <a:avLst/>
          </a:prstGeom>
          <a:noFill/>
        </p:spPr>
        <p:txBody>
          <a:bodyPr wrap="square" lIns="0" rIns="0" tIns="0" bIns="0">
            <a:spAutoFit/>
          </a:bodyPr>
          <a:lstStyle/>
          <a:p>
            <a:r>
              <a:rPr sz="1950" b="1" i="0">
                <a:solidFill>
                  <a:srgbClr val="C9242A"/>
                </a:solidFill>
                <a:latin typeface="Impact"/>
              </a:rPr>
              <a:t>0:00</a:t>
            </a:r>
          </a:p>
        </p:txBody>
      </p:sp>
      <p:sp>
        <p:nvSpPr>
          <p:cNvPr id="30" name="TextBox 29"/>
          <p:cNvSpPr txBox="1"/>
          <p:nvPr/>
        </p:nvSpPr>
        <p:spPr>
          <a:xfrm>
            <a:off x="762000" y="3324820"/>
            <a:ext cx="343694" cy="190500"/>
          </a:xfrm>
          <a:prstGeom prst="rect">
            <a:avLst/>
          </a:prstGeom>
          <a:noFill/>
        </p:spPr>
        <p:txBody>
          <a:bodyPr wrap="square" lIns="0" rIns="0" tIns="0" bIns="0">
            <a:spAutoFit/>
          </a:bodyPr>
          <a:lstStyle/>
          <a:p>
            <a:r>
              <a:rPr sz="1950" b="1" i="0">
                <a:solidFill>
                  <a:srgbClr val="C9242A"/>
                </a:solidFill>
                <a:latin typeface="Impact"/>
              </a:rPr>
              <a:t>0:12</a:t>
            </a:r>
          </a:p>
        </p:txBody>
      </p:sp>
      <p:sp>
        <p:nvSpPr>
          <p:cNvPr id="31" name="TextBox 30"/>
          <p:cNvSpPr txBox="1"/>
          <p:nvPr/>
        </p:nvSpPr>
        <p:spPr>
          <a:xfrm>
            <a:off x="762000" y="3779441"/>
            <a:ext cx="343694" cy="190500"/>
          </a:xfrm>
          <a:prstGeom prst="rect">
            <a:avLst/>
          </a:prstGeom>
          <a:noFill/>
        </p:spPr>
        <p:txBody>
          <a:bodyPr wrap="square" lIns="0" rIns="0" tIns="0" bIns="0">
            <a:spAutoFit/>
          </a:bodyPr>
          <a:lstStyle/>
          <a:p>
            <a:r>
              <a:rPr sz="1950" b="1" i="0">
                <a:solidFill>
                  <a:srgbClr val="C9242A"/>
                </a:solidFill>
                <a:latin typeface="Impact"/>
              </a:rPr>
              <a:t>0:24</a:t>
            </a:r>
          </a:p>
        </p:txBody>
      </p:sp>
      <p:sp>
        <p:nvSpPr>
          <p:cNvPr id="32" name="TextBox 31"/>
          <p:cNvSpPr txBox="1"/>
          <p:nvPr/>
        </p:nvSpPr>
        <p:spPr>
          <a:xfrm>
            <a:off x="762000" y="4234061"/>
            <a:ext cx="343694" cy="190500"/>
          </a:xfrm>
          <a:prstGeom prst="rect">
            <a:avLst/>
          </a:prstGeom>
          <a:noFill/>
        </p:spPr>
        <p:txBody>
          <a:bodyPr wrap="square" lIns="0" rIns="0" tIns="0" bIns="0">
            <a:spAutoFit/>
          </a:bodyPr>
          <a:lstStyle/>
          <a:p>
            <a:r>
              <a:rPr sz="1950" b="1" i="0">
                <a:solidFill>
                  <a:srgbClr val="C9242A"/>
                </a:solidFill>
                <a:latin typeface="Impact"/>
              </a:rPr>
              <a:t>0:40</a:t>
            </a:r>
          </a:p>
        </p:txBody>
      </p:sp>
      <p:sp>
        <p:nvSpPr>
          <p:cNvPr id="33" name="TextBox 32"/>
          <p:cNvSpPr txBox="1"/>
          <p:nvPr/>
        </p:nvSpPr>
        <p:spPr>
          <a:xfrm>
            <a:off x="762000" y="4688681"/>
            <a:ext cx="343694" cy="190500"/>
          </a:xfrm>
          <a:prstGeom prst="rect">
            <a:avLst/>
          </a:prstGeom>
          <a:noFill/>
        </p:spPr>
        <p:txBody>
          <a:bodyPr wrap="square" lIns="0" rIns="0" tIns="0" bIns="0">
            <a:spAutoFit/>
          </a:bodyPr>
          <a:lstStyle/>
          <a:p>
            <a:r>
              <a:rPr sz="1950" b="1" i="0">
                <a:solidFill>
                  <a:srgbClr val="C9242A"/>
                </a:solidFill>
                <a:latin typeface="Impact"/>
              </a:rPr>
              <a:t>0:50</a:t>
            </a:r>
          </a:p>
        </p:txBody>
      </p:sp>
      <p:sp>
        <p:nvSpPr>
          <p:cNvPr id="34" name="TextBox 33"/>
          <p:cNvSpPr txBox="1"/>
          <p:nvPr/>
        </p:nvSpPr>
        <p:spPr>
          <a:xfrm>
            <a:off x="6286500" y="2870200"/>
            <a:ext cx="343694" cy="190500"/>
          </a:xfrm>
          <a:prstGeom prst="rect">
            <a:avLst/>
          </a:prstGeom>
          <a:noFill/>
        </p:spPr>
        <p:txBody>
          <a:bodyPr wrap="square" lIns="0" rIns="0" tIns="0" bIns="0">
            <a:spAutoFit/>
          </a:bodyPr>
          <a:lstStyle/>
          <a:p>
            <a:r>
              <a:rPr sz="1950" b="1" i="0">
                <a:solidFill>
                  <a:srgbClr val="C9242A"/>
                </a:solidFill>
                <a:latin typeface="Impact"/>
              </a:rPr>
              <a:t>1:05</a:t>
            </a:r>
          </a:p>
        </p:txBody>
      </p:sp>
      <p:sp>
        <p:nvSpPr>
          <p:cNvPr id="35" name="TextBox 34"/>
          <p:cNvSpPr txBox="1"/>
          <p:nvPr/>
        </p:nvSpPr>
        <p:spPr>
          <a:xfrm>
            <a:off x="6286500" y="3324820"/>
            <a:ext cx="343694" cy="190500"/>
          </a:xfrm>
          <a:prstGeom prst="rect">
            <a:avLst/>
          </a:prstGeom>
          <a:noFill/>
        </p:spPr>
        <p:txBody>
          <a:bodyPr wrap="square" lIns="0" rIns="0" tIns="0" bIns="0">
            <a:spAutoFit/>
          </a:bodyPr>
          <a:lstStyle/>
          <a:p>
            <a:r>
              <a:rPr sz="1950" b="1" i="0">
                <a:solidFill>
                  <a:srgbClr val="C9242A"/>
                </a:solidFill>
                <a:latin typeface="Impact"/>
              </a:rPr>
              <a:t>1:25</a:t>
            </a:r>
          </a:p>
        </p:txBody>
      </p:sp>
      <p:sp>
        <p:nvSpPr>
          <p:cNvPr id="36" name="TextBox 35"/>
          <p:cNvSpPr txBox="1"/>
          <p:nvPr/>
        </p:nvSpPr>
        <p:spPr>
          <a:xfrm>
            <a:off x="6286500" y="3779441"/>
            <a:ext cx="343694" cy="190500"/>
          </a:xfrm>
          <a:prstGeom prst="rect">
            <a:avLst/>
          </a:prstGeom>
          <a:noFill/>
        </p:spPr>
        <p:txBody>
          <a:bodyPr wrap="square" lIns="0" rIns="0" tIns="0" bIns="0">
            <a:spAutoFit/>
          </a:bodyPr>
          <a:lstStyle/>
          <a:p>
            <a:r>
              <a:rPr sz="1950" b="1" i="0">
                <a:solidFill>
                  <a:srgbClr val="C9242A"/>
                </a:solidFill>
                <a:latin typeface="Impact"/>
              </a:rPr>
              <a:t>1:43</a:t>
            </a:r>
          </a:p>
        </p:txBody>
      </p:sp>
      <p:sp>
        <p:nvSpPr>
          <p:cNvPr id="37" name="TextBox 36"/>
          <p:cNvSpPr txBox="1"/>
          <p:nvPr/>
        </p:nvSpPr>
        <p:spPr>
          <a:xfrm>
            <a:off x="6286500" y="4234061"/>
            <a:ext cx="343694" cy="190500"/>
          </a:xfrm>
          <a:prstGeom prst="rect">
            <a:avLst/>
          </a:prstGeom>
          <a:noFill/>
        </p:spPr>
        <p:txBody>
          <a:bodyPr wrap="square" lIns="0" rIns="0" tIns="0" bIns="0">
            <a:spAutoFit/>
          </a:bodyPr>
          <a:lstStyle/>
          <a:p>
            <a:r>
              <a:rPr sz="1950" b="1" i="0">
                <a:solidFill>
                  <a:srgbClr val="C9242A"/>
                </a:solidFill>
                <a:latin typeface="Impact"/>
              </a:rPr>
              <a:t>1:50</a:t>
            </a:r>
          </a:p>
        </p:txBody>
      </p:sp>
      <p:sp>
        <p:nvSpPr>
          <p:cNvPr id="38" name="TextBox 37"/>
          <p:cNvSpPr txBox="1"/>
          <p:nvPr/>
        </p:nvSpPr>
        <p:spPr>
          <a:xfrm>
            <a:off x="6286500" y="4688681"/>
            <a:ext cx="343694" cy="190500"/>
          </a:xfrm>
          <a:prstGeom prst="rect">
            <a:avLst/>
          </a:prstGeom>
          <a:noFill/>
        </p:spPr>
        <p:txBody>
          <a:bodyPr wrap="square" lIns="0" rIns="0" tIns="0" bIns="0">
            <a:spAutoFit/>
          </a:bodyPr>
          <a:lstStyle/>
          <a:p>
            <a:r>
              <a:rPr sz="1950" b="1" i="0">
                <a:solidFill>
                  <a:srgbClr val="C9242A"/>
                </a:solidFill>
                <a:latin typeface="Impact"/>
              </a:rPr>
              <a:t>2:00</a:t>
            </a:r>
          </a:p>
        </p:txBody>
      </p:sp>
      <p:sp>
        <p:nvSpPr>
          <p:cNvPr id="39" name="Rectangle 38"/>
          <p:cNvSpPr/>
          <p:nvPr/>
        </p:nvSpPr>
        <p:spPr>
          <a:xfrm>
            <a:off x="10624046" y="6511925"/>
            <a:ext cx="38100" cy="38100"/>
          </a:xfrm>
          <a:prstGeom prst="rect">
            <a:avLst/>
          </a:prstGeom>
          <a:solidFill>
            <a:srgbClr val="C924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EFE6"/>
        </a:solidFill>
        <a:effectLst/>
      </p:bgPr>
    </p:bg>
    <p:spTree>
      <p:nvGrpSpPr>
        <p:cNvPr id="1" name=""/>
        <p:cNvGrpSpPr/>
        <p:nvPr/>
      </p:nvGrpSpPr>
      <p:grpSpPr/>
      <p:sp>
        <p:nvSpPr>
          <p:cNvPr id="2" name="TextBox 1"/>
          <p:cNvSpPr txBox="1"/>
          <p:nvPr/>
        </p:nvSpPr>
        <p:spPr>
          <a:xfrm>
            <a:off x="762000" y="736600"/>
            <a:ext cx="5112345" cy="635000"/>
          </a:xfrm>
          <a:prstGeom prst="rect">
            <a:avLst/>
          </a:prstGeom>
          <a:noFill/>
        </p:spPr>
        <p:txBody>
          <a:bodyPr wrap="square" lIns="0" rIns="0" tIns="0" bIns="0">
            <a:spAutoFit/>
          </a:bodyPr>
          <a:lstStyle/>
          <a:p>
            <a:r>
              <a:rPr sz="6750" b="1" i="0">
                <a:solidFill>
                  <a:srgbClr val="111111"/>
                </a:solidFill>
                <a:latin typeface="Impact"/>
              </a:rPr>
              <a:t>THE PRODUCERS.</a:t>
            </a:r>
          </a:p>
        </p:txBody>
      </p:sp>
      <p:sp>
        <p:nvSpPr>
          <p:cNvPr id="3" name="TextBox 2"/>
          <p:cNvSpPr txBox="1"/>
          <p:nvPr/>
        </p:nvSpPr>
        <p:spPr>
          <a:xfrm>
            <a:off x="4419600" y="4003675"/>
            <a:ext cx="3299123" cy="635000"/>
          </a:xfrm>
          <a:prstGeom prst="rect">
            <a:avLst/>
          </a:prstGeom>
          <a:noFill/>
        </p:spPr>
        <p:txBody>
          <a:bodyPr wrap="square" lIns="0" rIns="0" tIns="0" bIns="0">
            <a:spAutoFit/>
          </a:bodyPr>
          <a:lstStyle/>
          <a:p>
            <a:r>
              <a:rPr sz="1050" b="0" i="0">
                <a:solidFill>
                  <a:srgbClr val="1D1D1D"/>
                </a:solidFill>
                <a:latin typeface="Arial"/>
              </a:rPr>
              <a:t>Award-winning producer, director, and activist; Co-Founder &amp; Executive Director of Sankofa.org. Lead producer of the HBO documentary Sing Your Song (Sundance 2011 opener) about her father Harry Belafonte. Director of the hip-hop/spoken-word musical Lyrics from Lockdown . Co-founder of The Gathering for Justice.</a:t>
            </a:r>
          </a:p>
        </p:txBody>
      </p:sp>
      <p:sp>
        <p:nvSpPr>
          <p:cNvPr id="4" name="TextBox 3"/>
          <p:cNvSpPr txBox="1"/>
          <p:nvPr/>
        </p:nvSpPr>
        <p:spPr>
          <a:xfrm>
            <a:off x="8077200" y="4003675"/>
            <a:ext cx="3286224" cy="635000"/>
          </a:xfrm>
          <a:prstGeom prst="rect">
            <a:avLst/>
          </a:prstGeom>
          <a:noFill/>
        </p:spPr>
        <p:txBody>
          <a:bodyPr wrap="square" lIns="0" rIns="0" tIns="0" bIns="0">
            <a:spAutoFit/>
          </a:bodyPr>
          <a:lstStyle/>
          <a:p>
            <a:r>
              <a:rPr sz="1050" b="0" i="0">
                <a:solidFill>
                  <a:srgbClr val="1D1D1D"/>
                </a:solidFill>
                <a:latin typeface="Arial"/>
              </a:rPr>
              <a:t>SVP, Content Strategy &amp; Acquisitions at MTV Entertainment &amp; Showtime Studios (Paramount Global), overseeing Yellowstone , The Daily Show , and South Park . Tony Award winner as co-producer of Broadway’s The Outsiders (2024). Co-producer of The Who’s Tommy (US) and Burlesque, The Musical (UK).</a:t>
            </a:r>
          </a:p>
        </p:txBody>
      </p:sp>
      <p:sp>
        <p:nvSpPr>
          <p:cNvPr id="5" name="Rectangle 4"/>
          <p:cNvSpPr/>
          <p:nvPr/>
        </p:nvSpPr>
        <p:spPr>
          <a:xfrm>
            <a:off x="762000" y="1533525"/>
            <a:ext cx="1270000" cy="1587500"/>
          </a:xfrm>
          <a:prstGeom prst="rect">
            <a:avLst/>
          </a:prstGeom>
          <a:solidFill>
            <a:srgbClr val="F4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48400" y="1533525"/>
            <a:ext cx="1270000" cy="1587500"/>
          </a:xfrm>
          <a:prstGeom prst="rect">
            <a:avLst/>
          </a:prstGeom>
          <a:solidFill>
            <a:srgbClr val="F4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09800" y="2187575"/>
            <a:ext cx="3723382" cy="501650"/>
          </a:xfrm>
          <a:prstGeom prst="rect">
            <a:avLst/>
          </a:prstGeom>
          <a:noFill/>
        </p:spPr>
        <p:txBody>
          <a:bodyPr wrap="square" lIns="0" rIns="0" tIns="0" bIns="0">
            <a:spAutoFit/>
          </a:bodyPr>
          <a:lstStyle/>
          <a:p>
            <a:r>
              <a:rPr sz="1050" b="0" i="0">
                <a:solidFill>
                  <a:srgbClr val="1D1D1D"/>
                </a:solidFill>
                <a:latin typeface="Arial"/>
              </a:rPr>
              <a:t>Founder &amp; CEO of Get Lit – Words Ignite; author of the original Get Lit curriculum, now in 200+ schools worldwide. Featured in the LA Times, CNN, and NPR. Recipient of the James Patterson Page Turner Award and the Presidential Lifetime Volunteer Service Award.</a:t>
            </a:r>
          </a:p>
        </p:txBody>
      </p:sp>
      <p:sp>
        <p:nvSpPr>
          <p:cNvPr id="8" name="TextBox 7"/>
          <p:cNvSpPr txBox="1"/>
          <p:nvPr/>
        </p:nvSpPr>
        <p:spPr>
          <a:xfrm>
            <a:off x="7696200" y="2187575"/>
            <a:ext cx="3710484" cy="501650"/>
          </a:xfrm>
          <a:prstGeom prst="rect">
            <a:avLst/>
          </a:prstGeom>
          <a:noFill/>
        </p:spPr>
        <p:txBody>
          <a:bodyPr wrap="square" lIns="0" rIns="0" tIns="0" bIns="0">
            <a:spAutoFit/>
          </a:bodyPr>
          <a:lstStyle/>
          <a:p>
            <a:r>
              <a:rPr sz="1050" b="0" i="0">
                <a:solidFill>
                  <a:srgbClr val="1D1D1D"/>
                </a:solidFill>
                <a:latin typeface="Arial"/>
              </a:rPr>
              <a:t>Co-founder of SHOWRUNNER, a film tech company specializing in the development of emerging technology to create groundbreaking productions. Brandon's unique blend of creative vision and technical ingenuity has earned countless awards across each of the film, tech, and film-tech industries.</a:t>
            </a:r>
          </a:p>
        </p:txBody>
      </p:sp>
      <p:sp>
        <p:nvSpPr>
          <p:cNvPr id="9" name="TextBox 8"/>
          <p:cNvSpPr txBox="1"/>
          <p:nvPr/>
        </p:nvSpPr>
        <p:spPr>
          <a:xfrm>
            <a:off x="762000" y="4003675"/>
            <a:ext cx="3351212" cy="368300"/>
          </a:xfrm>
          <a:prstGeom prst="rect">
            <a:avLst/>
          </a:prstGeom>
          <a:noFill/>
        </p:spPr>
        <p:txBody>
          <a:bodyPr wrap="square" lIns="0" rIns="0" tIns="0" bIns="0">
            <a:spAutoFit/>
          </a:bodyPr>
          <a:lstStyle/>
          <a:p>
            <a:r>
              <a:rPr sz="1050" b="0" i="0">
                <a:solidFill>
                  <a:srgbClr val="1D1D1D"/>
                </a:solidFill>
                <a:latin typeface="Arial"/>
              </a:rPr>
              <a:t>Tony Award–winning producer, TV and film writer–producer, and bestselling author. Award-winning journalist (GQ, Wired, The New Yorker) and a Pulitzer Prize entrant for investigative journalism.</a:t>
            </a:r>
          </a:p>
        </p:txBody>
      </p:sp>
      <p:sp>
        <p:nvSpPr>
          <p:cNvPr id="10" name="TextBox 9"/>
          <p:cNvSpPr txBox="1"/>
          <p:nvPr/>
        </p:nvSpPr>
        <p:spPr>
          <a:xfrm>
            <a:off x="2209800" y="1711325"/>
            <a:ext cx="1746647" cy="209550"/>
          </a:xfrm>
          <a:prstGeom prst="rect">
            <a:avLst/>
          </a:prstGeom>
          <a:noFill/>
        </p:spPr>
        <p:txBody>
          <a:bodyPr wrap="square" lIns="0" rIns="0" tIns="0" bIns="0">
            <a:spAutoFit/>
          </a:bodyPr>
          <a:lstStyle/>
          <a:p>
            <a:r>
              <a:rPr sz="2250" b="1" i="0">
                <a:solidFill>
                  <a:srgbClr val="111111"/>
                </a:solidFill>
                <a:latin typeface="Impact"/>
              </a:rPr>
              <a:t>DIANE LUBY LANE</a:t>
            </a:r>
          </a:p>
        </p:txBody>
      </p:sp>
      <p:sp>
        <p:nvSpPr>
          <p:cNvPr id="11" name="TextBox 10"/>
          <p:cNvSpPr txBox="1"/>
          <p:nvPr/>
        </p:nvSpPr>
        <p:spPr>
          <a:xfrm>
            <a:off x="4419600" y="3527425"/>
            <a:ext cx="1699617" cy="209550"/>
          </a:xfrm>
          <a:prstGeom prst="rect">
            <a:avLst/>
          </a:prstGeom>
          <a:noFill/>
        </p:spPr>
        <p:txBody>
          <a:bodyPr wrap="square" lIns="0" rIns="0" tIns="0" bIns="0">
            <a:spAutoFit/>
          </a:bodyPr>
          <a:lstStyle/>
          <a:p>
            <a:r>
              <a:rPr sz="2250" b="1" i="0">
                <a:solidFill>
                  <a:srgbClr val="111111"/>
                </a:solidFill>
                <a:latin typeface="Impact"/>
              </a:rPr>
              <a:t>GINA BELAFONTE</a:t>
            </a:r>
          </a:p>
        </p:txBody>
      </p:sp>
      <p:sp>
        <p:nvSpPr>
          <p:cNvPr id="12" name="TextBox 11"/>
          <p:cNvSpPr txBox="1"/>
          <p:nvPr/>
        </p:nvSpPr>
        <p:spPr>
          <a:xfrm>
            <a:off x="2209800" y="1978025"/>
            <a:ext cx="3259336" cy="95250"/>
          </a:xfrm>
          <a:prstGeom prst="rect">
            <a:avLst/>
          </a:prstGeom>
          <a:noFill/>
        </p:spPr>
        <p:txBody>
          <a:bodyPr wrap="square" lIns="0" rIns="0" tIns="0" bIns="0">
            <a:spAutoFit/>
          </a:bodyPr>
          <a:lstStyle/>
          <a:p>
            <a:r>
              <a:rPr sz="975" b="1" i="0">
                <a:solidFill>
                  <a:srgbClr val="C9242A"/>
                </a:solidFill>
                <a:latin typeface="Arial"/>
              </a:rPr>
              <a:t>CREATOR &amp; LEAD PRODUCER · FOUNDER, GET LIT</a:t>
            </a:r>
          </a:p>
        </p:txBody>
      </p:sp>
      <p:sp>
        <p:nvSpPr>
          <p:cNvPr id="13" name="TextBox 12"/>
          <p:cNvSpPr txBox="1"/>
          <p:nvPr/>
        </p:nvSpPr>
        <p:spPr>
          <a:xfrm>
            <a:off x="7696200" y="1711325"/>
            <a:ext cx="1344116" cy="209550"/>
          </a:xfrm>
          <a:prstGeom prst="rect">
            <a:avLst/>
          </a:prstGeom>
          <a:noFill/>
        </p:spPr>
        <p:txBody>
          <a:bodyPr wrap="square" lIns="0" rIns="0" tIns="0" bIns="0">
            <a:spAutoFit/>
          </a:bodyPr>
          <a:lstStyle/>
          <a:p>
            <a:r>
              <a:rPr sz="2250" b="1" i="0">
                <a:solidFill>
                  <a:srgbClr val="111111"/>
                </a:solidFill>
                <a:latin typeface="Impact"/>
              </a:rPr>
              <a:t>BRANDON XIV</a:t>
            </a:r>
          </a:p>
        </p:txBody>
      </p:sp>
      <p:sp>
        <p:nvSpPr>
          <p:cNvPr id="14" name="TextBox 13"/>
          <p:cNvSpPr txBox="1"/>
          <p:nvPr/>
        </p:nvSpPr>
        <p:spPr>
          <a:xfrm>
            <a:off x="7696200" y="1978025"/>
            <a:ext cx="2914352" cy="95250"/>
          </a:xfrm>
          <a:prstGeom prst="rect">
            <a:avLst/>
          </a:prstGeom>
          <a:noFill/>
        </p:spPr>
        <p:txBody>
          <a:bodyPr wrap="square" lIns="0" rIns="0" tIns="0" bIns="0">
            <a:spAutoFit/>
          </a:bodyPr>
          <a:lstStyle/>
          <a:p>
            <a:r>
              <a:rPr sz="975" b="1" i="0">
                <a:solidFill>
                  <a:srgbClr val="C9242A"/>
                </a:solidFill>
                <a:latin typeface="Arial"/>
              </a:rPr>
              <a:t>LEAD PRODUCER · CREATIVE TECHNOLOGIST</a:t>
            </a:r>
          </a:p>
        </p:txBody>
      </p:sp>
      <p:sp>
        <p:nvSpPr>
          <p:cNvPr id="15" name="TextBox 14"/>
          <p:cNvSpPr txBox="1"/>
          <p:nvPr/>
        </p:nvSpPr>
        <p:spPr>
          <a:xfrm>
            <a:off x="762000" y="3527425"/>
            <a:ext cx="1321991" cy="209550"/>
          </a:xfrm>
          <a:prstGeom prst="rect">
            <a:avLst/>
          </a:prstGeom>
          <a:noFill/>
        </p:spPr>
        <p:txBody>
          <a:bodyPr wrap="square" lIns="0" rIns="0" tIns="0" bIns="0">
            <a:spAutoFit/>
          </a:bodyPr>
          <a:lstStyle/>
          <a:p>
            <a:r>
              <a:rPr sz="2250" b="1" i="0">
                <a:solidFill>
                  <a:srgbClr val="111111"/>
                </a:solidFill>
                <a:latin typeface="Impact"/>
              </a:rPr>
              <a:t>SHANE SNOW</a:t>
            </a:r>
          </a:p>
        </p:txBody>
      </p:sp>
      <p:sp>
        <p:nvSpPr>
          <p:cNvPr id="16" name="TextBox 15"/>
          <p:cNvSpPr txBox="1"/>
          <p:nvPr/>
        </p:nvSpPr>
        <p:spPr>
          <a:xfrm>
            <a:off x="8077200" y="3527425"/>
            <a:ext cx="1238151" cy="209550"/>
          </a:xfrm>
          <a:prstGeom prst="rect">
            <a:avLst/>
          </a:prstGeom>
          <a:noFill/>
        </p:spPr>
        <p:txBody>
          <a:bodyPr wrap="square" lIns="0" rIns="0" tIns="0" bIns="0">
            <a:spAutoFit/>
          </a:bodyPr>
          <a:lstStyle/>
          <a:p>
            <a:r>
              <a:rPr sz="2250" b="1" i="0">
                <a:solidFill>
                  <a:srgbClr val="111111"/>
                </a:solidFill>
                <a:latin typeface="Impact"/>
              </a:rPr>
              <a:t>ROB O’NEILL</a:t>
            </a:r>
          </a:p>
        </p:txBody>
      </p:sp>
      <p:sp>
        <p:nvSpPr>
          <p:cNvPr id="17" name="TextBox 16"/>
          <p:cNvSpPr txBox="1"/>
          <p:nvPr/>
        </p:nvSpPr>
        <p:spPr>
          <a:xfrm>
            <a:off x="762000" y="508000"/>
            <a:ext cx="1540470" cy="158750"/>
          </a:xfrm>
          <a:prstGeom prst="rect">
            <a:avLst/>
          </a:prstGeom>
          <a:noFill/>
        </p:spPr>
        <p:txBody>
          <a:bodyPr wrap="square" lIns="0" rIns="0" tIns="0" bIns="0">
            <a:spAutoFit/>
          </a:bodyPr>
          <a:lstStyle/>
          <a:p>
            <a:r>
              <a:rPr sz="1650" b="1" i="0">
                <a:solidFill>
                  <a:srgbClr val="C9242A"/>
                </a:solidFill>
                <a:latin typeface="Impact"/>
              </a:rPr>
              <a:t>MEET THE TEAM</a:t>
            </a:r>
          </a:p>
        </p:txBody>
      </p:sp>
      <p:sp>
        <p:nvSpPr>
          <p:cNvPr id="18" name="TextBox 17"/>
          <p:cNvSpPr txBox="1"/>
          <p:nvPr/>
        </p:nvSpPr>
        <p:spPr>
          <a:xfrm>
            <a:off x="762000" y="3794125"/>
            <a:ext cx="2373213" cy="95250"/>
          </a:xfrm>
          <a:prstGeom prst="rect">
            <a:avLst/>
          </a:prstGeom>
          <a:noFill/>
        </p:spPr>
        <p:txBody>
          <a:bodyPr wrap="square" lIns="0" rIns="0" tIns="0" bIns="0">
            <a:spAutoFit/>
          </a:bodyPr>
          <a:lstStyle/>
          <a:p>
            <a:r>
              <a:rPr sz="975" b="1" i="0">
                <a:solidFill>
                  <a:srgbClr val="C9242A"/>
                </a:solidFill>
                <a:latin typeface="Arial"/>
              </a:rPr>
              <a:t>PRODUCER · JOURNALIST &amp; AUTHOR</a:t>
            </a:r>
          </a:p>
        </p:txBody>
      </p:sp>
      <p:sp>
        <p:nvSpPr>
          <p:cNvPr id="19" name="TextBox 18"/>
          <p:cNvSpPr txBox="1"/>
          <p:nvPr/>
        </p:nvSpPr>
        <p:spPr>
          <a:xfrm>
            <a:off x="8077200" y="3794125"/>
            <a:ext cx="2208014" cy="95250"/>
          </a:xfrm>
          <a:prstGeom prst="rect">
            <a:avLst/>
          </a:prstGeom>
          <a:noFill/>
        </p:spPr>
        <p:txBody>
          <a:bodyPr wrap="square" lIns="0" rIns="0" tIns="0" bIns="0">
            <a:spAutoFit/>
          </a:bodyPr>
          <a:lstStyle/>
          <a:p>
            <a:r>
              <a:rPr sz="975" b="1" i="0">
                <a:solidFill>
                  <a:srgbClr val="C9242A"/>
                </a:solidFill>
                <a:latin typeface="Arial"/>
              </a:rPr>
              <a:t>PRODUCER · PARAMOUNT GLOBAL</a:t>
            </a:r>
          </a:p>
        </p:txBody>
      </p:sp>
      <p:sp>
        <p:nvSpPr>
          <p:cNvPr id="20" name="TextBox 19"/>
          <p:cNvSpPr txBox="1"/>
          <p:nvPr/>
        </p:nvSpPr>
        <p:spPr>
          <a:xfrm>
            <a:off x="987227" y="2235200"/>
            <a:ext cx="819448" cy="187325"/>
          </a:xfrm>
          <a:prstGeom prst="rect">
            <a:avLst/>
          </a:prstGeom>
          <a:noFill/>
        </p:spPr>
        <p:txBody>
          <a:bodyPr wrap="square" lIns="0" rIns="0" tIns="0" bIns="0">
            <a:spAutoFit/>
          </a:bodyPr>
          <a:lstStyle/>
          <a:p>
            <a:pPr algn="ctr"/>
            <a:r>
              <a:rPr sz="825" b="0" i="0">
                <a:solidFill>
                  <a:srgbClr val="111111"/>
                </a:solidFill>
                <a:latin typeface="ui-monospace"/>
              </a:rPr>
              <a:t>PHOTO DIANE LUBY LANE</a:t>
            </a:r>
          </a:p>
        </p:txBody>
      </p:sp>
      <p:sp>
        <p:nvSpPr>
          <p:cNvPr id="21" name="TextBox 20"/>
          <p:cNvSpPr txBox="1"/>
          <p:nvPr/>
        </p:nvSpPr>
        <p:spPr>
          <a:xfrm>
            <a:off x="4419600" y="3794125"/>
            <a:ext cx="1459508" cy="95250"/>
          </a:xfrm>
          <a:prstGeom prst="rect">
            <a:avLst/>
          </a:prstGeom>
          <a:noFill/>
        </p:spPr>
        <p:txBody>
          <a:bodyPr wrap="square" lIns="0" rIns="0" tIns="0" bIns="0">
            <a:spAutoFit/>
          </a:bodyPr>
          <a:lstStyle/>
          <a:p>
            <a:r>
              <a:rPr sz="975" b="1" i="0">
                <a:solidFill>
                  <a:srgbClr val="C9242A"/>
                </a:solidFill>
                <a:latin typeface="Arial"/>
              </a:rPr>
              <a:t>PRODUCER · ARTIVIST</a:t>
            </a:r>
          </a:p>
        </p:txBody>
      </p:sp>
      <p:sp>
        <p:nvSpPr>
          <p:cNvPr id="22" name="TextBox 21"/>
          <p:cNvSpPr txBox="1"/>
          <p:nvPr/>
        </p:nvSpPr>
        <p:spPr>
          <a:xfrm>
            <a:off x="6582866" y="2235200"/>
            <a:ext cx="600968" cy="187325"/>
          </a:xfrm>
          <a:prstGeom prst="rect">
            <a:avLst/>
          </a:prstGeom>
          <a:noFill/>
        </p:spPr>
        <p:txBody>
          <a:bodyPr wrap="square" lIns="0" rIns="0" tIns="0" bIns="0">
            <a:spAutoFit/>
          </a:bodyPr>
          <a:lstStyle/>
          <a:p>
            <a:pPr algn="ctr"/>
            <a:r>
              <a:rPr sz="825" b="0" i="0">
                <a:solidFill>
                  <a:srgbClr val="111111"/>
                </a:solidFill>
                <a:latin typeface="ui-monospace"/>
              </a:rPr>
              <a:t>PHOTO BRANDON XIV</a:t>
            </a:r>
          </a:p>
        </p:txBody>
      </p:sp>
      <p:sp>
        <p:nvSpPr>
          <p:cNvPr id="23" name="TextBox 22"/>
          <p:cNvSpPr txBox="1"/>
          <p:nvPr/>
        </p:nvSpPr>
        <p:spPr>
          <a:xfrm>
            <a:off x="10990163" y="6489700"/>
            <a:ext cx="693837" cy="88900"/>
          </a:xfrm>
          <a:prstGeom prst="rect">
            <a:avLst/>
          </a:prstGeom>
          <a:noFill/>
        </p:spPr>
        <p:txBody>
          <a:bodyPr wrap="square" lIns="0" rIns="0" tIns="0" bIns="0">
            <a:spAutoFit/>
          </a:bodyPr>
          <a:lstStyle/>
          <a:p>
            <a:r>
              <a:rPr sz="900" b="0" i="0">
                <a:solidFill>
                  <a:srgbClr val="111111"/>
                </a:solidFill>
                <a:latin typeface="Arial"/>
              </a:rPr>
              <a:t>15 TEAM</a:t>
            </a:r>
          </a:p>
        </p:txBody>
      </p:sp>
      <p:sp>
        <p:nvSpPr>
          <p:cNvPr id="24" name="TextBox 23"/>
          <p:cNvSpPr txBox="1"/>
          <p:nvPr/>
        </p:nvSpPr>
        <p:spPr>
          <a:xfrm>
            <a:off x="508000" y="6489700"/>
            <a:ext cx="689967" cy="88900"/>
          </a:xfrm>
          <a:prstGeom prst="rect">
            <a:avLst/>
          </a:prstGeom>
          <a:noFill/>
        </p:spPr>
        <p:txBody>
          <a:bodyPr wrap="square" lIns="0" rIns="0" tIns="0" bIns="0">
            <a:spAutoFit/>
          </a:bodyPr>
          <a:lstStyle/>
          <a:p>
            <a:r>
              <a:rPr sz="900" b="0" i="0">
                <a:solidFill>
                  <a:srgbClr val="111111"/>
                </a:solidFill>
                <a:latin typeface="Arial"/>
              </a:rPr>
              <a:t>LEADERSHIP</a:t>
            </a:r>
          </a:p>
        </p:txBody>
      </p:sp>
      <p:sp>
        <p:nvSpPr>
          <p:cNvPr id="25" name="Rectangle 24"/>
          <p:cNvSpPr/>
          <p:nvPr/>
        </p:nvSpPr>
        <p:spPr>
          <a:xfrm>
            <a:off x="11238905" y="6511925"/>
            <a:ext cx="38100" cy="38100"/>
          </a:xfrm>
          <a:prstGeom prst="rect">
            <a:avLst/>
          </a:prstGeom>
          <a:solidFill>
            <a:srgbClr val="C924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EFE6"/>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508000" y="444500"/>
            <a:ext cx="5410200" cy="2540000"/>
          </a:xfrm>
          <a:prstGeom prst="rect">
            <a:avLst/>
          </a:prstGeom>
        </p:spPr>
      </p:pic>
      <p:sp>
        <p:nvSpPr>
          <p:cNvPr id="3" name="Rectangle 2"/>
          <p:cNvSpPr/>
          <p:nvPr/>
        </p:nvSpPr>
        <p:spPr>
          <a:xfrm>
            <a:off x="508000" y="444500"/>
            <a:ext cx="5410200" cy="2540000"/>
          </a:xfrm>
          <a:prstGeom prst="rect">
            <a:avLst/>
          </a:prstGeom>
          <a:solidFill>
            <a:srgbClr val="F4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273800" y="444500"/>
            <a:ext cx="5410200" cy="2540000"/>
          </a:xfrm>
          <a:prstGeom prst="rect">
            <a:avLst/>
          </a:prstGeom>
          <a:solidFill>
            <a:srgbClr val="F4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73800" y="3416300"/>
            <a:ext cx="2217142" cy="843260"/>
          </a:xfrm>
          <a:prstGeom prst="rect">
            <a:avLst/>
          </a:prstGeom>
          <a:noFill/>
        </p:spPr>
        <p:txBody>
          <a:bodyPr wrap="square" lIns="0" rIns="0" tIns="0" bIns="0">
            <a:spAutoFit/>
          </a:bodyPr>
          <a:lstStyle/>
          <a:p>
            <a:r>
              <a:rPr sz="4800" b="1" i="0">
                <a:solidFill>
                  <a:srgbClr val="111111"/>
                </a:solidFill>
                <a:latin typeface="Impact"/>
              </a:rPr>
              <a:t>MARK CHINAPEN.</a:t>
            </a:r>
          </a:p>
        </p:txBody>
      </p:sp>
      <p:sp>
        <p:nvSpPr>
          <p:cNvPr id="6" name="TextBox 5"/>
          <p:cNvSpPr txBox="1"/>
          <p:nvPr/>
        </p:nvSpPr>
        <p:spPr>
          <a:xfrm>
            <a:off x="508000" y="3416300"/>
            <a:ext cx="2126853" cy="843260"/>
          </a:xfrm>
          <a:prstGeom prst="rect">
            <a:avLst/>
          </a:prstGeom>
          <a:noFill/>
        </p:spPr>
        <p:txBody>
          <a:bodyPr wrap="square" lIns="0" rIns="0" tIns="0" bIns="0">
            <a:spAutoFit/>
          </a:bodyPr>
          <a:lstStyle/>
          <a:p>
            <a:r>
              <a:rPr sz="4800" b="1" i="0">
                <a:solidFill>
                  <a:srgbClr val="111111"/>
                </a:solidFill>
                <a:latin typeface="Impact"/>
              </a:rPr>
              <a:t>ANDREW SCOVILLE.</a:t>
            </a:r>
          </a:p>
        </p:txBody>
      </p:sp>
      <p:sp>
        <p:nvSpPr>
          <p:cNvPr id="7" name="TextBox 6"/>
          <p:cNvSpPr txBox="1"/>
          <p:nvPr/>
        </p:nvSpPr>
        <p:spPr>
          <a:xfrm>
            <a:off x="7658100" y="6241455"/>
            <a:ext cx="2752527" cy="133350"/>
          </a:xfrm>
          <a:prstGeom prst="rect">
            <a:avLst/>
          </a:prstGeom>
          <a:noFill/>
        </p:spPr>
        <p:txBody>
          <a:bodyPr wrap="square" lIns="0" rIns="0" tIns="0" bIns="0">
            <a:spAutoFit/>
          </a:bodyPr>
          <a:lstStyle/>
          <a:p>
            <a:r>
              <a:rPr sz="1425" b="1" i="0">
                <a:solidFill>
                  <a:srgbClr val="111111"/>
                </a:solidFill>
                <a:latin typeface="Impact"/>
              </a:rPr>
              <a:t>FULL-SCALE OPERATIONS · NORTH AMERICA</a:t>
            </a:r>
          </a:p>
        </p:txBody>
      </p:sp>
      <p:sp>
        <p:nvSpPr>
          <p:cNvPr id="8" name="TextBox 7"/>
          <p:cNvSpPr txBox="1"/>
          <p:nvPr/>
        </p:nvSpPr>
        <p:spPr>
          <a:xfrm>
            <a:off x="508000" y="6489700"/>
            <a:ext cx="3908425" cy="88900"/>
          </a:xfrm>
          <a:prstGeom prst="rect">
            <a:avLst/>
          </a:prstGeom>
          <a:noFill/>
        </p:spPr>
        <p:txBody>
          <a:bodyPr wrap="square" lIns="0" rIns="0" tIns="0" bIns="0">
            <a:spAutoFit/>
          </a:bodyPr>
          <a:lstStyle/>
          <a:p>
            <a:r>
              <a:rPr sz="900" b="0" i="0">
                <a:solidFill>
                  <a:srgbClr val="111111"/>
                </a:solidFill>
                <a:latin typeface="Arial"/>
              </a:rPr>
              <a:t>DIRECTOR &amp; GENERAL MANAGER · HIRED FOR THE PERMANENT HOME</a:t>
            </a:r>
          </a:p>
        </p:txBody>
      </p:sp>
      <p:sp>
        <p:nvSpPr>
          <p:cNvPr id="9" name="TextBox 8"/>
          <p:cNvSpPr txBox="1"/>
          <p:nvPr/>
        </p:nvSpPr>
        <p:spPr>
          <a:xfrm>
            <a:off x="6273800" y="4378920"/>
            <a:ext cx="2471539" cy="139700"/>
          </a:xfrm>
          <a:prstGeom prst="rect">
            <a:avLst/>
          </a:prstGeom>
          <a:noFill/>
        </p:spPr>
        <p:txBody>
          <a:bodyPr wrap="square" lIns="0" rIns="0" tIns="0" bIns="0">
            <a:spAutoFit/>
          </a:bodyPr>
          <a:lstStyle/>
          <a:p>
            <a:r>
              <a:rPr sz="1500" b="0" i="1">
                <a:solidFill>
                  <a:srgbClr val="111111"/>
                </a:solidFill>
                <a:latin typeface="Playfair Display"/>
              </a:rPr>
              <a:t>Large-scale live production, built room by room.</a:t>
            </a:r>
          </a:p>
        </p:txBody>
      </p:sp>
      <p:sp>
        <p:nvSpPr>
          <p:cNvPr id="10" name="TextBox 9"/>
          <p:cNvSpPr txBox="1"/>
          <p:nvPr/>
        </p:nvSpPr>
        <p:spPr>
          <a:xfrm>
            <a:off x="1892300" y="6411912"/>
            <a:ext cx="2730996" cy="120650"/>
          </a:xfrm>
          <a:prstGeom prst="rect">
            <a:avLst/>
          </a:prstGeom>
          <a:noFill/>
        </p:spPr>
        <p:txBody>
          <a:bodyPr wrap="square" lIns="0" rIns="0" tIns="0" bIns="0">
            <a:spAutoFit/>
          </a:bodyPr>
          <a:lstStyle/>
          <a:p>
            <a:r>
              <a:rPr sz="1200" b="0" i="0">
                <a:solidFill>
                  <a:srgbClr val="111111"/>
                </a:solidFill>
                <a:latin typeface="Arial"/>
              </a:rPr>
              <a:t>Hybrid-genre production for permanent-home venues</a:t>
            </a:r>
          </a:p>
        </p:txBody>
      </p:sp>
      <p:sp>
        <p:nvSpPr>
          <p:cNvPr id="11" name="TextBox 10"/>
          <p:cNvSpPr txBox="1"/>
          <p:nvPr/>
        </p:nvSpPr>
        <p:spPr>
          <a:xfrm>
            <a:off x="7658100" y="5857677"/>
            <a:ext cx="2165152" cy="133350"/>
          </a:xfrm>
          <a:prstGeom prst="rect">
            <a:avLst/>
          </a:prstGeom>
          <a:noFill/>
        </p:spPr>
        <p:txBody>
          <a:bodyPr wrap="square" lIns="0" rIns="0" tIns="0" bIns="0">
            <a:spAutoFit/>
          </a:bodyPr>
          <a:lstStyle/>
          <a:p>
            <a:r>
              <a:rPr sz="1425" b="1" i="0">
                <a:solidFill>
                  <a:srgbClr val="111111"/>
                </a:solidFill>
                <a:latin typeface="Impact"/>
              </a:rPr>
              <a:t>THE GRAMMYS · WORLD OF DANCE</a:t>
            </a:r>
          </a:p>
        </p:txBody>
      </p:sp>
      <p:sp>
        <p:nvSpPr>
          <p:cNvPr id="12" name="TextBox 11"/>
          <p:cNvSpPr txBox="1"/>
          <p:nvPr/>
        </p:nvSpPr>
        <p:spPr>
          <a:xfrm>
            <a:off x="1892300" y="6241455"/>
            <a:ext cx="2139355" cy="133350"/>
          </a:xfrm>
          <a:prstGeom prst="rect">
            <a:avLst/>
          </a:prstGeom>
          <a:noFill/>
        </p:spPr>
        <p:txBody>
          <a:bodyPr wrap="square" lIns="0" rIns="0" tIns="0" bIns="0">
            <a:spAutoFit/>
          </a:bodyPr>
          <a:lstStyle/>
          <a:p>
            <a:r>
              <a:rPr sz="1425" b="1" i="0">
                <a:solidFill>
                  <a:srgbClr val="111111"/>
                </a:solidFill>
                <a:latin typeface="Impact"/>
              </a:rPr>
              <a:t>MULTI-ROOM · AUDIENCE-ON-FOOT</a:t>
            </a:r>
          </a:p>
        </p:txBody>
      </p:sp>
      <p:sp>
        <p:nvSpPr>
          <p:cNvPr id="13" name="TextBox 12"/>
          <p:cNvSpPr txBox="1"/>
          <p:nvPr/>
        </p:nvSpPr>
        <p:spPr>
          <a:xfrm>
            <a:off x="7658100" y="6028134"/>
            <a:ext cx="2201069" cy="120650"/>
          </a:xfrm>
          <a:prstGeom prst="rect">
            <a:avLst/>
          </a:prstGeom>
          <a:noFill/>
        </p:spPr>
        <p:txBody>
          <a:bodyPr wrap="square" lIns="0" rIns="0" tIns="0" bIns="0">
            <a:spAutoFit/>
          </a:bodyPr>
          <a:lstStyle/>
          <a:p>
            <a:r>
              <a:rPr sz="1200" b="0" i="0">
                <a:solidFill>
                  <a:srgbClr val="111111"/>
                </a:solidFill>
                <a:latin typeface="Arial"/>
              </a:rPr>
              <a:t>Custom staging, audio, lighting, fabrication</a:t>
            </a:r>
          </a:p>
        </p:txBody>
      </p:sp>
      <p:sp>
        <p:nvSpPr>
          <p:cNvPr id="14" name="TextBox 13"/>
          <p:cNvSpPr txBox="1"/>
          <p:nvPr/>
        </p:nvSpPr>
        <p:spPr>
          <a:xfrm>
            <a:off x="508000" y="4378920"/>
            <a:ext cx="1884859" cy="139700"/>
          </a:xfrm>
          <a:prstGeom prst="rect">
            <a:avLst/>
          </a:prstGeom>
          <a:noFill/>
        </p:spPr>
        <p:txBody>
          <a:bodyPr wrap="square" lIns="0" rIns="0" tIns="0" bIns="0">
            <a:spAutoFit/>
          </a:bodyPr>
          <a:lstStyle/>
          <a:p>
            <a:r>
              <a:rPr sz="1500" b="0" i="1">
                <a:solidFill>
                  <a:srgbClr val="111111"/>
                </a:solidFill>
                <a:latin typeface="Playfair Display"/>
              </a:rPr>
              <a:t>Immersive work, built room by room.</a:t>
            </a:r>
          </a:p>
        </p:txBody>
      </p:sp>
      <p:sp>
        <p:nvSpPr>
          <p:cNvPr id="15" name="TextBox 14"/>
          <p:cNvSpPr txBox="1"/>
          <p:nvPr/>
        </p:nvSpPr>
        <p:spPr>
          <a:xfrm>
            <a:off x="1892300" y="5857677"/>
            <a:ext cx="1974552" cy="133350"/>
          </a:xfrm>
          <a:prstGeom prst="rect">
            <a:avLst/>
          </a:prstGeom>
          <a:noFill/>
        </p:spPr>
        <p:txBody>
          <a:bodyPr wrap="square" lIns="0" rIns="0" tIns="0" bIns="0">
            <a:spAutoFit/>
          </a:bodyPr>
          <a:lstStyle/>
          <a:p>
            <a:r>
              <a:rPr sz="1425" b="1" i="0">
                <a:solidFill>
                  <a:srgbClr val="111111"/>
                </a:solidFill>
                <a:latin typeface="Impact"/>
              </a:rPr>
              <a:t>MONEY HEIST: THE EXPERIENCE</a:t>
            </a:r>
          </a:p>
        </p:txBody>
      </p:sp>
      <p:sp>
        <p:nvSpPr>
          <p:cNvPr id="16" name="TextBox 15"/>
          <p:cNvSpPr txBox="1"/>
          <p:nvPr/>
        </p:nvSpPr>
        <p:spPr>
          <a:xfrm>
            <a:off x="7658100" y="5644356"/>
            <a:ext cx="2127151" cy="120650"/>
          </a:xfrm>
          <a:prstGeom prst="rect">
            <a:avLst/>
          </a:prstGeom>
          <a:noFill/>
        </p:spPr>
        <p:txBody>
          <a:bodyPr wrap="square" lIns="0" rIns="0" tIns="0" bIns="0">
            <a:spAutoFit/>
          </a:bodyPr>
          <a:lstStyle/>
          <a:p>
            <a:r>
              <a:rPr sz="1200" b="0" i="0">
                <a:solidFill>
                  <a:srgbClr val="111111"/>
                </a:solidFill>
                <a:latin typeface="Arial"/>
              </a:rPr>
              <a:t>Multi-stage activations &amp; artist hospitality</a:t>
            </a:r>
          </a:p>
        </p:txBody>
      </p:sp>
      <p:sp>
        <p:nvSpPr>
          <p:cNvPr id="17" name="TextBox 16"/>
          <p:cNvSpPr txBox="1"/>
          <p:nvPr/>
        </p:nvSpPr>
        <p:spPr>
          <a:xfrm>
            <a:off x="7658100" y="6411912"/>
            <a:ext cx="2093416" cy="120650"/>
          </a:xfrm>
          <a:prstGeom prst="rect">
            <a:avLst/>
          </a:prstGeom>
          <a:noFill/>
        </p:spPr>
        <p:txBody>
          <a:bodyPr wrap="square" lIns="0" rIns="0" tIns="0" bIns="0">
            <a:spAutoFit/>
          </a:bodyPr>
          <a:lstStyle/>
          <a:p>
            <a:r>
              <a:rPr sz="1200" b="0" i="0">
                <a:solidFill>
                  <a:srgbClr val="111111"/>
                </a:solidFill>
                <a:latin typeface="Arial"/>
              </a:rPr>
              <a:t>Private dinners to Super Bowl activations</a:t>
            </a:r>
          </a:p>
        </p:txBody>
      </p:sp>
      <p:sp>
        <p:nvSpPr>
          <p:cNvPr id="18" name="TextBox 17"/>
          <p:cNvSpPr txBox="1"/>
          <p:nvPr/>
        </p:nvSpPr>
        <p:spPr>
          <a:xfrm>
            <a:off x="7658100" y="5260578"/>
            <a:ext cx="2085380" cy="120650"/>
          </a:xfrm>
          <a:prstGeom prst="rect">
            <a:avLst/>
          </a:prstGeom>
          <a:noFill/>
        </p:spPr>
        <p:txBody>
          <a:bodyPr wrap="square" lIns="0" rIns="0" tIns="0" bIns="0">
            <a:spAutoFit/>
          </a:bodyPr>
          <a:lstStyle/>
          <a:p>
            <a:r>
              <a:rPr sz="1200" b="0" i="0">
                <a:solidFill>
                  <a:srgbClr val="111111"/>
                </a:solidFill>
                <a:latin typeface="Arial"/>
              </a:rPr>
              <a:t>LA-based live-event production company</a:t>
            </a:r>
          </a:p>
        </p:txBody>
      </p:sp>
      <p:sp>
        <p:nvSpPr>
          <p:cNvPr id="19" name="TextBox 18"/>
          <p:cNvSpPr txBox="1"/>
          <p:nvPr/>
        </p:nvSpPr>
        <p:spPr>
          <a:xfrm>
            <a:off x="7658100" y="5473898"/>
            <a:ext cx="1735733" cy="133350"/>
          </a:xfrm>
          <a:prstGeom prst="rect">
            <a:avLst/>
          </a:prstGeom>
          <a:noFill/>
        </p:spPr>
        <p:txBody>
          <a:bodyPr wrap="square" lIns="0" rIns="0" tIns="0" bIns="0">
            <a:spAutoFit/>
          </a:bodyPr>
          <a:lstStyle/>
          <a:p>
            <a:r>
              <a:rPr sz="1425" b="1" i="0">
                <a:solidFill>
                  <a:srgbClr val="111111"/>
                </a:solidFill>
                <a:latin typeface="Impact"/>
              </a:rPr>
              <a:t>COACHELLA · STAGECOACH</a:t>
            </a:r>
          </a:p>
        </p:txBody>
      </p:sp>
      <p:sp>
        <p:nvSpPr>
          <p:cNvPr id="20" name="TextBox 19"/>
          <p:cNvSpPr txBox="1"/>
          <p:nvPr/>
        </p:nvSpPr>
        <p:spPr>
          <a:xfrm>
            <a:off x="1892300" y="5260578"/>
            <a:ext cx="1869579" cy="120650"/>
          </a:xfrm>
          <a:prstGeom prst="rect">
            <a:avLst/>
          </a:prstGeom>
          <a:noFill/>
        </p:spPr>
        <p:txBody>
          <a:bodyPr wrap="square" lIns="0" rIns="0" tIns="0" bIns="0">
            <a:spAutoFit/>
          </a:bodyPr>
          <a:lstStyle/>
          <a:p>
            <a:r>
              <a:rPr sz="1200" b="0" i="0">
                <a:solidFill>
                  <a:srgbClr val="111111"/>
                </a:solidFill>
                <a:latin typeface="Arial"/>
              </a:rPr>
              <a:t>David Byrne · The Broadway Theatre</a:t>
            </a:r>
          </a:p>
        </p:txBody>
      </p:sp>
      <p:sp>
        <p:nvSpPr>
          <p:cNvPr id="21" name="TextBox 20"/>
          <p:cNvSpPr txBox="1"/>
          <p:nvPr/>
        </p:nvSpPr>
        <p:spPr>
          <a:xfrm>
            <a:off x="1892300" y="5644356"/>
            <a:ext cx="1837829" cy="120650"/>
          </a:xfrm>
          <a:prstGeom prst="rect">
            <a:avLst/>
          </a:prstGeom>
          <a:noFill/>
        </p:spPr>
        <p:txBody>
          <a:bodyPr wrap="square" lIns="0" rIns="0" tIns="0" bIns="0">
            <a:spAutoFit/>
          </a:bodyPr>
          <a:lstStyle/>
          <a:p>
            <a:r>
              <a:rPr sz="1200" b="0" i="0">
                <a:solidFill>
                  <a:srgbClr val="111111"/>
                </a:solidFill>
                <a:latin typeface="Arial"/>
              </a:rPr>
              <a:t>David Byrne &amp; Mala Gaonkar · DCPA</a:t>
            </a:r>
          </a:p>
        </p:txBody>
      </p:sp>
      <p:sp>
        <p:nvSpPr>
          <p:cNvPr id="22" name="TextBox 21"/>
          <p:cNvSpPr txBox="1"/>
          <p:nvPr/>
        </p:nvSpPr>
        <p:spPr>
          <a:xfrm>
            <a:off x="508000" y="5134570"/>
            <a:ext cx="1263154" cy="173335"/>
          </a:xfrm>
          <a:prstGeom prst="rect">
            <a:avLst/>
          </a:prstGeom>
          <a:noFill/>
        </p:spPr>
        <p:txBody>
          <a:bodyPr wrap="square" lIns="0" rIns="0" tIns="0" bIns="0">
            <a:spAutoFit/>
          </a:bodyPr>
          <a:lstStyle/>
          <a:p>
            <a:r>
              <a:rPr sz="825" b="1" i="0">
                <a:solidFill>
                  <a:srgbClr val="111111"/>
                </a:solidFill>
                <a:latin typeface="Arial"/>
              </a:rPr>
              <a:t>BROADWAY · ASSOCIATE DIRECTOR</a:t>
            </a:r>
          </a:p>
        </p:txBody>
      </p:sp>
      <p:sp>
        <p:nvSpPr>
          <p:cNvPr id="23" name="TextBox 22"/>
          <p:cNvSpPr txBox="1"/>
          <p:nvPr/>
        </p:nvSpPr>
        <p:spPr>
          <a:xfrm>
            <a:off x="8548489" y="1595140"/>
            <a:ext cx="860723" cy="227310"/>
          </a:xfrm>
          <a:prstGeom prst="rect">
            <a:avLst/>
          </a:prstGeom>
          <a:noFill/>
        </p:spPr>
        <p:txBody>
          <a:bodyPr wrap="square" lIns="0" rIns="0" tIns="0" bIns="0">
            <a:spAutoFit/>
          </a:bodyPr>
          <a:lstStyle/>
          <a:p>
            <a:pPr algn="ctr"/>
            <a:r>
              <a:rPr sz="975" b="0" i="0">
                <a:solidFill>
                  <a:srgbClr val="111111"/>
                </a:solidFill>
                <a:latin typeface="ui-monospace"/>
              </a:rPr>
              <a:t>PHOTO MARK CHINAPEN</a:t>
            </a:r>
          </a:p>
        </p:txBody>
      </p:sp>
      <p:sp>
        <p:nvSpPr>
          <p:cNvPr id="24" name="TextBox 23"/>
          <p:cNvSpPr txBox="1"/>
          <p:nvPr/>
        </p:nvSpPr>
        <p:spPr>
          <a:xfrm>
            <a:off x="1892300" y="5473898"/>
            <a:ext cx="1401465" cy="133350"/>
          </a:xfrm>
          <a:prstGeom prst="rect">
            <a:avLst/>
          </a:prstGeom>
          <a:noFill/>
        </p:spPr>
        <p:txBody>
          <a:bodyPr wrap="square" lIns="0" rIns="0" tIns="0" bIns="0">
            <a:spAutoFit/>
          </a:bodyPr>
          <a:lstStyle/>
          <a:p>
            <a:r>
              <a:rPr sz="1425" b="1" i="0">
                <a:solidFill>
                  <a:srgbClr val="111111"/>
                </a:solidFill>
                <a:latin typeface="Impact"/>
              </a:rPr>
              <a:t>THEATER OF THE MIND</a:t>
            </a:r>
          </a:p>
        </p:txBody>
      </p:sp>
      <p:sp>
        <p:nvSpPr>
          <p:cNvPr id="25" name="TextBox 24"/>
          <p:cNvSpPr txBox="1"/>
          <p:nvPr/>
        </p:nvSpPr>
        <p:spPr>
          <a:xfrm>
            <a:off x="1892300" y="6028134"/>
            <a:ext cx="1481038" cy="120650"/>
          </a:xfrm>
          <a:prstGeom prst="rect">
            <a:avLst/>
          </a:prstGeom>
          <a:noFill/>
        </p:spPr>
        <p:txBody>
          <a:bodyPr wrap="square" lIns="0" rIns="0" tIns="0" bIns="0">
            <a:spAutoFit/>
          </a:bodyPr>
          <a:lstStyle/>
          <a:p>
            <a:r>
              <a:rPr sz="1200" b="0" i="0">
                <a:solidFill>
                  <a:srgbClr val="111111"/>
                </a:solidFill>
                <a:latin typeface="Arial"/>
              </a:rPr>
              <a:t>Netflix · Immersive theatrical</a:t>
            </a:r>
          </a:p>
        </p:txBody>
      </p:sp>
      <p:sp>
        <p:nvSpPr>
          <p:cNvPr id="26" name="TextBox 25"/>
          <p:cNvSpPr txBox="1"/>
          <p:nvPr/>
        </p:nvSpPr>
        <p:spPr>
          <a:xfrm>
            <a:off x="508000" y="5902127"/>
            <a:ext cx="900212" cy="173335"/>
          </a:xfrm>
          <a:prstGeom prst="rect">
            <a:avLst/>
          </a:prstGeom>
          <a:noFill/>
        </p:spPr>
        <p:txBody>
          <a:bodyPr wrap="square" lIns="0" rIns="0" tIns="0" bIns="0">
            <a:spAutoFit/>
          </a:bodyPr>
          <a:lstStyle/>
          <a:p>
            <a:r>
              <a:rPr sz="825" b="1" i="0">
                <a:solidFill>
                  <a:srgbClr val="111111"/>
                </a:solidFill>
                <a:latin typeface="Arial"/>
              </a:rPr>
              <a:t>LOCATION-BASED DIRECTOR</a:t>
            </a:r>
          </a:p>
        </p:txBody>
      </p:sp>
      <p:sp>
        <p:nvSpPr>
          <p:cNvPr id="27" name="TextBox 26"/>
          <p:cNvSpPr txBox="1"/>
          <p:nvPr/>
        </p:nvSpPr>
        <p:spPr>
          <a:xfrm>
            <a:off x="7658100" y="5090120"/>
            <a:ext cx="1100733" cy="133350"/>
          </a:xfrm>
          <a:prstGeom prst="rect">
            <a:avLst/>
          </a:prstGeom>
          <a:noFill/>
        </p:spPr>
        <p:txBody>
          <a:bodyPr wrap="square" lIns="0" rIns="0" tIns="0" bIns="0">
            <a:spAutoFit/>
          </a:bodyPr>
          <a:lstStyle/>
          <a:p>
            <a:r>
              <a:rPr sz="1425" b="1" i="0">
                <a:solidFill>
                  <a:srgbClr val="111111"/>
                </a:solidFill>
                <a:latin typeface="Impact"/>
              </a:rPr>
              <a:t>BIG TIME AFFAIRS</a:t>
            </a:r>
          </a:p>
        </p:txBody>
      </p:sp>
      <p:sp>
        <p:nvSpPr>
          <p:cNvPr id="28" name="TextBox 27"/>
          <p:cNvSpPr txBox="1"/>
          <p:nvPr/>
        </p:nvSpPr>
        <p:spPr>
          <a:xfrm>
            <a:off x="1892300" y="5090120"/>
            <a:ext cx="1015802" cy="133350"/>
          </a:xfrm>
          <a:prstGeom prst="rect">
            <a:avLst/>
          </a:prstGeom>
          <a:noFill/>
        </p:spPr>
        <p:txBody>
          <a:bodyPr wrap="square" lIns="0" rIns="0" tIns="0" bIns="0">
            <a:spAutoFit/>
          </a:bodyPr>
          <a:lstStyle/>
          <a:p>
            <a:r>
              <a:rPr sz="1425" b="1" i="0">
                <a:solidFill>
                  <a:srgbClr val="111111"/>
                </a:solidFill>
                <a:latin typeface="Impact"/>
              </a:rPr>
              <a:t>HERE LIES LOVE</a:t>
            </a:r>
          </a:p>
        </p:txBody>
      </p:sp>
      <p:sp>
        <p:nvSpPr>
          <p:cNvPr id="29" name="TextBox 28"/>
          <p:cNvSpPr txBox="1"/>
          <p:nvPr/>
        </p:nvSpPr>
        <p:spPr>
          <a:xfrm>
            <a:off x="6273800" y="3111500"/>
            <a:ext cx="1278136" cy="88900"/>
          </a:xfrm>
          <a:prstGeom prst="rect">
            <a:avLst/>
          </a:prstGeom>
          <a:noFill/>
        </p:spPr>
        <p:txBody>
          <a:bodyPr wrap="square" lIns="0" rIns="0" tIns="0" bIns="0">
            <a:spAutoFit/>
          </a:bodyPr>
          <a:lstStyle/>
          <a:p>
            <a:r>
              <a:rPr sz="900" b="1" i="0">
                <a:solidFill>
                  <a:srgbClr val="C9242A"/>
                </a:solidFill>
                <a:latin typeface="Impact"/>
              </a:rPr>
              <a:t>THE GENERAL MANAGER</a:t>
            </a:r>
          </a:p>
        </p:txBody>
      </p:sp>
      <p:sp>
        <p:nvSpPr>
          <p:cNvPr id="30" name="TextBox 29"/>
          <p:cNvSpPr txBox="1"/>
          <p:nvPr/>
        </p:nvSpPr>
        <p:spPr>
          <a:xfrm>
            <a:off x="6273800" y="5902127"/>
            <a:ext cx="1206996" cy="82550"/>
          </a:xfrm>
          <a:prstGeom prst="rect">
            <a:avLst/>
          </a:prstGeom>
          <a:noFill/>
        </p:spPr>
        <p:txBody>
          <a:bodyPr wrap="square" lIns="0" rIns="0" tIns="0" bIns="0">
            <a:spAutoFit/>
          </a:bodyPr>
          <a:lstStyle/>
          <a:p>
            <a:r>
              <a:rPr sz="825" b="1" i="0">
                <a:solidFill>
                  <a:srgbClr val="111111"/>
                </a:solidFill>
                <a:latin typeface="Arial"/>
              </a:rPr>
              <a:t>AWARDS &amp; BROADCAST</a:t>
            </a:r>
          </a:p>
        </p:txBody>
      </p:sp>
      <p:sp>
        <p:nvSpPr>
          <p:cNvPr id="31" name="TextBox 30"/>
          <p:cNvSpPr txBox="1"/>
          <p:nvPr/>
        </p:nvSpPr>
        <p:spPr>
          <a:xfrm>
            <a:off x="508000" y="5518348"/>
            <a:ext cx="1143099" cy="82550"/>
          </a:xfrm>
          <a:prstGeom prst="rect">
            <a:avLst/>
          </a:prstGeom>
          <a:noFill/>
        </p:spPr>
        <p:txBody>
          <a:bodyPr wrap="square" lIns="0" rIns="0" tIns="0" bIns="0">
            <a:spAutoFit/>
          </a:bodyPr>
          <a:lstStyle/>
          <a:p>
            <a:r>
              <a:rPr sz="825" b="1" i="0">
                <a:solidFill>
                  <a:srgbClr val="111111"/>
                </a:solidFill>
                <a:latin typeface="Arial"/>
              </a:rPr>
              <a:t>IMMERSIVE DIRECTOR</a:t>
            </a:r>
          </a:p>
        </p:txBody>
      </p:sp>
      <p:sp>
        <p:nvSpPr>
          <p:cNvPr id="32" name="TextBox 31"/>
          <p:cNvSpPr txBox="1"/>
          <p:nvPr/>
        </p:nvSpPr>
        <p:spPr>
          <a:xfrm>
            <a:off x="6273800" y="5134570"/>
            <a:ext cx="1107976" cy="82550"/>
          </a:xfrm>
          <a:prstGeom prst="rect">
            <a:avLst/>
          </a:prstGeom>
          <a:noFill/>
        </p:spPr>
        <p:txBody>
          <a:bodyPr wrap="square" lIns="0" rIns="0" tIns="0" bIns="0">
            <a:spAutoFit/>
          </a:bodyPr>
          <a:lstStyle/>
          <a:p>
            <a:r>
              <a:rPr sz="825" b="1" i="0">
                <a:solidFill>
                  <a:srgbClr val="111111"/>
                </a:solidFill>
                <a:latin typeface="Arial"/>
              </a:rPr>
              <a:t>PRESIDENT &amp; OWNER</a:t>
            </a:r>
          </a:p>
        </p:txBody>
      </p:sp>
      <p:sp>
        <p:nvSpPr>
          <p:cNvPr id="33" name="TextBox 32"/>
          <p:cNvSpPr txBox="1"/>
          <p:nvPr/>
        </p:nvSpPr>
        <p:spPr>
          <a:xfrm>
            <a:off x="508000" y="3111500"/>
            <a:ext cx="771327" cy="88900"/>
          </a:xfrm>
          <a:prstGeom prst="rect">
            <a:avLst/>
          </a:prstGeom>
          <a:noFill/>
        </p:spPr>
        <p:txBody>
          <a:bodyPr wrap="square" lIns="0" rIns="0" tIns="0" bIns="0">
            <a:spAutoFit/>
          </a:bodyPr>
          <a:lstStyle/>
          <a:p>
            <a:r>
              <a:rPr sz="900" b="1" i="0">
                <a:solidFill>
                  <a:srgbClr val="C9242A"/>
                </a:solidFill>
                <a:latin typeface="Impact"/>
              </a:rPr>
              <a:t>THE DIRECTOR</a:t>
            </a:r>
          </a:p>
        </p:txBody>
      </p:sp>
      <p:sp>
        <p:nvSpPr>
          <p:cNvPr id="34" name="TextBox 33"/>
          <p:cNvSpPr txBox="1"/>
          <p:nvPr/>
        </p:nvSpPr>
        <p:spPr>
          <a:xfrm>
            <a:off x="10990163" y="6489700"/>
            <a:ext cx="693837" cy="88900"/>
          </a:xfrm>
          <a:prstGeom prst="rect">
            <a:avLst/>
          </a:prstGeom>
          <a:noFill/>
        </p:spPr>
        <p:txBody>
          <a:bodyPr wrap="square" lIns="0" rIns="0" tIns="0" bIns="0">
            <a:spAutoFit/>
          </a:bodyPr>
          <a:lstStyle/>
          <a:p>
            <a:r>
              <a:rPr sz="900" b="0" i="0">
                <a:solidFill>
                  <a:srgbClr val="111111"/>
                </a:solidFill>
                <a:latin typeface="Arial"/>
              </a:rPr>
              <a:t>16 TEAM</a:t>
            </a:r>
          </a:p>
        </p:txBody>
      </p:sp>
      <p:sp>
        <p:nvSpPr>
          <p:cNvPr id="35" name="TextBox 34"/>
          <p:cNvSpPr txBox="1"/>
          <p:nvPr/>
        </p:nvSpPr>
        <p:spPr>
          <a:xfrm>
            <a:off x="6273800" y="5518348"/>
            <a:ext cx="555923" cy="82550"/>
          </a:xfrm>
          <a:prstGeom prst="rect">
            <a:avLst/>
          </a:prstGeom>
          <a:noFill/>
        </p:spPr>
        <p:txBody>
          <a:bodyPr wrap="square" lIns="0" rIns="0" tIns="0" bIns="0">
            <a:spAutoFit/>
          </a:bodyPr>
          <a:lstStyle/>
          <a:p>
            <a:r>
              <a:rPr sz="825" b="1" i="0">
                <a:solidFill>
                  <a:srgbClr val="111111"/>
                </a:solidFill>
                <a:latin typeface="Arial"/>
              </a:rPr>
              <a:t>FESTIVALS</a:t>
            </a:r>
          </a:p>
        </p:txBody>
      </p:sp>
      <p:sp>
        <p:nvSpPr>
          <p:cNvPr id="36" name="TextBox 35"/>
          <p:cNvSpPr txBox="1"/>
          <p:nvPr/>
        </p:nvSpPr>
        <p:spPr>
          <a:xfrm>
            <a:off x="508000" y="6285905"/>
            <a:ext cx="505916" cy="82550"/>
          </a:xfrm>
          <a:prstGeom prst="rect">
            <a:avLst/>
          </a:prstGeom>
          <a:noFill/>
        </p:spPr>
        <p:txBody>
          <a:bodyPr wrap="square" lIns="0" rIns="0" tIns="0" bIns="0">
            <a:spAutoFit/>
          </a:bodyPr>
          <a:lstStyle/>
          <a:p>
            <a:r>
              <a:rPr sz="825" b="1" i="0">
                <a:solidFill>
                  <a:srgbClr val="111111"/>
                </a:solidFill>
                <a:latin typeface="Arial"/>
              </a:rPr>
              <a:t>PRACTICE</a:t>
            </a:r>
          </a:p>
        </p:txBody>
      </p:sp>
      <p:sp>
        <p:nvSpPr>
          <p:cNvPr id="37" name="TextBox 36"/>
          <p:cNvSpPr txBox="1"/>
          <p:nvPr/>
        </p:nvSpPr>
        <p:spPr>
          <a:xfrm>
            <a:off x="6273800" y="6285905"/>
            <a:ext cx="505916" cy="82550"/>
          </a:xfrm>
          <a:prstGeom prst="rect">
            <a:avLst/>
          </a:prstGeom>
          <a:noFill/>
        </p:spPr>
        <p:txBody>
          <a:bodyPr wrap="square" lIns="0" rIns="0" tIns="0" bIns="0">
            <a:spAutoFit/>
          </a:bodyPr>
          <a:lstStyle/>
          <a:p>
            <a:r>
              <a:rPr sz="825" b="1" i="0">
                <a:solidFill>
                  <a:srgbClr val="111111"/>
                </a:solidFill>
                <a:latin typeface="Arial"/>
              </a:rPr>
              <a:t>PRACTICE</a:t>
            </a:r>
          </a:p>
        </p:txBody>
      </p:sp>
      <p:sp>
        <p:nvSpPr>
          <p:cNvPr id="38" name="Rectangle 37"/>
          <p:cNvSpPr/>
          <p:nvPr/>
        </p:nvSpPr>
        <p:spPr>
          <a:xfrm>
            <a:off x="11238905" y="6511925"/>
            <a:ext cx="38100" cy="38100"/>
          </a:xfrm>
          <a:prstGeom prst="rect">
            <a:avLst/>
          </a:prstGeom>
          <a:solidFill>
            <a:srgbClr val="C924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C0C0C"/>
        </a:solidFill>
        <a:effectLst/>
      </p:bgPr>
    </p:bg>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762000" y="920750"/>
            <a:ext cx="8848229" cy="1687810"/>
          </a:xfrm>
          <a:prstGeom prst="rect">
            <a:avLst/>
          </a:prstGeom>
          <a:noFill/>
        </p:spPr>
        <p:txBody>
          <a:bodyPr wrap="square" lIns="0" rIns="0" tIns="0" bIns="0">
            <a:spAutoFit/>
          </a:bodyPr>
          <a:lstStyle/>
          <a:p>
            <a:r>
              <a:rPr sz="9900" b="1" i="0">
                <a:solidFill>
                  <a:srgbClr val="F4EFE6"/>
                </a:solidFill>
                <a:latin typeface="Impact"/>
              </a:rPr>
              <a:t>OPPORTUNITIES FOR SPECIAL GUESTS.</a:t>
            </a:r>
          </a:p>
        </p:txBody>
      </p:sp>
      <p:sp>
        <p:nvSpPr>
          <p:cNvPr id="4" name="TextBox 3"/>
          <p:cNvSpPr txBox="1"/>
          <p:nvPr/>
        </p:nvSpPr>
        <p:spPr>
          <a:xfrm>
            <a:off x="762000" y="4737100"/>
            <a:ext cx="4606925" cy="482600"/>
          </a:xfrm>
          <a:prstGeom prst="rect">
            <a:avLst/>
          </a:prstGeom>
          <a:noFill/>
        </p:spPr>
        <p:txBody>
          <a:bodyPr wrap="square" lIns="0" rIns="0" tIns="0" bIns="0">
            <a:spAutoFit/>
          </a:bodyPr>
          <a:lstStyle/>
          <a:p>
            <a:r>
              <a:rPr sz="1200" b="0" i="0">
                <a:solidFill>
                  <a:srgbClr val="F4EFE6"/>
                </a:solidFill>
                <a:latin typeface="Arial"/>
              </a:rPr>
              <a:t>Each chapter of the show is brought to life by artists and leaders who carry true cultural capital within their communities — from legacy figures like Cheech Marin to contemporary visionaries like Issa Rae. A rotating cast of cultural icons whose stories and influence are woven into the fabric of Los Angeles.</a:t>
            </a:r>
          </a:p>
        </p:txBody>
      </p:sp>
      <p:sp>
        <p:nvSpPr>
          <p:cNvPr id="5" name="Rectangle 4"/>
          <p:cNvSpPr/>
          <p:nvPr/>
        </p:nvSpPr>
        <p:spPr>
          <a:xfrm>
            <a:off x="6141343" y="4635500"/>
            <a:ext cx="1479252" cy="330200"/>
          </a:xfrm>
          <a:prstGeom prst="rect">
            <a:avLst/>
          </a:prstGeom>
          <a:solidFill>
            <a:srgbClr val="C924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698500"/>
            <a:ext cx="1527473" cy="158750"/>
          </a:xfrm>
          <a:prstGeom prst="rect">
            <a:avLst/>
          </a:prstGeom>
          <a:noFill/>
        </p:spPr>
        <p:txBody>
          <a:bodyPr wrap="square" lIns="0" rIns="0" tIns="0" bIns="0">
            <a:spAutoFit/>
          </a:bodyPr>
          <a:lstStyle/>
          <a:p>
            <a:r>
              <a:rPr sz="1650" b="1" i="0">
                <a:solidFill>
                  <a:srgbClr val="C9242A"/>
                </a:solidFill>
                <a:latin typeface="Impact"/>
              </a:rPr>
              <a:t>ROTATING CAST</a:t>
            </a:r>
          </a:p>
        </p:txBody>
      </p:sp>
      <p:sp>
        <p:nvSpPr>
          <p:cNvPr id="7" name="TextBox 6"/>
          <p:cNvSpPr txBox="1"/>
          <p:nvPr/>
        </p:nvSpPr>
        <p:spPr>
          <a:xfrm>
            <a:off x="9692580" y="5137150"/>
            <a:ext cx="1493044" cy="158750"/>
          </a:xfrm>
          <a:prstGeom prst="rect">
            <a:avLst/>
          </a:prstGeom>
          <a:noFill/>
        </p:spPr>
        <p:txBody>
          <a:bodyPr wrap="square" lIns="0" rIns="0" tIns="0" bIns="0">
            <a:spAutoFit/>
          </a:bodyPr>
          <a:lstStyle/>
          <a:p>
            <a:r>
              <a:rPr sz="1650" b="1" i="0">
                <a:solidFill>
                  <a:srgbClr val="F4EFE6"/>
                </a:solidFill>
                <a:latin typeface="Impact"/>
              </a:rPr>
              <a:t>LUIS J. RODRIGUEZ</a:t>
            </a:r>
          </a:p>
        </p:txBody>
      </p:sp>
      <p:sp>
        <p:nvSpPr>
          <p:cNvPr id="8" name="TextBox 7"/>
          <p:cNvSpPr txBox="1"/>
          <p:nvPr/>
        </p:nvSpPr>
        <p:spPr>
          <a:xfrm>
            <a:off x="6287393" y="5137150"/>
            <a:ext cx="1475680" cy="158750"/>
          </a:xfrm>
          <a:prstGeom prst="rect">
            <a:avLst/>
          </a:prstGeom>
          <a:noFill/>
        </p:spPr>
        <p:txBody>
          <a:bodyPr wrap="square" lIns="0" rIns="0" tIns="0" bIns="0">
            <a:spAutoFit/>
          </a:bodyPr>
          <a:lstStyle/>
          <a:p>
            <a:r>
              <a:rPr sz="1650" b="1" i="0">
                <a:solidFill>
                  <a:srgbClr val="F4EFE6"/>
                </a:solidFill>
                <a:latin typeface="Impact"/>
              </a:rPr>
              <a:t>JACKSON BROWNE</a:t>
            </a:r>
          </a:p>
        </p:txBody>
      </p:sp>
      <p:sp>
        <p:nvSpPr>
          <p:cNvPr id="9" name="TextBox 8"/>
          <p:cNvSpPr txBox="1"/>
          <p:nvPr/>
        </p:nvSpPr>
        <p:spPr>
          <a:xfrm>
            <a:off x="7693422" y="5556250"/>
            <a:ext cx="1361182" cy="158750"/>
          </a:xfrm>
          <a:prstGeom prst="rect">
            <a:avLst/>
          </a:prstGeom>
          <a:noFill/>
        </p:spPr>
        <p:txBody>
          <a:bodyPr wrap="square" lIns="0" rIns="0" tIns="0" bIns="0">
            <a:spAutoFit/>
          </a:bodyPr>
          <a:lstStyle/>
          <a:p>
            <a:r>
              <a:rPr sz="1650" b="1" i="0">
                <a:solidFill>
                  <a:srgbClr val="F4EFE6"/>
                </a:solidFill>
                <a:latin typeface="Impact"/>
              </a:rPr>
              <a:t>SEKOU ANDREWS</a:t>
            </a:r>
          </a:p>
        </p:txBody>
      </p:sp>
      <p:sp>
        <p:nvSpPr>
          <p:cNvPr id="10" name="TextBox 9"/>
          <p:cNvSpPr txBox="1"/>
          <p:nvPr/>
        </p:nvSpPr>
        <p:spPr>
          <a:xfrm>
            <a:off x="6287393" y="5975350"/>
            <a:ext cx="1283494" cy="158750"/>
          </a:xfrm>
          <a:prstGeom prst="rect">
            <a:avLst/>
          </a:prstGeom>
          <a:noFill/>
        </p:spPr>
        <p:txBody>
          <a:bodyPr wrap="square" lIns="0" rIns="0" tIns="0" bIns="0">
            <a:spAutoFit/>
          </a:bodyPr>
          <a:lstStyle/>
          <a:p>
            <a:r>
              <a:rPr sz="1650" b="1" i="0">
                <a:solidFill>
                  <a:srgbClr val="F4EFE6"/>
                </a:solidFill>
                <a:latin typeface="Impact"/>
              </a:rPr>
              <a:t>SAMANTHA RIOS</a:t>
            </a:r>
          </a:p>
        </p:txBody>
      </p:sp>
      <p:sp>
        <p:nvSpPr>
          <p:cNvPr id="11" name="TextBox 10"/>
          <p:cNvSpPr txBox="1"/>
          <p:nvPr/>
        </p:nvSpPr>
        <p:spPr>
          <a:xfrm>
            <a:off x="6287393" y="4718050"/>
            <a:ext cx="1187152" cy="158750"/>
          </a:xfrm>
          <a:prstGeom prst="rect">
            <a:avLst/>
          </a:prstGeom>
          <a:noFill/>
        </p:spPr>
        <p:txBody>
          <a:bodyPr wrap="square" lIns="0" rIns="0" tIns="0" bIns="0">
            <a:spAutoFit/>
          </a:bodyPr>
          <a:lstStyle/>
          <a:p>
            <a:r>
              <a:rPr sz="1650" b="1" i="0">
                <a:solidFill>
                  <a:srgbClr val="F4EFE6"/>
                </a:solidFill>
                <a:latin typeface="Impact"/>
              </a:rPr>
              <a:t>CHEECH MARIN</a:t>
            </a:r>
          </a:p>
        </p:txBody>
      </p:sp>
      <p:sp>
        <p:nvSpPr>
          <p:cNvPr id="12" name="TextBox 11"/>
          <p:cNvSpPr txBox="1"/>
          <p:nvPr/>
        </p:nvSpPr>
        <p:spPr>
          <a:xfrm>
            <a:off x="8169473" y="5137150"/>
            <a:ext cx="1116707" cy="158750"/>
          </a:xfrm>
          <a:prstGeom prst="rect">
            <a:avLst/>
          </a:prstGeom>
          <a:noFill/>
        </p:spPr>
        <p:txBody>
          <a:bodyPr wrap="square" lIns="0" rIns="0" tIns="0" bIns="0">
            <a:spAutoFit/>
          </a:bodyPr>
          <a:lstStyle/>
          <a:p>
            <a:r>
              <a:rPr sz="1650" b="1" i="0">
                <a:solidFill>
                  <a:srgbClr val="F4EFE6"/>
                </a:solidFill>
                <a:latin typeface="Impact"/>
              </a:rPr>
              <a:t>DANTE BASCO</a:t>
            </a:r>
          </a:p>
        </p:txBody>
      </p:sp>
      <p:sp>
        <p:nvSpPr>
          <p:cNvPr id="13" name="TextBox 12"/>
          <p:cNvSpPr txBox="1"/>
          <p:nvPr/>
        </p:nvSpPr>
        <p:spPr>
          <a:xfrm>
            <a:off x="508000" y="6489700"/>
            <a:ext cx="1936552" cy="88900"/>
          </a:xfrm>
          <a:prstGeom prst="rect">
            <a:avLst/>
          </a:prstGeom>
          <a:noFill/>
        </p:spPr>
        <p:txBody>
          <a:bodyPr wrap="square" lIns="0" rIns="0" tIns="0" bIns="0">
            <a:spAutoFit/>
          </a:bodyPr>
          <a:lstStyle/>
          <a:p>
            <a:r>
              <a:rPr sz="900" b="0" i="0">
                <a:solidFill>
                  <a:srgbClr val="F4EFE6"/>
                </a:solidFill>
                <a:latin typeface="Arial"/>
              </a:rPr>
              <a:t>CULTURAL CAPITAL · REAL VOICES</a:t>
            </a:r>
          </a:p>
        </p:txBody>
      </p:sp>
      <p:sp>
        <p:nvSpPr>
          <p:cNvPr id="14" name="TextBox 13"/>
          <p:cNvSpPr txBox="1"/>
          <p:nvPr/>
        </p:nvSpPr>
        <p:spPr>
          <a:xfrm>
            <a:off x="9461004" y="5556250"/>
            <a:ext cx="1046460" cy="158750"/>
          </a:xfrm>
          <a:prstGeom prst="rect">
            <a:avLst/>
          </a:prstGeom>
          <a:noFill/>
        </p:spPr>
        <p:txBody>
          <a:bodyPr wrap="square" lIns="0" rIns="0" tIns="0" bIns="0">
            <a:spAutoFit/>
          </a:bodyPr>
          <a:lstStyle/>
          <a:p>
            <a:r>
              <a:rPr sz="1650" b="1" i="0">
                <a:solidFill>
                  <a:srgbClr val="F4EFE6"/>
                </a:solidFill>
                <a:latin typeface="Impact"/>
              </a:rPr>
              <a:t>MENDELEYEV</a:t>
            </a:r>
          </a:p>
        </p:txBody>
      </p:sp>
      <p:sp>
        <p:nvSpPr>
          <p:cNvPr id="15" name="TextBox 14"/>
          <p:cNvSpPr txBox="1"/>
          <p:nvPr/>
        </p:nvSpPr>
        <p:spPr>
          <a:xfrm>
            <a:off x="6287393" y="5556250"/>
            <a:ext cx="999629" cy="158750"/>
          </a:xfrm>
          <a:prstGeom prst="rect">
            <a:avLst/>
          </a:prstGeom>
          <a:noFill/>
        </p:spPr>
        <p:txBody>
          <a:bodyPr wrap="square" lIns="0" rIns="0" tIns="0" bIns="0">
            <a:spAutoFit/>
          </a:bodyPr>
          <a:lstStyle/>
          <a:p>
            <a:r>
              <a:rPr sz="1650" b="1" i="0">
                <a:solidFill>
                  <a:srgbClr val="F4EFE6"/>
                </a:solidFill>
                <a:latin typeface="Impact"/>
              </a:rPr>
              <a:t>ALOE BLACC</a:t>
            </a:r>
          </a:p>
        </p:txBody>
      </p:sp>
      <p:sp>
        <p:nvSpPr>
          <p:cNvPr id="16" name="TextBox 15"/>
          <p:cNvSpPr txBox="1"/>
          <p:nvPr/>
        </p:nvSpPr>
        <p:spPr>
          <a:xfrm>
            <a:off x="9009062" y="4718050"/>
            <a:ext cx="880368" cy="158750"/>
          </a:xfrm>
          <a:prstGeom prst="rect">
            <a:avLst/>
          </a:prstGeom>
          <a:noFill/>
        </p:spPr>
        <p:txBody>
          <a:bodyPr wrap="square" lIns="0" rIns="0" tIns="0" bIns="0">
            <a:spAutoFit/>
          </a:bodyPr>
          <a:lstStyle/>
          <a:p>
            <a:r>
              <a:rPr sz="1650" b="1" i="0">
                <a:solidFill>
                  <a:srgbClr val="F4EFE6"/>
                </a:solidFill>
                <a:latin typeface="Impact"/>
              </a:rPr>
              <a:t>JOY HARJO</a:t>
            </a:r>
          </a:p>
        </p:txBody>
      </p:sp>
      <p:sp>
        <p:nvSpPr>
          <p:cNvPr id="17" name="TextBox 16"/>
          <p:cNvSpPr txBox="1"/>
          <p:nvPr/>
        </p:nvSpPr>
        <p:spPr>
          <a:xfrm>
            <a:off x="7880945" y="4718050"/>
            <a:ext cx="721717" cy="158750"/>
          </a:xfrm>
          <a:prstGeom prst="rect">
            <a:avLst/>
          </a:prstGeom>
          <a:noFill/>
        </p:spPr>
        <p:txBody>
          <a:bodyPr wrap="square" lIns="0" rIns="0" tIns="0" bIns="0">
            <a:spAutoFit/>
          </a:bodyPr>
          <a:lstStyle/>
          <a:p>
            <a:r>
              <a:rPr sz="1650" b="1" i="0">
                <a:solidFill>
                  <a:srgbClr val="F4EFE6"/>
                </a:solidFill>
                <a:latin typeface="Impact"/>
              </a:rPr>
              <a:t>ISSA RAE</a:t>
            </a:r>
          </a:p>
        </p:txBody>
      </p:sp>
      <p:sp>
        <p:nvSpPr>
          <p:cNvPr id="18" name="TextBox 17"/>
          <p:cNvSpPr txBox="1"/>
          <p:nvPr/>
        </p:nvSpPr>
        <p:spPr>
          <a:xfrm>
            <a:off x="10990163" y="6489700"/>
            <a:ext cx="693837" cy="88900"/>
          </a:xfrm>
          <a:prstGeom prst="rect">
            <a:avLst/>
          </a:prstGeom>
          <a:noFill/>
        </p:spPr>
        <p:txBody>
          <a:bodyPr wrap="square" lIns="0" rIns="0" tIns="0" bIns="0">
            <a:spAutoFit/>
          </a:bodyPr>
          <a:lstStyle/>
          <a:p>
            <a:r>
              <a:rPr sz="900" b="0" i="0">
                <a:solidFill>
                  <a:srgbClr val="F4EFE6"/>
                </a:solidFill>
                <a:latin typeface="Arial"/>
              </a:rPr>
              <a:t>17 TEAM</a:t>
            </a:r>
          </a:p>
        </p:txBody>
      </p:sp>
      <p:sp>
        <p:nvSpPr>
          <p:cNvPr id="19" name="Rectangle 18"/>
          <p:cNvSpPr/>
          <p:nvPr/>
        </p:nvSpPr>
        <p:spPr>
          <a:xfrm>
            <a:off x="11238905" y="6511925"/>
            <a:ext cx="38100" cy="38100"/>
          </a:xfrm>
          <a:prstGeom prst="rect">
            <a:avLst/>
          </a:prstGeom>
          <a:solidFill>
            <a:srgbClr val="C924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EFE6"/>
        </a:solidFill>
        <a:effectLst/>
      </p:bgPr>
    </p:bg>
    <p:spTree>
      <p:nvGrpSpPr>
        <p:cNvPr id="1" name=""/>
        <p:cNvGrpSpPr/>
        <p:nvPr/>
      </p:nvGrpSpPr>
      <p:grpSpPr/>
      <p:sp>
        <p:nvSpPr>
          <p:cNvPr id="2" name="TextBox 1"/>
          <p:cNvSpPr txBox="1"/>
          <p:nvPr/>
        </p:nvSpPr>
        <p:spPr>
          <a:xfrm>
            <a:off x="762000" y="806450"/>
            <a:ext cx="8081764" cy="2000448"/>
          </a:xfrm>
          <a:prstGeom prst="rect">
            <a:avLst/>
          </a:prstGeom>
          <a:noFill/>
        </p:spPr>
        <p:txBody>
          <a:bodyPr wrap="square" lIns="0" rIns="0" tIns="0" bIns="0">
            <a:spAutoFit/>
          </a:bodyPr>
          <a:lstStyle/>
          <a:p>
            <a:r>
              <a:rPr sz="11850" b="1" i="0">
                <a:solidFill>
                  <a:srgbClr val="111111"/>
                </a:solidFill>
                <a:latin typeface="Impact"/>
              </a:rPr>
              <a:t>A CITY TRANSFORMED.</a:t>
            </a:r>
          </a:p>
        </p:txBody>
      </p:sp>
      <p:sp>
        <p:nvSpPr>
          <p:cNvPr id="3" name="TextBox 2"/>
          <p:cNvSpPr txBox="1"/>
          <p:nvPr/>
        </p:nvSpPr>
        <p:spPr>
          <a:xfrm>
            <a:off x="762000" y="3238897"/>
            <a:ext cx="5181600" cy="1890712"/>
          </a:xfrm>
          <a:prstGeom prst="rect">
            <a:avLst/>
          </a:prstGeom>
          <a:noFill/>
        </p:spPr>
        <p:txBody>
          <a:bodyPr wrap="square" lIns="0" rIns="0" tIns="0" bIns="0">
            <a:spAutoFit/>
          </a:bodyPr>
          <a:lstStyle/>
          <a:p>
            <a:r>
              <a:rPr sz="1650" b="0" i="0">
                <a:solidFill>
                  <a:srgbClr val="1C1C1C"/>
                </a:solidFill>
                <a:latin typeface="Arial"/>
              </a:rPr>
              <a:t>Over the next few years, Los Angeles will become the center of the world. Millions of visitors pour in. Billions watch from around the globe. LA becomes the place where the world comes to witness what the future looks and feels like. If I Awaken in Los Angeles is built for this stage — a show that can anchor festival programming, activate cultural pavilions, integrate into international arts showcases, and serve as a marquee event for visitors hungry to experience the city beyond the stadiums.</a:t>
            </a:r>
          </a:p>
        </p:txBody>
      </p:sp>
      <p:sp>
        <p:nvSpPr>
          <p:cNvPr id="4" name="TextBox 3"/>
          <p:cNvSpPr txBox="1"/>
          <p:nvPr/>
        </p:nvSpPr>
        <p:spPr>
          <a:xfrm>
            <a:off x="7857034" y="4788297"/>
            <a:ext cx="2111276" cy="228600"/>
          </a:xfrm>
          <a:prstGeom prst="rect">
            <a:avLst/>
          </a:prstGeom>
          <a:noFill/>
        </p:spPr>
        <p:txBody>
          <a:bodyPr wrap="square" lIns="0" rIns="0" tIns="0" bIns="0">
            <a:spAutoFit/>
          </a:bodyPr>
          <a:lstStyle/>
          <a:p>
            <a:r>
              <a:rPr sz="2400" b="1" i="0">
                <a:solidFill>
                  <a:srgbClr val="111111"/>
                </a:solidFill>
                <a:latin typeface="Impact"/>
              </a:rPr>
              <a:t>PARALYMPIC GAMES</a:t>
            </a:r>
          </a:p>
        </p:txBody>
      </p:sp>
      <p:sp>
        <p:nvSpPr>
          <p:cNvPr id="5" name="TextBox 4"/>
          <p:cNvSpPr txBox="1"/>
          <p:nvPr/>
        </p:nvSpPr>
        <p:spPr>
          <a:xfrm>
            <a:off x="7857034" y="4267597"/>
            <a:ext cx="2002135" cy="228600"/>
          </a:xfrm>
          <a:prstGeom prst="rect">
            <a:avLst/>
          </a:prstGeom>
          <a:noFill/>
        </p:spPr>
        <p:txBody>
          <a:bodyPr wrap="square" lIns="0" rIns="0" tIns="0" bIns="0">
            <a:spAutoFit/>
          </a:bodyPr>
          <a:lstStyle/>
          <a:p>
            <a:r>
              <a:rPr sz="2400" b="1" i="0">
                <a:solidFill>
                  <a:srgbClr val="111111"/>
                </a:solidFill>
                <a:latin typeface="Impact"/>
              </a:rPr>
              <a:t>SUMMER OLYMPICS</a:t>
            </a:r>
          </a:p>
        </p:txBody>
      </p:sp>
      <p:sp>
        <p:nvSpPr>
          <p:cNvPr id="6" name="TextBox 5"/>
          <p:cNvSpPr txBox="1"/>
          <p:nvPr/>
        </p:nvSpPr>
        <p:spPr>
          <a:xfrm>
            <a:off x="7857034" y="3746897"/>
            <a:ext cx="1746151" cy="228600"/>
          </a:xfrm>
          <a:prstGeom prst="rect">
            <a:avLst/>
          </a:prstGeom>
          <a:noFill/>
        </p:spPr>
        <p:txBody>
          <a:bodyPr wrap="square" lIns="0" rIns="0" tIns="0" bIns="0">
            <a:spAutoFit/>
          </a:bodyPr>
          <a:lstStyle/>
          <a:p>
            <a:r>
              <a:rPr sz="2400" b="1" i="0">
                <a:solidFill>
                  <a:srgbClr val="111111"/>
                </a:solidFill>
                <a:latin typeface="Impact"/>
              </a:rPr>
              <a:t>SUPER BOWL LXI</a:t>
            </a:r>
          </a:p>
        </p:txBody>
      </p:sp>
      <p:sp>
        <p:nvSpPr>
          <p:cNvPr id="7" name="TextBox 6"/>
          <p:cNvSpPr txBox="1"/>
          <p:nvPr/>
        </p:nvSpPr>
        <p:spPr>
          <a:xfrm>
            <a:off x="7857034" y="3226197"/>
            <a:ext cx="1742083" cy="228600"/>
          </a:xfrm>
          <a:prstGeom prst="rect">
            <a:avLst/>
          </a:prstGeom>
          <a:noFill/>
        </p:spPr>
        <p:txBody>
          <a:bodyPr wrap="square" lIns="0" rIns="0" tIns="0" bIns="0">
            <a:spAutoFit/>
          </a:bodyPr>
          <a:lstStyle/>
          <a:p>
            <a:r>
              <a:rPr sz="2400" b="1" i="0">
                <a:solidFill>
                  <a:srgbClr val="111111"/>
                </a:solidFill>
                <a:latin typeface="Impact"/>
              </a:rPr>
              <a:t>FIFA WORLD CUP</a:t>
            </a:r>
          </a:p>
        </p:txBody>
      </p:sp>
      <p:sp>
        <p:nvSpPr>
          <p:cNvPr id="8" name="TextBox 7"/>
          <p:cNvSpPr txBox="1"/>
          <p:nvPr/>
        </p:nvSpPr>
        <p:spPr>
          <a:xfrm>
            <a:off x="762000" y="635000"/>
            <a:ext cx="1661815" cy="158750"/>
          </a:xfrm>
          <a:prstGeom prst="rect">
            <a:avLst/>
          </a:prstGeom>
          <a:noFill/>
        </p:spPr>
        <p:txBody>
          <a:bodyPr wrap="square" lIns="0" rIns="0" tIns="0" bIns="0">
            <a:spAutoFit/>
          </a:bodyPr>
          <a:lstStyle/>
          <a:p>
            <a:r>
              <a:rPr sz="1650" b="1" i="0">
                <a:solidFill>
                  <a:srgbClr val="C9242A"/>
                </a:solidFill>
                <a:latin typeface="Impact"/>
              </a:rPr>
              <a:t>A GLOBAL STAGE</a:t>
            </a:r>
          </a:p>
        </p:txBody>
      </p:sp>
      <p:sp>
        <p:nvSpPr>
          <p:cNvPr id="9" name="TextBox 8"/>
          <p:cNvSpPr txBox="1"/>
          <p:nvPr/>
        </p:nvSpPr>
        <p:spPr>
          <a:xfrm>
            <a:off x="508000" y="6489700"/>
            <a:ext cx="1727597" cy="88900"/>
          </a:xfrm>
          <a:prstGeom prst="rect">
            <a:avLst/>
          </a:prstGeom>
          <a:noFill/>
        </p:spPr>
        <p:txBody>
          <a:bodyPr wrap="square" lIns="0" rIns="0" tIns="0" bIns="0">
            <a:spAutoFit/>
          </a:bodyPr>
          <a:lstStyle/>
          <a:p>
            <a:r>
              <a:rPr sz="900" b="0" i="0">
                <a:solidFill>
                  <a:srgbClr val="111111"/>
                </a:solidFill>
                <a:latin typeface="Arial"/>
              </a:rPr>
              <a:t>POSITIONED FOR THE MOMENT</a:t>
            </a:r>
          </a:p>
        </p:txBody>
      </p:sp>
      <p:sp>
        <p:nvSpPr>
          <p:cNvPr id="10" name="TextBox 9"/>
          <p:cNvSpPr txBox="1"/>
          <p:nvPr/>
        </p:nvSpPr>
        <p:spPr>
          <a:xfrm>
            <a:off x="10353080" y="4369197"/>
            <a:ext cx="1076821" cy="101600"/>
          </a:xfrm>
          <a:prstGeom prst="rect">
            <a:avLst/>
          </a:prstGeom>
          <a:noFill/>
        </p:spPr>
        <p:txBody>
          <a:bodyPr wrap="square" lIns="0" rIns="0" tIns="0" bIns="0">
            <a:spAutoFit/>
          </a:bodyPr>
          <a:lstStyle/>
          <a:p>
            <a:r>
              <a:rPr sz="1050" b="0" i="0">
                <a:solidFill>
                  <a:srgbClr val="111111"/>
                </a:solidFill>
                <a:latin typeface="Arial"/>
              </a:rPr>
              <a:t>LA28 · CITY-WIDE</a:t>
            </a:r>
          </a:p>
        </p:txBody>
      </p:sp>
      <p:sp>
        <p:nvSpPr>
          <p:cNvPr id="11" name="TextBox 10"/>
          <p:cNvSpPr txBox="1"/>
          <p:nvPr/>
        </p:nvSpPr>
        <p:spPr>
          <a:xfrm>
            <a:off x="10353080" y="4889897"/>
            <a:ext cx="1076821" cy="101600"/>
          </a:xfrm>
          <a:prstGeom prst="rect">
            <a:avLst/>
          </a:prstGeom>
          <a:noFill/>
        </p:spPr>
        <p:txBody>
          <a:bodyPr wrap="square" lIns="0" rIns="0" tIns="0" bIns="0">
            <a:spAutoFit/>
          </a:bodyPr>
          <a:lstStyle/>
          <a:p>
            <a:r>
              <a:rPr sz="1050" b="0" i="0">
                <a:solidFill>
                  <a:srgbClr val="111111"/>
                </a:solidFill>
                <a:latin typeface="Arial"/>
              </a:rPr>
              <a:t>LA28 · CITY-WIDE</a:t>
            </a:r>
          </a:p>
        </p:txBody>
      </p:sp>
      <p:sp>
        <p:nvSpPr>
          <p:cNvPr id="12" name="TextBox 11"/>
          <p:cNvSpPr txBox="1"/>
          <p:nvPr/>
        </p:nvSpPr>
        <p:spPr>
          <a:xfrm>
            <a:off x="10519172" y="6489700"/>
            <a:ext cx="1164828" cy="88900"/>
          </a:xfrm>
          <a:prstGeom prst="rect">
            <a:avLst/>
          </a:prstGeom>
          <a:noFill/>
        </p:spPr>
        <p:txBody>
          <a:bodyPr wrap="square" lIns="0" rIns="0" tIns="0" bIns="0">
            <a:spAutoFit/>
          </a:bodyPr>
          <a:lstStyle/>
          <a:p>
            <a:r>
              <a:rPr sz="900" b="0" i="0">
                <a:solidFill>
                  <a:srgbClr val="111111"/>
                </a:solidFill>
                <a:latin typeface="Arial"/>
              </a:rPr>
              <a:t>18 OPPORTUNITY</a:t>
            </a:r>
          </a:p>
        </p:txBody>
      </p:sp>
      <p:sp>
        <p:nvSpPr>
          <p:cNvPr id="13" name="TextBox 12"/>
          <p:cNvSpPr txBox="1"/>
          <p:nvPr/>
        </p:nvSpPr>
        <p:spPr>
          <a:xfrm>
            <a:off x="10562034" y="3327797"/>
            <a:ext cx="867866" cy="101600"/>
          </a:xfrm>
          <a:prstGeom prst="rect">
            <a:avLst/>
          </a:prstGeom>
          <a:noFill/>
        </p:spPr>
        <p:txBody>
          <a:bodyPr wrap="square" lIns="0" rIns="0" tIns="0" bIns="0">
            <a:spAutoFit/>
          </a:bodyPr>
          <a:lstStyle/>
          <a:p>
            <a:r>
              <a:rPr sz="1050" b="0" i="0">
                <a:solidFill>
                  <a:srgbClr val="111111"/>
                </a:solidFill>
                <a:latin typeface="Arial"/>
              </a:rPr>
              <a:t>SOFI STADIUM</a:t>
            </a:r>
          </a:p>
        </p:txBody>
      </p:sp>
      <p:sp>
        <p:nvSpPr>
          <p:cNvPr id="14" name="TextBox 13"/>
          <p:cNvSpPr txBox="1"/>
          <p:nvPr/>
        </p:nvSpPr>
        <p:spPr>
          <a:xfrm>
            <a:off x="10562034" y="3848497"/>
            <a:ext cx="867866" cy="101600"/>
          </a:xfrm>
          <a:prstGeom prst="rect">
            <a:avLst/>
          </a:prstGeom>
          <a:noFill/>
        </p:spPr>
        <p:txBody>
          <a:bodyPr wrap="square" lIns="0" rIns="0" tIns="0" bIns="0">
            <a:spAutoFit/>
          </a:bodyPr>
          <a:lstStyle/>
          <a:p>
            <a:r>
              <a:rPr sz="1050" b="0" i="0">
                <a:solidFill>
                  <a:srgbClr val="111111"/>
                </a:solidFill>
                <a:latin typeface="Arial"/>
              </a:rPr>
              <a:t>SOFI STADIUM</a:t>
            </a:r>
          </a:p>
        </p:txBody>
      </p:sp>
      <p:sp>
        <p:nvSpPr>
          <p:cNvPr id="15" name="TextBox 14"/>
          <p:cNvSpPr txBox="1"/>
          <p:nvPr/>
        </p:nvSpPr>
        <p:spPr>
          <a:xfrm>
            <a:off x="7196634" y="3226197"/>
            <a:ext cx="286544" cy="228600"/>
          </a:xfrm>
          <a:prstGeom prst="rect">
            <a:avLst/>
          </a:prstGeom>
          <a:noFill/>
        </p:spPr>
        <p:txBody>
          <a:bodyPr wrap="square" lIns="0" rIns="0" tIns="0" bIns="0">
            <a:spAutoFit/>
          </a:bodyPr>
          <a:lstStyle/>
          <a:p>
            <a:r>
              <a:rPr sz="2400" b="1" i="0">
                <a:solidFill>
                  <a:srgbClr val="C9242A"/>
                </a:solidFill>
                <a:latin typeface="Impact"/>
              </a:rPr>
              <a:t>'26</a:t>
            </a:r>
          </a:p>
        </p:txBody>
      </p:sp>
      <p:sp>
        <p:nvSpPr>
          <p:cNvPr id="16" name="TextBox 15"/>
          <p:cNvSpPr txBox="1"/>
          <p:nvPr/>
        </p:nvSpPr>
        <p:spPr>
          <a:xfrm>
            <a:off x="7196634" y="3746897"/>
            <a:ext cx="286544" cy="228600"/>
          </a:xfrm>
          <a:prstGeom prst="rect">
            <a:avLst/>
          </a:prstGeom>
          <a:noFill/>
        </p:spPr>
        <p:txBody>
          <a:bodyPr wrap="square" lIns="0" rIns="0" tIns="0" bIns="0">
            <a:spAutoFit/>
          </a:bodyPr>
          <a:lstStyle/>
          <a:p>
            <a:r>
              <a:rPr sz="2400" b="1" i="0">
                <a:solidFill>
                  <a:srgbClr val="C9242A"/>
                </a:solidFill>
                <a:latin typeface="Impact"/>
              </a:rPr>
              <a:t>'27</a:t>
            </a:r>
          </a:p>
        </p:txBody>
      </p:sp>
      <p:sp>
        <p:nvSpPr>
          <p:cNvPr id="17" name="TextBox 16"/>
          <p:cNvSpPr txBox="1"/>
          <p:nvPr/>
        </p:nvSpPr>
        <p:spPr>
          <a:xfrm>
            <a:off x="7196634" y="4267597"/>
            <a:ext cx="286544" cy="228600"/>
          </a:xfrm>
          <a:prstGeom prst="rect">
            <a:avLst/>
          </a:prstGeom>
          <a:noFill/>
        </p:spPr>
        <p:txBody>
          <a:bodyPr wrap="square" lIns="0" rIns="0" tIns="0" bIns="0">
            <a:spAutoFit/>
          </a:bodyPr>
          <a:lstStyle/>
          <a:p>
            <a:r>
              <a:rPr sz="2400" b="1" i="0">
                <a:solidFill>
                  <a:srgbClr val="C9242A"/>
                </a:solidFill>
                <a:latin typeface="Impact"/>
              </a:rPr>
              <a:t>'28</a:t>
            </a:r>
          </a:p>
        </p:txBody>
      </p:sp>
      <p:sp>
        <p:nvSpPr>
          <p:cNvPr id="18" name="TextBox 17"/>
          <p:cNvSpPr txBox="1"/>
          <p:nvPr/>
        </p:nvSpPr>
        <p:spPr>
          <a:xfrm>
            <a:off x="7196634" y="4788297"/>
            <a:ext cx="286544" cy="228600"/>
          </a:xfrm>
          <a:prstGeom prst="rect">
            <a:avLst/>
          </a:prstGeom>
          <a:noFill/>
        </p:spPr>
        <p:txBody>
          <a:bodyPr wrap="square" lIns="0" rIns="0" tIns="0" bIns="0">
            <a:spAutoFit/>
          </a:bodyPr>
          <a:lstStyle/>
          <a:p>
            <a:r>
              <a:rPr sz="2400" b="1" i="0">
                <a:solidFill>
                  <a:srgbClr val="C9242A"/>
                </a:solidFill>
                <a:latin typeface="Impact"/>
              </a:rPr>
              <a:t>'28</a:t>
            </a:r>
          </a:p>
        </p:txBody>
      </p:sp>
      <p:sp>
        <p:nvSpPr>
          <p:cNvPr id="19" name="Rectangle 18"/>
          <p:cNvSpPr/>
          <p:nvPr/>
        </p:nvSpPr>
        <p:spPr>
          <a:xfrm>
            <a:off x="10767913" y="6511925"/>
            <a:ext cx="38100" cy="38100"/>
          </a:xfrm>
          <a:prstGeom prst="rect">
            <a:avLst/>
          </a:prstGeom>
          <a:solidFill>
            <a:srgbClr val="C924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C0C0C"/>
        </a:solidFill>
        <a:effectLst/>
      </p:bgPr>
    </p:bg>
    <p:spTree>
      <p:nvGrpSpPr>
        <p:cNvPr id="1" name=""/>
        <p:cNvGrpSpPr/>
        <p:nvPr/>
      </p:nvGrpSpPr>
      <p:grpSpPr/>
      <p:sp>
        <p:nvSpPr>
          <p:cNvPr id="2" name="TextBox 1"/>
          <p:cNvSpPr txBox="1"/>
          <p:nvPr/>
        </p:nvSpPr>
        <p:spPr>
          <a:xfrm>
            <a:off x="762000" y="793750"/>
            <a:ext cx="7785497" cy="2156420"/>
          </a:xfrm>
          <a:prstGeom prst="rect">
            <a:avLst/>
          </a:prstGeom>
          <a:noFill/>
        </p:spPr>
        <p:txBody>
          <a:bodyPr wrap="square" lIns="0" rIns="0" tIns="0" bIns="0">
            <a:spAutoFit/>
          </a:bodyPr>
          <a:lstStyle/>
          <a:p>
            <a:r>
              <a:rPr sz="12750" b="1" i="0">
                <a:solidFill>
                  <a:srgbClr val="F4EFE6"/>
                </a:solidFill>
                <a:latin typeface="Impact"/>
              </a:rPr>
              <a:t>IF I AWAKEN IN EVERY CITY.</a:t>
            </a:r>
          </a:p>
        </p:txBody>
      </p:sp>
      <p:sp>
        <p:nvSpPr>
          <p:cNvPr id="3" name="TextBox 2"/>
          <p:cNvSpPr txBox="1"/>
          <p:nvPr/>
        </p:nvSpPr>
        <p:spPr>
          <a:xfrm>
            <a:off x="8102600" y="3501430"/>
            <a:ext cx="3034109" cy="723900"/>
          </a:xfrm>
          <a:prstGeom prst="rect">
            <a:avLst/>
          </a:prstGeom>
          <a:noFill/>
        </p:spPr>
        <p:txBody>
          <a:bodyPr wrap="square" lIns="0" rIns="0" tIns="0" bIns="0">
            <a:spAutoFit/>
          </a:bodyPr>
          <a:lstStyle/>
          <a:p>
            <a:r>
              <a:rPr sz="4050" b="1" i="0">
                <a:solidFill>
                  <a:srgbClr val="F4EFE6"/>
                </a:solidFill>
                <a:latin typeface="Impact"/>
              </a:rPr>
              <a:t>IF I AWAKEN IN NEW ORLEANS</a:t>
            </a:r>
          </a:p>
        </p:txBody>
      </p:sp>
      <p:sp>
        <p:nvSpPr>
          <p:cNvPr id="4" name="TextBox 3"/>
          <p:cNvSpPr txBox="1"/>
          <p:nvPr/>
        </p:nvSpPr>
        <p:spPr>
          <a:xfrm>
            <a:off x="4546600" y="3501430"/>
            <a:ext cx="2336899" cy="723900"/>
          </a:xfrm>
          <a:prstGeom prst="rect">
            <a:avLst/>
          </a:prstGeom>
          <a:noFill/>
        </p:spPr>
        <p:txBody>
          <a:bodyPr wrap="square" lIns="0" rIns="0" tIns="0" bIns="0">
            <a:spAutoFit/>
          </a:bodyPr>
          <a:lstStyle/>
          <a:p>
            <a:r>
              <a:rPr sz="4050" b="1" i="0">
                <a:solidFill>
                  <a:srgbClr val="F4EFE6"/>
                </a:solidFill>
                <a:latin typeface="Impact"/>
              </a:rPr>
              <a:t>IF I AWAKEN IN NEW YORK</a:t>
            </a:r>
          </a:p>
        </p:txBody>
      </p:sp>
      <p:sp>
        <p:nvSpPr>
          <p:cNvPr id="5" name="TextBox 4"/>
          <p:cNvSpPr txBox="1"/>
          <p:nvPr/>
        </p:nvSpPr>
        <p:spPr>
          <a:xfrm>
            <a:off x="762000" y="3501430"/>
            <a:ext cx="2101751" cy="723900"/>
          </a:xfrm>
          <a:prstGeom prst="rect">
            <a:avLst/>
          </a:prstGeom>
          <a:noFill/>
        </p:spPr>
        <p:txBody>
          <a:bodyPr wrap="square" lIns="0" rIns="0" tIns="0" bIns="0">
            <a:spAutoFit/>
          </a:bodyPr>
          <a:lstStyle/>
          <a:p>
            <a:r>
              <a:rPr sz="4050" b="1" i="0">
                <a:solidFill>
                  <a:srgbClr val="F4EFE6"/>
                </a:solidFill>
                <a:latin typeface="Impact"/>
              </a:rPr>
              <a:t>IF I AWAKEN IN CHICAGO</a:t>
            </a:r>
          </a:p>
        </p:txBody>
      </p:sp>
      <p:sp>
        <p:nvSpPr>
          <p:cNvPr id="6" name="TextBox 5"/>
          <p:cNvSpPr txBox="1"/>
          <p:nvPr/>
        </p:nvSpPr>
        <p:spPr>
          <a:xfrm>
            <a:off x="4546600" y="4333280"/>
            <a:ext cx="2879527" cy="347266"/>
          </a:xfrm>
          <a:prstGeom prst="rect">
            <a:avLst/>
          </a:prstGeom>
          <a:noFill/>
        </p:spPr>
        <p:txBody>
          <a:bodyPr wrap="square" lIns="0" rIns="0" tIns="0" bIns="0">
            <a:spAutoFit/>
          </a:bodyPr>
          <a:lstStyle/>
          <a:p>
            <a:r>
              <a:rPr sz="1650" b="0" i="1">
                <a:solidFill>
                  <a:srgbClr val="F4EFE6"/>
                </a:solidFill>
                <a:latin typeface="Playfair Display"/>
              </a:rPr>
              <a:t>Subway rhythms, diaspora stories — five boroughs, one breath.</a:t>
            </a:r>
          </a:p>
        </p:txBody>
      </p:sp>
      <p:sp>
        <p:nvSpPr>
          <p:cNvPr id="7" name="TextBox 6"/>
          <p:cNvSpPr txBox="1"/>
          <p:nvPr/>
        </p:nvSpPr>
        <p:spPr>
          <a:xfrm>
            <a:off x="8102600" y="4333280"/>
            <a:ext cx="2640905" cy="347266"/>
          </a:xfrm>
          <a:prstGeom prst="rect">
            <a:avLst/>
          </a:prstGeom>
          <a:noFill/>
        </p:spPr>
        <p:txBody>
          <a:bodyPr wrap="square" lIns="0" rIns="0" tIns="0" bIns="0">
            <a:spAutoFit/>
          </a:bodyPr>
          <a:lstStyle/>
          <a:p>
            <a:r>
              <a:rPr sz="1650" b="0" i="1">
                <a:solidFill>
                  <a:srgbClr val="F4EFE6"/>
                </a:solidFill>
                <a:latin typeface="Playfair Display"/>
              </a:rPr>
              <a:t>Every brass note and street corner a chapter of America's spiritual lineage.</a:t>
            </a:r>
          </a:p>
        </p:txBody>
      </p:sp>
      <p:sp>
        <p:nvSpPr>
          <p:cNvPr id="8" name="TextBox 7"/>
          <p:cNvSpPr txBox="1"/>
          <p:nvPr/>
        </p:nvSpPr>
        <p:spPr>
          <a:xfrm>
            <a:off x="762000" y="4333280"/>
            <a:ext cx="2590105" cy="347266"/>
          </a:xfrm>
          <a:prstGeom prst="rect">
            <a:avLst/>
          </a:prstGeom>
          <a:noFill/>
        </p:spPr>
        <p:txBody>
          <a:bodyPr wrap="square" lIns="0" rIns="0" tIns="0" bIns="0">
            <a:spAutoFit/>
          </a:bodyPr>
          <a:lstStyle/>
          <a:p>
            <a:r>
              <a:rPr sz="1650" b="0" i="1">
                <a:solidFill>
                  <a:srgbClr val="F4EFE6"/>
                </a:solidFill>
                <a:latin typeface="Playfair Display"/>
              </a:rPr>
              <a:t>Where house music comes alive — the electric complexity of the South Side to the lakefront.</a:t>
            </a:r>
          </a:p>
        </p:txBody>
      </p:sp>
      <p:sp>
        <p:nvSpPr>
          <p:cNvPr id="9" name="TextBox 8"/>
          <p:cNvSpPr txBox="1"/>
          <p:nvPr/>
        </p:nvSpPr>
        <p:spPr>
          <a:xfrm>
            <a:off x="762000" y="635000"/>
            <a:ext cx="2997597" cy="158750"/>
          </a:xfrm>
          <a:prstGeom prst="rect">
            <a:avLst/>
          </a:prstGeom>
          <a:noFill/>
        </p:spPr>
        <p:txBody>
          <a:bodyPr wrap="square" lIns="0" rIns="0" tIns="0" bIns="0">
            <a:spAutoFit/>
          </a:bodyPr>
          <a:lstStyle/>
          <a:p>
            <a:r>
              <a:rPr sz="1650" b="1" i="0">
                <a:solidFill>
                  <a:srgbClr val="C9242A"/>
                </a:solidFill>
                <a:latin typeface="Impact"/>
              </a:rPr>
              <a:t>IF I AWAKEN... THE FRANCHISE</a:t>
            </a:r>
          </a:p>
        </p:txBody>
      </p:sp>
      <p:sp>
        <p:nvSpPr>
          <p:cNvPr id="10" name="TextBox 9"/>
          <p:cNvSpPr txBox="1"/>
          <p:nvPr/>
        </p:nvSpPr>
        <p:spPr>
          <a:xfrm>
            <a:off x="508000" y="6489700"/>
            <a:ext cx="3314303" cy="88900"/>
          </a:xfrm>
          <a:prstGeom prst="rect">
            <a:avLst/>
          </a:prstGeom>
          <a:noFill/>
        </p:spPr>
        <p:txBody>
          <a:bodyPr wrap="square" lIns="0" rIns="0" tIns="0" bIns="0">
            <a:spAutoFit/>
          </a:bodyPr>
          <a:lstStyle/>
          <a:p>
            <a:r>
              <a:rPr sz="900" b="0" i="0">
                <a:solidFill>
                  <a:srgbClr val="F4EFE6"/>
                </a:solidFill>
                <a:latin typeface="Arial"/>
              </a:rPr>
              <a:t>PLACE-ROOTED STORYTELLING · COMMERCIALLY SCALABLE</a:t>
            </a:r>
          </a:p>
        </p:txBody>
      </p:sp>
      <p:sp>
        <p:nvSpPr>
          <p:cNvPr id="11" name="TextBox 10"/>
          <p:cNvSpPr txBox="1"/>
          <p:nvPr/>
        </p:nvSpPr>
        <p:spPr>
          <a:xfrm>
            <a:off x="882650" y="6038850"/>
            <a:ext cx="1779984" cy="114300"/>
          </a:xfrm>
          <a:prstGeom prst="rect">
            <a:avLst/>
          </a:prstGeom>
          <a:noFill/>
        </p:spPr>
        <p:txBody>
          <a:bodyPr wrap="square" lIns="0" rIns="0" tIns="0" bIns="0">
            <a:spAutoFit/>
          </a:bodyPr>
          <a:lstStyle/>
          <a:p>
            <a:r>
              <a:rPr sz="1125" b="0" i="0">
                <a:solidFill>
                  <a:srgbClr val="F4EFE6"/>
                </a:solidFill>
                <a:latin typeface="Arial"/>
              </a:rPr>
              <a:t>MERCHANDISE &amp; PUBLISHING</a:t>
            </a:r>
          </a:p>
        </p:txBody>
      </p:sp>
      <p:sp>
        <p:nvSpPr>
          <p:cNvPr id="12" name="TextBox 11"/>
          <p:cNvSpPr txBox="1"/>
          <p:nvPr/>
        </p:nvSpPr>
        <p:spPr>
          <a:xfrm>
            <a:off x="4197449" y="5721350"/>
            <a:ext cx="1576784" cy="114300"/>
          </a:xfrm>
          <a:prstGeom prst="rect">
            <a:avLst/>
          </a:prstGeom>
          <a:noFill/>
        </p:spPr>
        <p:txBody>
          <a:bodyPr wrap="square" lIns="0" rIns="0" tIns="0" bIns="0">
            <a:spAutoFit/>
          </a:bodyPr>
          <a:lstStyle/>
          <a:p>
            <a:r>
              <a:rPr sz="1125" b="0" i="0">
                <a:solidFill>
                  <a:srgbClr val="F4EFE6"/>
                </a:solidFill>
                <a:latin typeface="Arial"/>
              </a:rPr>
              <a:t>STREAMING ADAPTATIONS</a:t>
            </a:r>
          </a:p>
        </p:txBody>
      </p:sp>
      <p:sp>
        <p:nvSpPr>
          <p:cNvPr id="13" name="TextBox 12"/>
          <p:cNvSpPr txBox="1"/>
          <p:nvPr/>
        </p:nvSpPr>
        <p:spPr>
          <a:xfrm>
            <a:off x="7928967" y="5721350"/>
            <a:ext cx="1555849" cy="114300"/>
          </a:xfrm>
          <a:prstGeom prst="rect">
            <a:avLst/>
          </a:prstGeom>
          <a:noFill/>
        </p:spPr>
        <p:txBody>
          <a:bodyPr wrap="square" lIns="0" rIns="0" tIns="0" bIns="0">
            <a:spAutoFit/>
          </a:bodyPr>
          <a:lstStyle/>
          <a:p>
            <a:r>
              <a:rPr sz="1125" b="0" i="0">
                <a:solidFill>
                  <a:srgbClr val="F4EFE6"/>
                </a:solidFill>
                <a:latin typeface="Arial"/>
              </a:rPr>
              <a:t>EDUCATIONAL PROGRAMS</a:t>
            </a:r>
          </a:p>
        </p:txBody>
      </p:sp>
      <p:sp>
        <p:nvSpPr>
          <p:cNvPr id="14" name="TextBox 13"/>
          <p:cNvSpPr txBox="1"/>
          <p:nvPr/>
        </p:nvSpPr>
        <p:spPr>
          <a:xfrm>
            <a:off x="2368252" y="5721350"/>
            <a:ext cx="1498997" cy="114300"/>
          </a:xfrm>
          <a:prstGeom prst="rect">
            <a:avLst/>
          </a:prstGeom>
          <a:noFill/>
        </p:spPr>
        <p:txBody>
          <a:bodyPr wrap="square" lIns="0" rIns="0" tIns="0" bIns="0">
            <a:spAutoFit/>
          </a:bodyPr>
          <a:lstStyle/>
          <a:p>
            <a:r>
              <a:rPr sz="1125" b="0" i="0">
                <a:solidFill>
                  <a:srgbClr val="F4EFE6"/>
                </a:solidFill>
                <a:latin typeface="Arial"/>
              </a:rPr>
              <a:t>FESTIVAL PARTNERSHIPS</a:t>
            </a:r>
          </a:p>
        </p:txBody>
      </p:sp>
      <p:sp>
        <p:nvSpPr>
          <p:cNvPr id="15" name="TextBox 14"/>
          <p:cNvSpPr txBox="1"/>
          <p:nvPr/>
        </p:nvSpPr>
        <p:spPr>
          <a:xfrm>
            <a:off x="6104434" y="5721350"/>
            <a:ext cx="1494334" cy="114300"/>
          </a:xfrm>
          <a:prstGeom prst="rect">
            <a:avLst/>
          </a:prstGeom>
          <a:noFill/>
        </p:spPr>
        <p:txBody>
          <a:bodyPr wrap="square" lIns="0" rIns="0" tIns="0" bIns="0">
            <a:spAutoFit/>
          </a:bodyPr>
          <a:lstStyle/>
          <a:p>
            <a:r>
              <a:rPr sz="1125" b="0" i="0">
                <a:solidFill>
                  <a:srgbClr val="F4EFE6"/>
                </a:solidFill>
                <a:latin typeface="Arial"/>
              </a:rPr>
              <a:t>MUSEUM INSTALLATIONS</a:t>
            </a:r>
          </a:p>
        </p:txBody>
      </p:sp>
      <p:sp>
        <p:nvSpPr>
          <p:cNvPr id="16" name="TextBox 15"/>
          <p:cNvSpPr txBox="1"/>
          <p:nvPr/>
        </p:nvSpPr>
        <p:spPr>
          <a:xfrm>
            <a:off x="882650" y="5721350"/>
            <a:ext cx="1155402" cy="114300"/>
          </a:xfrm>
          <a:prstGeom prst="rect">
            <a:avLst/>
          </a:prstGeom>
          <a:noFill/>
        </p:spPr>
        <p:txBody>
          <a:bodyPr wrap="square" lIns="0" rIns="0" tIns="0" bIns="0">
            <a:spAutoFit/>
          </a:bodyPr>
          <a:lstStyle/>
          <a:p>
            <a:r>
              <a:rPr sz="1125" b="0" i="0">
                <a:solidFill>
                  <a:srgbClr val="F4EFE6"/>
                </a:solidFill>
                <a:latin typeface="Arial"/>
              </a:rPr>
              <a:t>TOURING CIRCUITS</a:t>
            </a:r>
          </a:p>
        </p:txBody>
      </p:sp>
      <p:sp>
        <p:nvSpPr>
          <p:cNvPr id="17" name="TextBox 16"/>
          <p:cNvSpPr txBox="1"/>
          <p:nvPr/>
        </p:nvSpPr>
        <p:spPr>
          <a:xfrm>
            <a:off x="10519172" y="6489700"/>
            <a:ext cx="1164828" cy="88900"/>
          </a:xfrm>
          <a:prstGeom prst="rect">
            <a:avLst/>
          </a:prstGeom>
          <a:noFill/>
        </p:spPr>
        <p:txBody>
          <a:bodyPr wrap="square" lIns="0" rIns="0" tIns="0" bIns="0">
            <a:spAutoFit/>
          </a:bodyPr>
          <a:lstStyle/>
          <a:p>
            <a:r>
              <a:rPr sz="900" b="0" i="0">
                <a:solidFill>
                  <a:srgbClr val="F4EFE6"/>
                </a:solidFill>
                <a:latin typeface="Arial"/>
              </a:rPr>
              <a:t>19 OPPORTUNITY</a:t>
            </a:r>
          </a:p>
        </p:txBody>
      </p:sp>
      <p:sp>
        <p:nvSpPr>
          <p:cNvPr id="18" name="Rectangle 17"/>
          <p:cNvSpPr/>
          <p:nvPr/>
        </p:nvSpPr>
        <p:spPr>
          <a:xfrm>
            <a:off x="10767913" y="6511925"/>
            <a:ext cx="38100" cy="38100"/>
          </a:xfrm>
          <a:prstGeom prst="rect">
            <a:avLst/>
          </a:prstGeom>
          <a:solidFill>
            <a:srgbClr val="C924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C9242A"/>
        </a:solidFill>
        <a:effectLst/>
      </p:bgPr>
    </p:bg>
    <p:spTree>
      <p:nvGrpSpPr>
        <p:cNvPr id="1" name=""/>
        <p:cNvGrpSpPr/>
        <p:nvPr/>
      </p:nvGrpSpPr>
      <p:grpSpPr/>
      <p:sp>
        <p:nvSpPr>
          <p:cNvPr id="2" name="TextBox 1"/>
          <p:cNvSpPr txBox="1"/>
          <p:nvPr/>
        </p:nvSpPr>
        <p:spPr>
          <a:xfrm>
            <a:off x="4000500" y="1871563"/>
            <a:ext cx="6944916" cy="2106612"/>
          </a:xfrm>
          <a:prstGeom prst="rect">
            <a:avLst/>
          </a:prstGeom>
          <a:noFill/>
        </p:spPr>
        <p:txBody>
          <a:bodyPr wrap="square" lIns="0" rIns="0" tIns="0" bIns="0">
            <a:spAutoFit/>
          </a:bodyPr>
          <a:lstStyle/>
          <a:p>
            <a:r>
              <a:rPr sz="4350" b="0" i="1">
                <a:solidFill>
                  <a:srgbClr val="F4EFE6"/>
                </a:solidFill>
                <a:latin typeface="Playfair Display"/>
              </a:rPr>
              <a:t>People from all over the world feel this, and so they flock here — the dreamers, the wanderers, the immigrants, in search of a chance, a rebirth, a fresh start. And the city receives them.</a:t>
            </a:r>
          </a:p>
        </p:txBody>
      </p:sp>
      <p:sp>
        <p:nvSpPr>
          <p:cNvPr id="3" name="TextBox 2"/>
          <p:cNvSpPr txBox="1"/>
          <p:nvPr/>
        </p:nvSpPr>
        <p:spPr>
          <a:xfrm>
            <a:off x="4000500" y="4141291"/>
            <a:ext cx="6557764" cy="1302941"/>
          </a:xfrm>
          <a:prstGeom prst="rect">
            <a:avLst/>
          </a:prstGeom>
          <a:noFill/>
        </p:spPr>
        <p:txBody>
          <a:bodyPr wrap="square" lIns="0" rIns="0" tIns="0" bIns="0">
            <a:spAutoFit/>
          </a:bodyPr>
          <a:lstStyle/>
          <a:p>
            <a:r>
              <a:rPr sz="5100" b="1" i="0">
                <a:solidFill>
                  <a:srgbClr val="F4EFE6"/>
                </a:solidFill>
                <a:latin typeface="Impact"/>
              </a:rPr>
              <a:t>LOS ANGELES HAS LOVED US. WITH THIS SHOW, WE OFFER THAT LOVE BACK.</a:t>
            </a:r>
          </a:p>
        </p:txBody>
      </p:sp>
      <p:sp>
        <p:nvSpPr>
          <p:cNvPr id="4" name="TextBox 3"/>
          <p:cNvSpPr txBox="1"/>
          <p:nvPr/>
        </p:nvSpPr>
        <p:spPr>
          <a:xfrm>
            <a:off x="4000500" y="1333798"/>
            <a:ext cx="4757043" cy="412750"/>
          </a:xfrm>
          <a:prstGeom prst="rect">
            <a:avLst/>
          </a:prstGeom>
          <a:noFill/>
        </p:spPr>
        <p:txBody>
          <a:bodyPr wrap="square" lIns="0" rIns="0" tIns="0" bIns="0">
            <a:spAutoFit/>
          </a:bodyPr>
          <a:lstStyle/>
          <a:p>
            <a:r>
              <a:rPr sz="4350" b="0" i="1">
                <a:solidFill>
                  <a:srgbClr val="F4EFE6"/>
                </a:solidFill>
                <a:latin typeface="Playfair Display"/>
              </a:rPr>
              <a:t>In Los Angeles, things take root.</a:t>
            </a:r>
          </a:p>
        </p:txBody>
      </p:sp>
      <p:sp>
        <p:nvSpPr>
          <p:cNvPr id="5" name="TextBox 4"/>
          <p:cNvSpPr txBox="1"/>
          <p:nvPr/>
        </p:nvSpPr>
        <p:spPr>
          <a:xfrm>
            <a:off x="1143000" y="3159820"/>
            <a:ext cx="1931392" cy="410170"/>
          </a:xfrm>
          <a:prstGeom prst="rect">
            <a:avLst/>
          </a:prstGeom>
          <a:noFill/>
        </p:spPr>
        <p:txBody>
          <a:bodyPr wrap="square" lIns="0" rIns="0" tIns="0" bIns="0">
            <a:spAutoFit/>
          </a:bodyPr>
          <a:lstStyle/>
          <a:p>
            <a:r>
              <a:rPr sz="2100" b="1" i="0">
                <a:solidFill>
                  <a:srgbClr val="F4EFE6"/>
                </a:solidFill>
                <a:latin typeface="Impact"/>
              </a:rPr>
              <a:t>A NOTE FROM OUR PRODUCER</a:t>
            </a:r>
          </a:p>
        </p:txBody>
      </p:sp>
      <p:sp>
        <p:nvSpPr>
          <p:cNvPr id="6" name="TextBox 5"/>
          <p:cNvSpPr txBox="1"/>
          <p:nvPr/>
        </p:nvSpPr>
        <p:spPr>
          <a:xfrm>
            <a:off x="1143000" y="3757910"/>
            <a:ext cx="1612900" cy="127000"/>
          </a:xfrm>
          <a:prstGeom prst="rect">
            <a:avLst/>
          </a:prstGeom>
          <a:noFill/>
        </p:spPr>
        <p:txBody>
          <a:bodyPr wrap="square" lIns="0" rIns="0" tIns="0" bIns="0">
            <a:spAutoFit/>
          </a:bodyPr>
          <a:lstStyle/>
          <a:p>
            <a:r>
              <a:rPr sz="1350" b="1" i="0">
                <a:solidFill>
                  <a:srgbClr val="F4EFE6"/>
                </a:solidFill>
                <a:latin typeface="Impact"/>
              </a:rPr>
              <a:t>— DIANE LUBY LANE</a:t>
            </a:r>
          </a:p>
        </p:txBody>
      </p:sp>
      <p:sp>
        <p:nvSpPr>
          <p:cNvPr id="7" name="TextBox 6"/>
          <p:cNvSpPr txBox="1"/>
          <p:nvPr/>
        </p:nvSpPr>
        <p:spPr>
          <a:xfrm>
            <a:off x="508000" y="6489700"/>
            <a:ext cx="1213346" cy="88900"/>
          </a:xfrm>
          <a:prstGeom prst="rect">
            <a:avLst/>
          </a:prstGeom>
          <a:noFill/>
        </p:spPr>
        <p:txBody>
          <a:bodyPr wrap="square" lIns="0" rIns="0" tIns="0" bIns="0">
            <a:spAutoFit/>
          </a:bodyPr>
          <a:lstStyle/>
          <a:p>
            <a:r>
              <a:rPr sz="900" b="0" i="0">
                <a:solidFill>
                  <a:srgbClr val="F4EFE6"/>
                </a:solidFill>
                <a:latin typeface="Arial"/>
              </a:rPr>
              <a:t>FROM THE PRODUCER</a:t>
            </a:r>
          </a:p>
        </p:txBody>
      </p:sp>
      <p:sp>
        <p:nvSpPr>
          <p:cNvPr id="8" name="TextBox 7"/>
          <p:cNvSpPr txBox="1"/>
          <p:nvPr/>
        </p:nvSpPr>
        <p:spPr>
          <a:xfrm>
            <a:off x="10519172" y="6489700"/>
            <a:ext cx="1164828" cy="88900"/>
          </a:xfrm>
          <a:prstGeom prst="rect">
            <a:avLst/>
          </a:prstGeom>
          <a:noFill/>
        </p:spPr>
        <p:txBody>
          <a:bodyPr wrap="square" lIns="0" rIns="0" tIns="0" bIns="0">
            <a:spAutoFit/>
          </a:bodyPr>
          <a:lstStyle/>
          <a:p>
            <a:r>
              <a:rPr sz="900" b="0" i="0">
                <a:solidFill>
                  <a:srgbClr val="F4EFE6"/>
                </a:solidFill>
                <a:latin typeface="Arial"/>
              </a:rPr>
              <a:t>20 OPPORTUNITY</a:t>
            </a:r>
          </a:p>
        </p:txBody>
      </p:sp>
      <p:sp>
        <p:nvSpPr>
          <p:cNvPr id="9" name="Rectangle 8"/>
          <p:cNvSpPr/>
          <p:nvPr/>
        </p:nvSpPr>
        <p:spPr>
          <a:xfrm>
            <a:off x="10767913" y="6511925"/>
            <a:ext cx="38100" cy="38100"/>
          </a:xfrm>
          <a:prstGeom prst="rect">
            <a:avLst/>
          </a:prstGeom>
          <a:solidFill>
            <a:srgbClr val="C924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4EFE6"/>
        </a:solidFill>
        <a:effectLst/>
      </p:bgPr>
    </p:bg>
    <p:spTree>
      <p:nvGrpSpPr>
        <p:cNvPr id="1" name=""/>
        <p:cNvGrpSpPr/>
        <p:nvPr/>
      </p:nvGrpSpPr>
      <p:grpSpPr/>
      <p:sp>
        <p:nvSpPr>
          <p:cNvPr id="2" name="TextBox 1"/>
          <p:cNvSpPr txBox="1"/>
          <p:nvPr/>
        </p:nvSpPr>
        <p:spPr>
          <a:xfrm>
            <a:off x="889000" y="933450"/>
            <a:ext cx="9508530" cy="2271415"/>
          </a:xfrm>
          <a:prstGeom prst="rect">
            <a:avLst/>
          </a:prstGeom>
          <a:noFill/>
        </p:spPr>
        <p:txBody>
          <a:bodyPr wrap="square" lIns="0" rIns="0" tIns="0" bIns="0">
            <a:spAutoFit/>
          </a:bodyPr>
          <a:lstStyle/>
          <a:p>
            <a:r>
              <a:rPr sz="6600" b="1" i="0">
                <a:solidFill>
                  <a:srgbClr val="111111"/>
                </a:solidFill>
                <a:latin typeface="Impact"/>
              </a:rPr>
              <a:t>LOS ANGELES DESERVES A SHOW THAT REPRESENTS THE CITY — ITS PEOPLE, ITS CULTURES, ITS TRUTH.</a:t>
            </a:r>
          </a:p>
        </p:txBody>
      </p:sp>
      <p:sp>
        <p:nvSpPr>
          <p:cNvPr id="3" name="TextBox 2"/>
          <p:cNvSpPr txBox="1"/>
          <p:nvPr/>
        </p:nvSpPr>
        <p:spPr>
          <a:xfrm>
            <a:off x="4478834" y="4364534"/>
            <a:ext cx="3207742" cy="628848"/>
          </a:xfrm>
          <a:prstGeom prst="rect">
            <a:avLst/>
          </a:prstGeom>
          <a:noFill/>
        </p:spPr>
        <p:txBody>
          <a:bodyPr wrap="square" lIns="0" rIns="0" tIns="0" bIns="0">
            <a:spAutoFit/>
          </a:bodyPr>
          <a:lstStyle/>
          <a:p>
            <a:r>
              <a:rPr sz="1275" b="0" i="0">
                <a:solidFill>
                  <a:srgbClr val="111111"/>
                </a:solidFill>
                <a:latin typeface="Arial"/>
              </a:rPr>
              <a:t>12 shows a week, 60 weeks a year, drawing audiences from across the basin and beyond. Jobs for actors, musicians, dancers, technicians — and a reason for visitors to stay an extra night.</a:t>
            </a:r>
          </a:p>
        </p:txBody>
      </p:sp>
      <p:sp>
        <p:nvSpPr>
          <p:cNvPr id="4" name="TextBox 3"/>
          <p:cNvSpPr txBox="1"/>
          <p:nvPr/>
        </p:nvSpPr>
        <p:spPr>
          <a:xfrm>
            <a:off x="889000" y="4364534"/>
            <a:ext cx="3168055" cy="635198"/>
          </a:xfrm>
          <a:prstGeom prst="rect">
            <a:avLst/>
          </a:prstGeom>
          <a:noFill/>
        </p:spPr>
        <p:txBody>
          <a:bodyPr wrap="square" lIns="0" rIns="0" tIns="0" bIns="0">
            <a:spAutoFit/>
          </a:bodyPr>
          <a:lstStyle/>
          <a:p>
            <a:r>
              <a:rPr sz="1275" b="0" i="0">
                <a:solidFill>
                  <a:srgbClr val="111111"/>
                </a:solidFill>
                <a:latin typeface="Arial"/>
              </a:rPr>
              <a:t>A permanent home for the stories LA tells about itself — built in the Arts District, owned by the city, not exported back to it. The first show of its kind to put the real Los Angeles at the center, every night.</a:t>
            </a:r>
          </a:p>
        </p:txBody>
      </p:sp>
      <p:sp>
        <p:nvSpPr>
          <p:cNvPr id="5" name="TextBox 4"/>
          <p:cNvSpPr txBox="1"/>
          <p:nvPr/>
        </p:nvSpPr>
        <p:spPr>
          <a:xfrm>
            <a:off x="8068667" y="4364534"/>
            <a:ext cx="3227884" cy="461566"/>
          </a:xfrm>
          <a:prstGeom prst="rect">
            <a:avLst/>
          </a:prstGeom>
          <a:noFill/>
        </p:spPr>
        <p:txBody>
          <a:bodyPr wrap="square" lIns="0" rIns="0" tIns="0" bIns="0">
            <a:spAutoFit/>
          </a:bodyPr>
          <a:lstStyle/>
          <a:p>
            <a:r>
              <a:rPr sz="1275" b="0" i="0">
                <a:solidFill>
                  <a:srgbClr val="111111"/>
                </a:solidFill>
                <a:latin typeface="Arial"/>
              </a:rPr>
              <a:t>Opening months before the World Cup, a year before the Olympics. As billions of eyes turn to LA, this is the show the city points to — its front door on the world stage.</a:t>
            </a:r>
          </a:p>
        </p:txBody>
      </p:sp>
      <p:sp>
        <p:nvSpPr>
          <p:cNvPr id="6" name="TextBox 5"/>
          <p:cNvSpPr txBox="1"/>
          <p:nvPr/>
        </p:nvSpPr>
        <p:spPr>
          <a:xfrm>
            <a:off x="889000" y="3365103"/>
            <a:ext cx="2740422" cy="184150"/>
          </a:xfrm>
          <a:prstGeom prst="rect">
            <a:avLst/>
          </a:prstGeom>
          <a:noFill/>
        </p:spPr>
        <p:txBody>
          <a:bodyPr wrap="square" lIns="0" rIns="0" tIns="0" bIns="0">
            <a:spAutoFit/>
          </a:bodyPr>
          <a:lstStyle/>
          <a:p>
            <a:r>
              <a:rPr sz="1950" b="0" i="1">
                <a:solidFill>
                  <a:srgbClr val="111111"/>
                </a:solidFill>
                <a:latin typeface="Playfair Display"/>
              </a:rPr>
              <a:t>The city is starving for great experiences.</a:t>
            </a:r>
          </a:p>
        </p:txBody>
      </p:sp>
      <p:sp>
        <p:nvSpPr>
          <p:cNvPr id="7" name="TextBox 6"/>
          <p:cNvSpPr txBox="1"/>
          <p:nvPr/>
        </p:nvSpPr>
        <p:spPr>
          <a:xfrm>
            <a:off x="889000" y="635000"/>
            <a:ext cx="1855093" cy="158750"/>
          </a:xfrm>
          <a:prstGeom prst="rect">
            <a:avLst/>
          </a:prstGeom>
          <a:noFill/>
        </p:spPr>
        <p:txBody>
          <a:bodyPr wrap="square" lIns="0" rIns="0" tIns="0" bIns="0">
            <a:spAutoFit/>
          </a:bodyPr>
          <a:lstStyle/>
          <a:p>
            <a:r>
              <a:rPr sz="1650" b="1" i="0">
                <a:solidFill>
                  <a:srgbClr val="C9242A"/>
                </a:solidFill>
                <a:latin typeface="Impact"/>
              </a:rPr>
              <a:t>SUMMARY · IMPACT</a:t>
            </a:r>
          </a:p>
        </p:txBody>
      </p:sp>
      <p:sp>
        <p:nvSpPr>
          <p:cNvPr id="8" name="TextBox 7"/>
          <p:cNvSpPr txBox="1"/>
          <p:nvPr/>
        </p:nvSpPr>
        <p:spPr>
          <a:xfrm>
            <a:off x="8068667" y="4148634"/>
            <a:ext cx="1401564" cy="82550"/>
          </a:xfrm>
          <a:prstGeom prst="rect">
            <a:avLst/>
          </a:prstGeom>
          <a:noFill/>
        </p:spPr>
        <p:txBody>
          <a:bodyPr wrap="square" lIns="0" rIns="0" tIns="0" bIns="0">
            <a:spAutoFit/>
          </a:bodyPr>
          <a:lstStyle/>
          <a:p>
            <a:r>
              <a:rPr sz="825" b="1" i="0">
                <a:solidFill>
                  <a:srgbClr val="C9242A"/>
                </a:solidFill>
                <a:latin typeface="Arial"/>
              </a:rPr>
              <a:t>A GLOBAL CALLING CARD</a:t>
            </a:r>
          </a:p>
        </p:txBody>
      </p:sp>
      <p:sp>
        <p:nvSpPr>
          <p:cNvPr id="9" name="TextBox 8"/>
          <p:cNvSpPr txBox="1"/>
          <p:nvPr/>
        </p:nvSpPr>
        <p:spPr>
          <a:xfrm>
            <a:off x="4478834" y="4148634"/>
            <a:ext cx="1231900" cy="82550"/>
          </a:xfrm>
          <a:prstGeom prst="rect">
            <a:avLst/>
          </a:prstGeom>
          <a:noFill/>
        </p:spPr>
        <p:txBody>
          <a:bodyPr wrap="square" lIns="0" rIns="0" tIns="0" bIns="0">
            <a:spAutoFit/>
          </a:bodyPr>
          <a:lstStyle/>
          <a:p>
            <a:r>
              <a:rPr sz="825" b="1" i="0">
                <a:solidFill>
                  <a:srgbClr val="C9242A"/>
                </a:solidFill>
                <a:latin typeface="Arial"/>
              </a:rPr>
              <a:t>AN ECONOMIC ENGINE</a:t>
            </a:r>
          </a:p>
        </p:txBody>
      </p:sp>
      <p:sp>
        <p:nvSpPr>
          <p:cNvPr id="10" name="TextBox 9"/>
          <p:cNvSpPr txBox="1"/>
          <p:nvPr/>
        </p:nvSpPr>
        <p:spPr>
          <a:xfrm>
            <a:off x="889000" y="4148634"/>
            <a:ext cx="1168301" cy="82550"/>
          </a:xfrm>
          <a:prstGeom prst="rect">
            <a:avLst/>
          </a:prstGeom>
          <a:noFill/>
        </p:spPr>
        <p:txBody>
          <a:bodyPr wrap="square" lIns="0" rIns="0" tIns="0" bIns="0">
            <a:spAutoFit/>
          </a:bodyPr>
          <a:lstStyle/>
          <a:p>
            <a:r>
              <a:rPr sz="825" b="1" i="0">
                <a:solidFill>
                  <a:srgbClr val="C9242A"/>
                </a:solidFill>
                <a:latin typeface="Arial"/>
              </a:rPr>
              <a:t>A CULTURAL ANCHOR</a:t>
            </a:r>
          </a:p>
        </p:txBody>
      </p:sp>
      <p:sp>
        <p:nvSpPr>
          <p:cNvPr id="11" name="TextBox 10"/>
          <p:cNvSpPr txBox="1"/>
          <p:nvPr/>
        </p:nvSpPr>
        <p:spPr>
          <a:xfrm>
            <a:off x="508000" y="6489700"/>
            <a:ext cx="1030486" cy="88900"/>
          </a:xfrm>
          <a:prstGeom prst="rect">
            <a:avLst/>
          </a:prstGeom>
          <a:noFill/>
        </p:spPr>
        <p:txBody>
          <a:bodyPr wrap="square" lIns="0" rIns="0" tIns="0" bIns="0">
            <a:spAutoFit/>
          </a:bodyPr>
          <a:lstStyle/>
          <a:p>
            <a:r>
              <a:rPr sz="900" b="0" i="0">
                <a:solidFill>
                  <a:srgbClr val="111111"/>
                </a:solidFill>
                <a:latin typeface="Arial"/>
              </a:rPr>
              <a:t>THE OPPORTUNITY</a:t>
            </a:r>
          </a:p>
        </p:txBody>
      </p:sp>
      <p:sp>
        <p:nvSpPr>
          <p:cNvPr id="12" name="TextBox 11"/>
          <p:cNvSpPr txBox="1"/>
          <p:nvPr/>
        </p:nvSpPr>
        <p:spPr>
          <a:xfrm>
            <a:off x="10756305" y="6489700"/>
            <a:ext cx="927695" cy="88900"/>
          </a:xfrm>
          <a:prstGeom prst="rect">
            <a:avLst/>
          </a:prstGeom>
          <a:noFill/>
        </p:spPr>
        <p:txBody>
          <a:bodyPr wrap="square" lIns="0" rIns="0" tIns="0" bIns="0">
            <a:spAutoFit/>
          </a:bodyPr>
          <a:lstStyle/>
          <a:p>
            <a:r>
              <a:rPr sz="900" b="0" i="0">
                <a:solidFill>
                  <a:srgbClr val="111111"/>
                </a:solidFill>
                <a:latin typeface="Arial"/>
              </a:rPr>
              <a:t>21 SUMMARY</a:t>
            </a:r>
          </a:p>
        </p:txBody>
      </p:sp>
      <p:sp>
        <p:nvSpPr>
          <p:cNvPr id="13" name="Rectangle 12"/>
          <p:cNvSpPr/>
          <p:nvPr/>
        </p:nvSpPr>
        <p:spPr>
          <a:xfrm>
            <a:off x="11005046" y="6511925"/>
            <a:ext cx="38100" cy="38100"/>
          </a:xfrm>
          <a:prstGeom prst="rect">
            <a:avLst/>
          </a:prstGeom>
          <a:solidFill>
            <a:srgbClr val="C924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4EFE6"/>
        </a:solidFill>
        <a:effectLst/>
      </p:bgPr>
    </p:bg>
    <p:spTree>
      <p:nvGrpSpPr>
        <p:cNvPr id="1" name=""/>
        <p:cNvGrpSpPr/>
        <p:nvPr/>
      </p:nvGrpSpPr>
      <p:grpSpPr/>
      <p:sp>
        <p:nvSpPr>
          <p:cNvPr id="2" name="TextBox 1"/>
          <p:cNvSpPr txBox="1"/>
          <p:nvPr/>
        </p:nvSpPr>
        <p:spPr>
          <a:xfrm>
            <a:off x="609600" y="1384498"/>
            <a:ext cx="4338241" cy="1981200"/>
          </a:xfrm>
          <a:prstGeom prst="rect">
            <a:avLst/>
          </a:prstGeom>
          <a:noFill/>
        </p:spPr>
        <p:txBody>
          <a:bodyPr wrap="square" lIns="0" rIns="0" tIns="0" bIns="0">
            <a:spAutoFit/>
          </a:bodyPr>
          <a:lstStyle/>
          <a:p>
            <a:r>
              <a:rPr sz="21000" b="1" i="0">
                <a:solidFill>
                  <a:srgbClr val="C9242A"/>
                </a:solidFill>
                <a:latin typeface="Impact"/>
              </a:rPr>
              <a:t>$ 5.97 M</a:t>
            </a:r>
          </a:p>
        </p:txBody>
      </p:sp>
      <p:sp>
        <p:nvSpPr>
          <p:cNvPr id="3" name="TextBox 2"/>
          <p:cNvSpPr txBox="1"/>
          <p:nvPr/>
        </p:nvSpPr>
        <p:spPr>
          <a:xfrm>
            <a:off x="609600" y="577850"/>
            <a:ext cx="3179167" cy="793750"/>
          </a:xfrm>
          <a:prstGeom prst="rect">
            <a:avLst/>
          </a:prstGeom>
          <a:noFill/>
        </p:spPr>
        <p:txBody>
          <a:bodyPr wrap="square" lIns="0" rIns="0" tIns="0" bIns="0">
            <a:spAutoFit/>
          </a:bodyPr>
          <a:lstStyle/>
          <a:p>
            <a:r>
              <a:rPr sz="8400" b="1" i="0">
                <a:solidFill>
                  <a:srgbClr val="111111"/>
                </a:solidFill>
                <a:latin typeface="Impact"/>
              </a:rPr>
              <a:t>THE ASK.</a:t>
            </a:r>
          </a:p>
        </p:txBody>
      </p:sp>
      <p:sp>
        <p:nvSpPr>
          <p:cNvPr id="4" name="TextBox 3"/>
          <p:cNvSpPr txBox="1"/>
          <p:nvPr/>
        </p:nvSpPr>
        <p:spPr>
          <a:xfrm>
            <a:off x="8901112" y="727968"/>
            <a:ext cx="2681288" cy="549870"/>
          </a:xfrm>
          <a:prstGeom prst="rect">
            <a:avLst/>
          </a:prstGeom>
          <a:noFill/>
        </p:spPr>
        <p:txBody>
          <a:bodyPr wrap="square" lIns="0" rIns="0" tIns="0" bIns="0">
            <a:spAutoFit/>
          </a:bodyPr>
          <a:lstStyle/>
          <a:p>
            <a:pPr algn="r"/>
            <a:r>
              <a:rPr sz="1650" b="0" i="1">
                <a:solidFill>
                  <a:srgbClr val="111111"/>
                </a:solidFill>
                <a:latin typeface="Playfair Display"/>
              </a:rPr>
              <a:t>A 60-week Los Angeles run. 12 shows a week. A transformed 30,100 sq ft warehouse at 539 S Mission Rd.</a:t>
            </a:r>
          </a:p>
        </p:txBody>
      </p:sp>
      <p:sp>
        <p:nvSpPr>
          <p:cNvPr id="5" name="TextBox 4"/>
          <p:cNvSpPr txBox="1"/>
          <p:nvPr/>
        </p:nvSpPr>
        <p:spPr>
          <a:xfrm>
            <a:off x="6715026" y="2886273"/>
            <a:ext cx="3990777" cy="209550"/>
          </a:xfrm>
          <a:prstGeom prst="rect">
            <a:avLst/>
          </a:prstGeom>
          <a:noFill/>
        </p:spPr>
        <p:txBody>
          <a:bodyPr wrap="square" lIns="0" rIns="0" tIns="0" bIns="0">
            <a:spAutoFit/>
          </a:bodyPr>
          <a:lstStyle/>
          <a:p>
            <a:r>
              <a:rPr sz="2250" b="1" i="0">
                <a:solidFill>
                  <a:srgbClr val="111111"/>
                </a:solidFill>
                <a:latin typeface="Impact"/>
              </a:rPr>
              <a:t>$2.68M · grants + philanthropy + community</a:t>
            </a:r>
          </a:p>
        </p:txBody>
      </p:sp>
      <p:sp>
        <p:nvSpPr>
          <p:cNvPr id="6" name="TextBox 5"/>
          <p:cNvSpPr txBox="1"/>
          <p:nvPr/>
        </p:nvSpPr>
        <p:spPr>
          <a:xfrm>
            <a:off x="6715026" y="1911548"/>
            <a:ext cx="2340074" cy="209550"/>
          </a:xfrm>
          <a:prstGeom prst="rect">
            <a:avLst/>
          </a:prstGeom>
          <a:noFill/>
        </p:spPr>
        <p:txBody>
          <a:bodyPr wrap="square" lIns="0" rIns="0" tIns="0" bIns="0">
            <a:spAutoFit/>
          </a:bodyPr>
          <a:lstStyle/>
          <a:p>
            <a:r>
              <a:rPr sz="2250" b="1" i="0">
                <a:solidFill>
                  <a:srgbClr val="111111"/>
                </a:solidFill>
                <a:latin typeface="Impact"/>
              </a:rPr>
              <a:t>$3.28M · 55% of cap stack</a:t>
            </a:r>
          </a:p>
        </p:txBody>
      </p:sp>
      <p:sp>
        <p:nvSpPr>
          <p:cNvPr id="7" name="TextBox 6"/>
          <p:cNvSpPr txBox="1"/>
          <p:nvPr/>
        </p:nvSpPr>
        <p:spPr>
          <a:xfrm>
            <a:off x="609600" y="3269159"/>
            <a:ext cx="2984897" cy="133350"/>
          </a:xfrm>
          <a:prstGeom prst="rect">
            <a:avLst/>
          </a:prstGeom>
          <a:noFill/>
        </p:spPr>
        <p:txBody>
          <a:bodyPr wrap="square" lIns="0" rIns="0" tIns="0" bIns="0">
            <a:spAutoFit/>
          </a:bodyPr>
          <a:lstStyle/>
          <a:p>
            <a:r>
              <a:rPr sz="1350" b="0" i="0">
                <a:solidFill>
                  <a:srgbClr val="111111"/>
                </a:solidFill>
                <a:latin typeface="Arial"/>
              </a:rPr>
              <a:t>TOTAL CAPITALIZATION · FULLY-LOADED</a:t>
            </a:r>
          </a:p>
        </p:txBody>
      </p:sp>
      <p:sp>
        <p:nvSpPr>
          <p:cNvPr id="8" name="TextBox 7"/>
          <p:cNvSpPr txBox="1"/>
          <p:nvPr/>
        </p:nvSpPr>
        <p:spPr>
          <a:xfrm>
            <a:off x="609600" y="406400"/>
            <a:ext cx="2415183" cy="158750"/>
          </a:xfrm>
          <a:prstGeom prst="rect">
            <a:avLst/>
          </a:prstGeom>
          <a:noFill/>
        </p:spPr>
        <p:txBody>
          <a:bodyPr wrap="square" lIns="0" rIns="0" tIns="0" bIns="0">
            <a:spAutoFit/>
          </a:bodyPr>
          <a:lstStyle/>
          <a:p>
            <a:r>
              <a:rPr sz="1650" b="1" i="0">
                <a:solidFill>
                  <a:srgbClr val="C9242A"/>
                </a:solidFill>
                <a:latin typeface="Impact"/>
              </a:rPr>
              <a:t>INVESTOR APPENDIX · 01</a:t>
            </a:r>
          </a:p>
        </p:txBody>
      </p:sp>
      <p:sp>
        <p:nvSpPr>
          <p:cNvPr id="9" name="TextBox 8"/>
          <p:cNvSpPr txBox="1"/>
          <p:nvPr/>
        </p:nvSpPr>
        <p:spPr>
          <a:xfrm>
            <a:off x="6715026" y="5092898"/>
            <a:ext cx="2869009" cy="127000"/>
          </a:xfrm>
          <a:prstGeom prst="rect">
            <a:avLst/>
          </a:prstGeom>
          <a:noFill/>
        </p:spPr>
        <p:txBody>
          <a:bodyPr wrap="square" lIns="0" rIns="0" tIns="0" bIns="0">
            <a:spAutoFit/>
          </a:bodyPr>
          <a:lstStyle/>
          <a:p>
            <a:r>
              <a:rPr sz="1350" b="0" i="1">
                <a:solidFill>
                  <a:srgbClr val="111111"/>
                </a:solidFill>
                <a:latin typeface="Playfair Display"/>
              </a:rPr>
              <a:t>Pilot at The Ford oversold at 1,000+ — strong demand signal.</a:t>
            </a:r>
          </a:p>
        </p:txBody>
      </p:sp>
      <p:sp>
        <p:nvSpPr>
          <p:cNvPr id="10" name="TextBox 9"/>
          <p:cNvSpPr txBox="1"/>
          <p:nvPr/>
        </p:nvSpPr>
        <p:spPr>
          <a:xfrm>
            <a:off x="508000" y="6489700"/>
            <a:ext cx="3887391" cy="88900"/>
          </a:xfrm>
          <a:prstGeom prst="rect">
            <a:avLst/>
          </a:prstGeom>
          <a:noFill/>
        </p:spPr>
        <p:txBody>
          <a:bodyPr wrap="square" lIns="0" rIns="0" tIns="0" bIns="0">
            <a:spAutoFit/>
          </a:bodyPr>
          <a:lstStyle/>
          <a:p>
            <a:r>
              <a:rPr sz="900" b="0" i="0">
                <a:solidFill>
                  <a:srgbClr val="111111"/>
                </a:solidFill>
                <a:latin typeface="Arial"/>
              </a:rPr>
              <a:t>NO ROYALTY MODEL · COMPOSITION RIGHTS OWNED BY PRODUCTION</a:t>
            </a:r>
          </a:p>
        </p:txBody>
      </p:sp>
      <p:sp>
        <p:nvSpPr>
          <p:cNvPr id="11" name="TextBox 10"/>
          <p:cNvSpPr txBox="1"/>
          <p:nvPr/>
        </p:nvSpPr>
        <p:spPr>
          <a:xfrm>
            <a:off x="6715026" y="3143448"/>
            <a:ext cx="2684462" cy="127000"/>
          </a:xfrm>
          <a:prstGeom prst="rect">
            <a:avLst/>
          </a:prstGeom>
          <a:noFill/>
        </p:spPr>
        <p:txBody>
          <a:bodyPr wrap="square" lIns="0" rIns="0" tIns="0" bIns="0">
            <a:spAutoFit/>
          </a:bodyPr>
          <a:lstStyle/>
          <a:p>
            <a:r>
              <a:rPr sz="1350" b="0" i="1">
                <a:solidFill>
                  <a:srgbClr val="111111"/>
                </a:solidFill>
                <a:latin typeface="Playfair Display"/>
              </a:rPr>
              <a:t>Non-recoupable capital. De-risks the investor tier by 45%.</a:t>
            </a:r>
          </a:p>
        </p:txBody>
      </p:sp>
      <p:sp>
        <p:nvSpPr>
          <p:cNvPr id="12" name="TextBox 11"/>
          <p:cNvSpPr txBox="1"/>
          <p:nvPr/>
        </p:nvSpPr>
        <p:spPr>
          <a:xfrm>
            <a:off x="6715026" y="4118173"/>
            <a:ext cx="2643386" cy="127000"/>
          </a:xfrm>
          <a:prstGeom prst="rect">
            <a:avLst/>
          </a:prstGeom>
          <a:noFill/>
        </p:spPr>
        <p:txBody>
          <a:bodyPr wrap="square" lIns="0" rIns="0" tIns="0" bIns="0">
            <a:spAutoFit/>
          </a:bodyPr>
          <a:lstStyle/>
          <a:p>
            <a:r>
              <a:rPr sz="1350" b="0" i="1">
                <a:solidFill>
                  <a:srgbClr val="111111"/>
                </a:solidFill>
                <a:latin typeface="Playfair Display"/>
              </a:rPr>
              <a:t>1,800 seats × weighted avg $90.56 · 150-cap × 12 shows.</a:t>
            </a:r>
          </a:p>
        </p:txBody>
      </p:sp>
      <p:sp>
        <p:nvSpPr>
          <p:cNvPr id="13" name="TextBox 12"/>
          <p:cNvSpPr txBox="1"/>
          <p:nvPr/>
        </p:nvSpPr>
        <p:spPr>
          <a:xfrm>
            <a:off x="6715026" y="2168723"/>
            <a:ext cx="2593677" cy="127000"/>
          </a:xfrm>
          <a:prstGeom prst="rect">
            <a:avLst/>
          </a:prstGeom>
          <a:noFill/>
        </p:spPr>
        <p:txBody>
          <a:bodyPr wrap="square" lIns="0" rIns="0" tIns="0" bIns="0">
            <a:spAutoFit/>
          </a:bodyPr>
          <a:lstStyle/>
          <a:p>
            <a:r>
              <a:rPr sz="1350" b="0" i="1">
                <a:solidFill>
                  <a:srgbClr val="111111"/>
                </a:solidFill>
                <a:latin typeface="Playfair Display"/>
              </a:rPr>
              <a:t>Recoupable at 120%, plus 50% profit share post-recoup.</a:t>
            </a:r>
          </a:p>
        </p:txBody>
      </p:sp>
      <p:sp>
        <p:nvSpPr>
          <p:cNvPr id="14" name="TextBox 13"/>
          <p:cNvSpPr txBox="1"/>
          <p:nvPr/>
        </p:nvSpPr>
        <p:spPr>
          <a:xfrm>
            <a:off x="6715026" y="4835723"/>
            <a:ext cx="1355626" cy="209550"/>
          </a:xfrm>
          <a:prstGeom prst="rect">
            <a:avLst/>
          </a:prstGeom>
          <a:noFill/>
        </p:spPr>
        <p:txBody>
          <a:bodyPr wrap="square" lIns="0" rIns="0" tIns="0" bIns="0">
            <a:spAutoFit/>
          </a:bodyPr>
          <a:lstStyle/>
          <a:p>
            <a:r>
              <a:rPr sz="2250" b="1" i="0">
                <a:solidFill>
                  <a:srgbClr val="111111"/>
                </a:solidFill>
                <a:latin typeface="Impact"/>
              </a:rPr>
              <a:t>64.1% capacity</a:t>
            </a:r>
          </a:p>
        </p:txBody>
      </p:sp>
      <p:sp>
        <p:nvSpPr>
          <p:cNvPr id="15" name="TextBox 14"/>
          <p:cNvSpPr txBox="1"/>
          <p:nvPr/>
        </p:nvSpPr>
        <p:spPr>
          <a:xfrm>
            <a:off x="6715026" y="3860998"/>
            <a:ext cx="794643" cy="209550"/>
          </a:xfrm>
          <a:prstGeom prst="rect">
            <a:avLst/>
          </a:prstGeom>
          <a:noFill/>
        </p:spPr>
        <p:txBody>
          <a:bodyPr wrap="square" lIns="0" rIns="0" tIns="0" bIns="0">
            <a:spAutoFit/>
          </a:bodyPr>
          <a:lstStyle/>
          <a:p>
            <a:r>
              <a:rPr sz="2250" b="1" i="0">
                <a:solidFill>
                  <a:srgbClr val="111111"/>
                </a:solidFill>
                <a:latin typeface="Impact"/>
              </a:rPr>
              <a:t>$163,000</a:t>
            </a:r>
          </a:p>
        </p:txBody>
      </p:sp>
      <p:sp>
        <p:nvSpPr>
          <p:cNvPr id="16" name="TextBox 15"/>
          <p:cNvSpPr txBox="1"/>
          <p:nvPr/>
        </p:nvSpPr>
        <p:spPr>
          <a:xfrm>
            <a:off x="6715026" y="3702248"/>
            <a:ext cx="1634034" cy="95250"/>
          </a:xfrm>
          <a:prstGeom prst="rect">
            <a:avLst/>
          </a:prstGeom>
          <a:noFill/>
        </p:spPr>
        <p:txBody>
          <a:bodyPr wrap="square" lIns="0" rIns="0" tIns="0" bIns="0">
            <a:spAutoFit/>
          </a:bodyPr>
          <a:lstStyle/>
          <a:p>
            <a:r>
              <a:rPr sz="975" b="0" i="0">
                <a:solidFill>
                  <a:srgbClr val="C9242A"/>
                </a:solidFill>
                <a:latin typeface="Arial"/>
              </a:rPr>
              <a:t>WEEKLY GROSS POTENTIAL</a:t>
            </a:r>
          </a:p>
        </p:txBody>
      </p:sp>
      <p:sp>
        <p:nvSpPr>
          <p:cNvPr id="17" name="TextBox 16"/>
          <p:cNvSpPr txBox="1"/>
          <p:nvPr/>
        </p:nvSpPr>
        <p:spPr>
          <a:xfrm>
            <a:off x="6715026" y="1752798"/>
            <a:ext cx="930970" cy="95250"/>
          </a:xfrm>
          <a:prstGeom prst="rect">
            <a:avLst/>
          </a:prstGeom>
          <a:noFill/>
        </p:spPr>
        <p:txBody>
          <a:bodyPr wrap="square" lIns="0" rIns="0" tIns="0" bIns="0">
            <a:spAutoFit/>
          </a:bodyPr>
          <a:lstStyle/>
          <a:p>
            <a:r>
              <a:rPr sz="975" b="0" i="0">
                <a:solidFill>
                  <a:srgbClr val="C9242A"/>
                </a:solidFill>
                <a:latin typeface="Arial"/>
              </a:rPr>
              <a:t>INVESTOR TIER</a:t>
            </a:r>
          </a:p>
        </p:txBody>
      </p:sp>
      <p:sp>
        <p:nvSpPr>
          <p:cNvPr id="18" name="TextBox 17"/>
          <p:cNvSpPr txBox="1"/>
          <p:nvPr/>
        </p:nvSpPr>
        <p:spPr>
          <a:xfrm>
            <a:off x="10729813" y="6489700"/>
            <a:ext cx="954187" cy="88900"/>
          </a:xfrm>
          <a:prstGeom prst="rect">
            <a:avLst/>
          </a:prstGeom>
          <a:noFill/>
        </p:spPr>
        <p:txBody>
          <a:bodyPr wrap="square" lIns="0" rIns="0" tIns="0" bIns="0">
            <a:spAutoFit/>
          </a:bodyPr>
          <a:lstStyle/>
          <a:p>
            <a:r>
              <a:rPr sz="900" b="0" i="0">
                <a:solidFill>
                  <a:srgbClr val="111111"/>
                </a:solidFill>
                <a:latin typeface="Arial"/>
              </a:rPr>
              <a:t>22 INVESTOR</a:t>
            </a:r>
          </a:p>
        </p:txBody>
      </p:sp>
      <p:sp>
        <p:nvSpPr>
          <p:cNvPr id="19" name="TextBox 18"/>
          <p:cNvSpPr txBox="1"/>
          <p:nvPr/>
        </p:nvSpPr>
        <p:spPr>
          <a:xfrm>
            <a:off x="6715026" y="4676973"/>
            <a:ext cx="707330" cy="95250"/>
          </a:xfrm>
          <a:prstGeom prst="rect">
            <a:avLst/>
          </a:prstGeom>
          <a:noFill/>
        </p:spPr>
        <p:txBody>
          <a:bodyPr wrap="square" lIns="0" rIns="0" tIns="0" bIns="0">
            <a:spAutoFit/>
          </a:bodyPr>
          <a:lstStyle/>
          <a:p>
            <a:r>
              <a:rPr sz="975" b="0" i="0">
                <a:solidFill>
                  <a:srgbClr val="C9242A"/>
                </a:solidFill>
                <a:latin typeface="Arial"/>
              </a:rPr>
              <a:t>BREAKEVEN</a:t>
            </a:r>
          </a:p>
        </p:txBody>
      </p:sp>
      <p:sp>
        <p:nvSpPr>
          <p:cNvPr id="20" name="TextBox 19"/>
          <p:cNvSpPr txBox="1"/>
          <p:nvPr/>
        </p:nvSpPr>
        <p:spPr>
          <a:xfrm>
            <a:off x="6715026" y="2727523"/>
            <a:ext cx="550862" cy="95250"/>
          </a:xfrm>
          <a:prstGeom prst="rect">
            <a:avLst/>
          </a:prstGeom>
          <a:noFill/>
        </p:spPr>
        <p:txBody>
          <a:bodyPr wrap="square" lIns="0" rIns="0" tIns="0" bIns="0">
            <a:spAutoFit/>
          </a:bodyPr>
          <a:lstStyle/>
          <a:p>
            <a:r>
              <a:rPr sz="975" b="0" i="0">
                <a:solidFill>
                  <a:srgbClr val="C9242A"/>
                </a:solidFill>
                <a:latin typeface="Arial"/>
              </a:rPr>
              <a:t>BALANCE</a:t>
            </a:r>
          </a:p>
        </p:txBody>
      </p:sp>
      <p:sp>
        <p:nvSpPr>
          <p:cNvPr id="21" name="Rectangle 20"/>
          <p:cNvSpPr/>
          <p:nvPr/>
        </p:nvSpPr>
        <p:spPr>
          <a:xfrm>
            <a:off x="10978555" y="6511925"/>
            <a:ext cx="38100" cy="38100"/>
          </a:xfrm>
          <a:prstGeom prst="rect">
            <a:avLst/>
          </a:prstGeom>
          <a:solidFill>
            <a:srgbClr val="C924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4EFE6"/>
        </a:solidFill>
        <a:effectLst/>
      </p:bgPr>
    </p:bg>
    <p:spTree>
      <p:nvGrpSpPr>
        <p:cNvPr id="1" name=""/>
        <p:cNvGrpSpPr/>
        <p:nvPr/>
      </p:nvGrpSpPr>
      <p:grpSpPr/>
      <p:sp>
        <p:nvSpPr>
          <p:cNvPr id="2" name="TextBox 1"/>
          <p:cNvSpPr txBox="1"/>
          <p:nvPr/>
        </p:nvSpPr>
        <p:spPr>
          <a:xfrm>
            <a:off x="609600" y="577850"/>
            <a:ext cx="5307509" cy="793750"/>
          </a:xfrm>
          <a:prstGeom prst="rect">
            <a:avLst/>
          </a:prstGeom>
          <a:noFill/>
        </p:spPr>
        <p:txBody>
          <a:bodyPr wrap="square" lIns="0" rIns="0" tIns="0" bIns="0">
            <a:spAutoFit/>
          </a:bodyPr>
          <a:lstStyle/>
          <a:p>
            <a:r>
              <a:rPr sz="8400" b="1" i="0">
                <a:solidFill>
                  <a:srgbClr val="111111"/>
                </a:solidFill>
                <a:latin typeface="Impact"/>
              </a:rPr>
              <a:t>USE OF FUNDS.</a:t>
            </a:r>
          </a:p>
        </p:txBody>
      </p:sp>
      <p:sp>
        <p:nvSpPr>
          <p:cNvPr id="3" name="TextBox 2"/>
          <p:cNvSpPr txBox="1"/>
          <p:nvPr/>
        </p:nvSpPr>
        <p:spPr>
          <a:xfrm>
            <a:off x="8720138" y="727968"/>
            <a:ext cx="2862262" cy="549870"/>
          </a:xfrm>
          <a:prstGeom prst="rect">
            <a:avLst/>
          </a:prstGeom>
          <a:noFill/>
        </p:spPr>
        <p:txBody>
          <a:bodyPr wrap="square" lIns="0" rIns="0" tIns="0" bIns="0">
            <a:spAutoFit/>
          </a:bodyPr>
          <a:lstStyle/>
          <a:p>
            <a:pPr algn="r"/>
            <a:r>
              <a:rPr sz="1650" b="0" i="1">
                <a:solidFill>
                  <a:srgbClr val="111111"/>
                </a:solidFill>
                <a:latin typeface="Playfair Display"/>
              </a:rPr>
              <a:t>Every line from the production budget — rolled up into nine categories. The build is real; the numbers are conservative.</a:t>
            </a:r>
          </a:p>
        </p:txBody>
      </p:sp>
      <p:sp>
        <p:nvSpPr>
          <p:cNvPr id="4" name="Rectangle 3"/>
          <p:cNvSpPr/>
          <p:nvPr/>
        </p:nvSpPr>
        <p:spPr>
          <a:xfrm>
            <a:off x="2921000" y="1790898"/>
            <a:ext cx="6832600" cy="114300"/>
          </a:xfrm>
          <a:prstGeom prst="rect">
            <a:avLst/>
          </a:prstGeom>
          <a:solidFill>
            <a:srgbClr val="C924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8000" y="6489700"/>
            <a:ext cx="6910685" cy="88900"/>
          </a:xfrm>
          <a:prstGeom prst="rect">
            <a:avLst/>
          </a:prstGeom>
          <a:noFill/>
        </p:spPr>
        <p:txBody>
          <a:bodyPr wrap="square" lIns="0" rIns="0" tIns="0" bIns="0">
            <a:spAutoFit/>
          </a:bodyPr>
          <a:lstStyle/>
          <a:p>
            <a:r>
              <a:rPr sz="900" b="0" i="0">
                <a:solidFill>
                  <a:srgbClr val="111111"/>
                </a:solidFill>
                <a:latin typeface="Arial"/>
              </a:rPr>
              <a:t>SOURCE: PRODUCTION BUDGET V4 · APRIL 2026 · LED WALL OWNED (8-MO BREAKEVEN) · COMPRESSED 2+2+2 PRE-OPEN</a:t>
            </a:r>
          </a:p>
        </p:txBody>
      </p:sp>
      <p:sp>
        <p:nvSpPr>
          <p:cNvPr id="6" name="TextBox 5"/>
          <p:cNvSpPr txBox="1"/>
          <p:nvPr/>
        </p:nvSpPr>
        <p:spPr>
          <a:xfrm>
            <a:off x="609600" y="1670248"/>
            <a:ext cx="1642070" cy="349250"/>
          </a:xfrm>
          <a:prstGeom prst="rect">
            <a:avLst/>
          </a:prstGeom>
          <a:noFill/>
        </p:spPr>
        <p:txBody>
          <a:bodyPr wrap="square" lIns="0" rIns="0" tIns="0" bIns="0">
            <a:spAutoFit/>
          </a:bodyPr>
          <a:lstStyle/>
          <a:p>
            <a:r>
              <a:rPr sz="1800" b="1" i="0">
                <a:solidFill>
                  <a:srgbClr val="111111"/>
                </a:solidFill>
                <a:latin typeface="Impact"/>
              </a:rPr>
              <a:t>SCENIC &amp; PHYSICAL PRODUCTION</a:t>
            </a:r>
          </a:p>
        </p:txBody>
      </p:sp>
      <p:sp>
        <p:nvSpPr>
          <p:cNvPr id="7" name="TextBox 6"/>
          <p:cNvSpPr txBox="1"/>
          <p:nvPr/>
        </p:nvSpPr>
        <p:spPr>
          <a:xfrm>
            <a:off x="609600" y="3835598"/>
            <a:ext cx="1545630" cy="349250"/>
          </a:xfrm>
          <a:prstGeom prst="rect">
            <a:avLst/>
          </a:prstGeom>
          <a:noFill/>
        </p:spPr>
        <p:txBody>
          <a:bodyPr wrap="square" lIns="0" rIns="0" tIns="0" bIns="0">
            <a:spAutoFit/>
          </a:bodyPr>
          <a:lstStyle/>
          <a:p>
            <a:r>
              <a:rPr sz="1800" b="1" i="0">
                <a:solidFill>
                  <a:srgbClr val="111111"/>
                </a:solidFill>
                <a:latin typeface="Impact"/>
              </a:rPr>
              <a:t>BONDS, DEPOSITS, ADVANCES</a:t>
            </a:r>
          </a:p>
        </p:txBody>
      </p:sp>
      <p:sp>
        <p:nvSpPr>
          <p:cNvPr id="8" name="TextBox 7"/>
          <p:cNvSpPr txBox="1"/>
          <p:nvPr/>
        </p:nvSpPr>
        <p:spPr>
          <a:xfrm>
            <a:off x="609600" y="2933898"/>
            <a:ext cx="1193205" cy="349250"/>
          </a:xfrm>
          <a:prstGeom prst="rect">
            <a:avLst/>
          </a:prstGeom>
          <a:noFill/>
        </p:spPr>
        <p:txBody>
          <a:bodyPr wrap="square" lIns="0" rIns="0" tIns="0" bIns="0">
            <a:spAutoFit/>
          </a:bodyPr>
          <a:lstStyle/>
          <a:p>
            <a:r>
              <a:rPr sz="1800" b="1" i="0">
                <a:solidFill>
                  <a:srgbClr val="111111"/>
                </a:solidFill>
                <a:latin typeface="Impact"/>
              </a:rPr>
              <a:t>RESERVE &amp; CONTINGENCY</a:t>
            </a:r>
          </a:p>
        </p:txBody>
      </p:sp>
      <p:sp>
        <p:nvSpPr>
          <p:cNvPr id="9" name="TextBox 8"/>
          <p:cNvSpPr txBox="1"/>
          <p:nvPr/>
        </p:nvSpPr>
        <p:spPr>
          <a:xfrm>
            <a:off x="609600" y="5099248"/>
            <a:ext cx="1154509" cy="349250"/>
          </a:xfrm>
          <a:prstGeom prst="rect">
            <a:avLst/>
          </a:prstGeom>
          <a:noFill/>
        </p:spPr>
        <p:txBody>
          <a:bodyPr wrap="square" lIns="0" rIns="0" tIns="0" bIns="0">
            <a:spAutoFit/>
          </a:bodyPr>
          <a:lstStyle/>
          <a:p>
            <a:r>
              <a:rPr sz="1800" b="1" i="0">
                <a:solidFill>
                  <a:srgbClr val="111111"/>
                </a:solidFill>
                <a:latin typeface="Impact"/>
              </a:rPr>
              <a:t>G&amp;A · LEGAL · INSURANCE</a:t>
            </a:r>
          </a:p>
        </p:txBody>
      </p:sp>
      <p:sp>
        <p:nvSpPr>
          <p:cNvPr id="10" name="TextBox 9"/>
          <p:cNvSpPr txBox="1"/>
          <p:nvPr/>
        </p:nvSpPr>
        <p:spPr>
          <a:xfrm>
            <a:off x="609600" y="406400"/>
            <a:ext cx="2415183" cy="158750"/>
          </a:xfrm>
          <a:prstGeom prst="rect">
            <a:avLst/>
          </a:prstGeom>
          <a:noFill/>
        </p:spPr>
        <p:txBody>
          <a:bodyPr wrap="square" lIns="0" rIns="0" tIns="0" bIns="0">
            <a:spAutoFit/>
          </a:bodyPr>
          <a:lstStyle/>
          <a:p>
            <a:r>
              <a:rPr sz="1650" b="1" i="0">
                <a:solidFill>
                  <a:srgbClr val="C9242A"/>
                </a:solidFill>
                <a:latin typeface="Impact"/>
              </a:rPr>
              <a:t>INVESTOR APPENDIX · 02</a:t>
            </a:r>
          </a:p>
        </p:txBody>
      </p:sp>
      <p:sp>
        <p:nvSpPr>
          <p:cNvPr id="11" name="TextBox 10"/>
          <p:cNvSpPr txBox="1"/>
          <p:nvPr/>
        </p:nvSpPr>
        <p:spPr>
          <a:xfrm>
            <a:off x="609600" y="4375348"/>
            <a:ext cx="2066925" cy="171450"/>
          </a:xfrm>
          <a:prstGeom prst="rect">
            <a:avLst/>
          </a:prstGeom>
          <a:noFill/>
        </p:spPr>
        <p:txBody>
          <a:bodyPr wrap="square" lIns="0" rIns="0" tIns="0" bIns="0">
            <a:spAutoFit/>
          </a:bodyPr>
          <a:lstStyle/>
          <a:p>
            <a:r>
              <a:rPr sz="1800" b="1" i="0">
                <a:solidFill>
                  <a:srgbClr val="111111"/>
                </a:solidFill>
                <a:latin typeface="Impact"/>
              </a:rPr>
              <a:t>LOAD-IN LABOR &amp; VENUE</a:t>
            </a:r>
          </a:p>
        </p:txBody>
      </p:sp>
      <p:sp>
        <p:nvSpPr>
          <p:cNvPr id="12" name="TextBox 11"/>
          <p:cNvSpPr txBox="1"/>
          <p:nvPr/>
        </p:nvSpPr>
        <p:spPr>
          <a:xfrm>
            <a:off x="609600" y="3473648"/>
            <a:ext cx="2001838" cy="171450"/>
          </a:xfrm>
          <a:prstGeom prst="rect">
            <a:avLst/>
          </a:prstGeom>
          <a:noFill/>
        </p:spPr>
        <p:txBody>
          <a:bodyPr wrap="square" lIns="0" rIns="0" tIns="0" bIns="0">
            <a:spAutoFit/>
          </a:bodyPr>
          <a:lstStyle/>
          <a:p>
            <a:r>
              <a:rPr sz="1800" b="1" i="0">
                <a:solidFill>
                  <a:srgbClr val="111111"/>
                </a:solidFill>
                <a:latin typeface="Impact"/>
              </a:rPr>
              <a:t>PRE-OPENING SALARIES</a:t>
            </a:r>
          </a:p>
        </p:txBody>
      </p:sp>
      <p:sp>
        <p:nvSpPr>
          <p:cNvPr id="13" name="Rectangle 12"/>
          <p:cNvSpPr/>
          <p:nvPr/>
        </p:nvSpPr>
        <p:spPr>
          <a:xfrm>
            <a:off x="2921000" y="2241748"/>
            <a:ext cx="2978944" cy="114300"/>
          </a:xfrm>
          <a:prstGeom prst="rect">
            <a:avLst/>
          </a:prstGeom>
          <a:solidFill>
            <a:srgbClr val="C924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9600" y="2209998"/>
            <a:ext cx="1981895" cy="171450"/>
          </a:xfrm>
          <a:prstGeom prst="rect">
            <a:avLst/>
          </a:prstGeom>
          <a:noFill/>
        </p:spPr>
        <p:txBody>
          <a:bodyPr wrap="square" lIns="0" rIns="0" tIns="0" bIns="0">
            <a:spAutoFit/>
          </a:bodyPr>
          <a:lstStyle/>
          <a:p>
            <a:r>
              <a:rPr sz="1800" b="1" i="0">
                <a:solidFill>
                  <a:srgbClr val="111111"/>
                </a:solidFill>
                <a:latin typeface="Impact"/>
              </a:rPr>
              <a:t>CREATIVE &amp; MGMT FEES</a:t>
            </a:r>
          </a:p>
        </p:txBody>
      </p:sp>
      <p:sp>
        <p:nvSpPr>
          <p:cNvPr id="15" name="TextBox 14"/>
          <p:cNvSpPr txBox="1"/>
          <p:nvPr/>
        </p:nvSpPr>
        <p:spPr>
          <a:xfrm>
            <a:off x="609600" y="5727898"/>
            <a:ext cx="1902619" cy="171450"/>
          </a:xfrm>
          <a:prstGeom prst="rect">
            <a:avLst/>
          </a:prstGeom>
          <a:noFill/>
        </p:spPr>
        <p:txBody>
          <a:bodyPr wrap="square" lIns="0" rIns="0" tIns="0" bIns="0">
            <a:spAutoFit/>
          </a:bodyPr>
          <a:lstStyle/>
          <a:p>
            <a:r>
              <a:rPr sz="1800" b="1" i="0">
                <a:solidFill>
                  <a:srgbClr val="C9242A"/>
                </a:solidFill>
                <a:latin typeface="Impact"/>
              </a:rPr>
              <a:t>TOTAL CAPITALIZATION</a:t>
            </a:r>
          </a:p>
        </p:txBody>
      </p:sp>
      <p:sp>
        <p:nvSpPr>
          <p:cNvPr id="16" name="TextBox 15"/>
          <p:cNvSpPr txBox="1"/>
          <p:nvPr/>
        </p:nvSpPr>
        <p:spPr>
          <a:xfrm>
            <a:off x="609600" y="4737298"/>
            <a:ext cx="1775420" cy="171450"/>
          </a:xfrm>
          <a:prstGeom prst="rect">
            <a:avLst/>
          </a:prstGeom>
          <a:noFill/>
        </p:spPr>
        <p:txBody>
          <a:bodyPr wrap="square" lIns="0" rIns="0" tIns="0" bIns="0">
            <a:spAutoFit/>
          </a:bodyPr>
          <a:lstStyle/>
          <a:p>
            <a:r>
              <a:rPr sz="1800" b="1" i="0">
                <a:solidFill>
                  <a:srgbClr val="111111"/>
                </a:solidFill>
                <a:latin typeface="Impact"/>
              </a:rPr>
              <a:t>CASTING, MUSIC, DEV</a:t>
            </a:r>
          </a:p>
        </p:txBody>
      </p:sp>
      <p:sp>
        <p:nvSpPr>
          <p:cNvPr id="17" name="TextBox 16"/>
          <p:cNvSpPr txBox="1"/>
          <p:nvPr/>
        </p:nvSpPr>
        <p:spPr>
          <a:xfrm>
            <a:off x="609600" y="2571948"/>
            <a:ext cx="1706166" cy="171450"/>
          </a:xfrm>
          <a:prstGeom prst="rect">
            <a:avLst/>
          </a:prstGeom>
          <a:noFill/>
        </p:spPr>
        <p:txBody>
          <a:bodyPr wrap="square" lIns="0" rIns="0" tIns="0" bIns="0">
            <a:spAutoFit/>
          </a:bodyPr>
          <a:lstStyle/>
          <a:p>
            <a:r>
              <a:rPr sz="1800" b="1" i="0">
                <a:solidFill>
                  <a:srgbClr val="111111"/>
                </a:solidFill>
                <a:latin typeface="Impact"/>
              </a:rPr>
              <a:t>LAUNCH MARKETING</a:t>
            </a:r>
          </a:p>
        </p:txBody>
      </p:sp>
      <p:sp>
        <p:nvSpPr>
          <p:cNvPr id="18" name="Rectangle 17"/>
          <p:cNvSpPr/>
          <p:nvPr/>
        </p:nvSpPr>
        <p:spPr>
          <a:xfrm>
            <a:off x="2921000" y="2603698"/>
            <a:ext cx="2227362" cy="114300"/>
          </a:xfrm>
          <a:prstGeom prst="rect">
            <a:avLst/>
          </a:prstGeom>
          <a:solidFill>
            <a:srgbClr val="C924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921000" y="3054548"/>
            <a:ext cx="2111177" cy="114300"/>
          </a:xfrm>
          <a:prstGeom prst="rect">
            <a:avLst/>
          </a:prstGeom>
          <a:solidFill>
            <a:srgbClr val="C924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06000" y="5721548"/>
            <a:ext cx="994073" cy="190500"/>
          </a:xfrm>
          <a:prstGeom prst="rect">
            <a:avLst/>
          </a:prstGeom>
          <a:noFill/>
        </p:spPr>
        <p:txBody>
          <a:bodyPr wrap="square" lIns="0" rIns="0" tIns="0" bIns="0">
            <a:spAutoFit/>
          </a:bodyPr>
          <a:lstStyle/>
          <a:p>
            <a:pPr algn="r"/>
            <a:r>
              <a:rPr sz="1950" b="1" i="0">
                <a:solidFill>
                  <a:srgbClr val="111111"/>
                </a:solidFill>
                <a:latin typeface="ui-monospace"/>
              </a:rPr>
              <a:t>$5,965,767</a:t>
            </a:r>
          </a:p>
        </p:txBody>
      </p:sp>
      <p:sp>
        <p:nvSpPr>
          <p:cNvPr id="21" name="Rectangle 20"/>
          <p:cNvSpPr/>
          <p:nvPr/>
        </p:nvSpPr>
        <p:spPr>
          <a:xfrm>
            <a:off x="2921000" y="3505398"/>
            <a:ext cx="1168301" cy="114300"/>
          </a:xfrm>
          <a:prstGeom prst="rect">
            <a:avLst/>
          </a:prstGeom>
          <a:solidFill>
            <a:srgbClr val="C924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906000" y="1771848"/>
            <a:ext cx="764679" cy="152400"/>
          </a:xfrm>
          <a:prstGeom prst="rect">
            <a:avLst/>
          </a:prstGeom>
          <a:noFill/>
        </p:spPr>
        <p:txBody>
          <a:bodyPr wrap="square" lIns="0" rIns="0" tIns="0" bIns="0">
            <a:spAutoFit/>
          </a:bodyPr>
          <a:lstStyle/>
          <a:p>
            <a:pPr algn="r"/>
            <a:r>
              <a:rPr sz="1500" b="1" i="0">
                <a:solidFill>
                  <a:srgbClr val="111111"/>
                </a:solidFill>
                <a:latin typeface="ui-monospace"/>
              </a:rPr>
              <a:t>$2,314,250</a:t>
            </a:r>
          </a:p>
        </p:txBody>
      </p:sp>
      <p:sp>
        <p:nvSpPr>
          <p:cNvPr id="23" name="TextBox 22"/>
          <p:cNvSpPr txBox="1"/>
          <p:nvPr/>
        </p:nvSpPr>
        <p:spPr>
          <a:xfrm>
            <a:off x="9906000" y="2222698"/>
            <a:ext cx="764679" cy="152400"/>
          </a:xfrm>
          <a:prstGeom prst="rect">
            <a:avLst/>
          </a:prstGeom>
          <a:noFill/>
        </p:spPr>
        <p:txBody>
          <a:bodyPr wrap="square" lIns="0" rIns="0" tIns="0" bIns="0">
            <a:spAutoFit/>
          </a:bodyPr>
          <a:lstStyle/>
          <a:p>
            <a:pPr algn="r"/>
            <a:r>
              <a:rPr sz="1500" b="1" i="0">
                <a:solidFill>
                  <a:srgbClr val="111111"/>
                </a:solidFill>
                <a:latin typeface="ui-monospace"/>
              </a:rPr>
              <a:t>$1,008,879</a:t>
            </a:r>
          </a:p>
        </p:txBody>
      </p:sp>
      <p:sp>
        <p:nvSpPr>
          <p:cNvPr id="24" name="TextBox 23"/>
          <p:cNvSpPr txBox="1"/>
          <p:nvPr/>
        </p:nvSpPr>
        <p:spPr>
          <a:xfrm>
            <a:off x="10056316" y="2584648"/>
            <a:ext cx="611684" cy="152400"/>
          </a:xfrm>
          <a:prstGeom prst="rect">
            <a:avLst/>
          </a:prstGeom>
          <a:noFill/>
        </p:spPr>
        <p:txBody>
          <a:bodyPr wrap="square" lIns="0" rIns="0" tIns="0" bIns="0">
            <a:spAutoFit/>
          </a:bodyPr>
          <a:lstStyle/>
          <a:p>
            <a:pPr algn="r"/>
            <a:r>
              <a:rPr sz="1500" b="1" i="0">
                <a:solidFill>
                  <a:srgbClr val="111111"/>
                </a:solidFill>
                <a:latin typeface="ui-monospace"/>
              </a:rPr>
              <a:t>$754,500</a:t>
            </a:r>
          </a:p>
        </p:txBody>
      </p:sp>
      <p:sp>
        <p:nvSpPr>
          <p:cNvPr id="25" name="TextBox 24"/>
          <p:cNvSpPr txBox="1"/>
          <p:nvPr/>
        </p:nvSpPr>
        <p:spPr>
          <a:xfrm>
            <a:off x="10056316" y="3035498"/>
            <a:ext cx="611684" cy="152400"/>
          </a:xfrm>
          <a:prstGeom prst="rect">
            <a:avLst/>
          </a:prstGeom>
          <a:noFill/>
        </p:spPr>
        <p:txBody>
          <a:bodyPr wrap="square" lIns="0" rIns="0" tIns="0" bIns="0">
            <a:spAutoFit/>
          </a:bodyPr>
          <a:lstStyle/>
          <a:p>
            <a:pPr algn="r"/>
            <a:r>
              <a:rPr sz="1500" b="1" i="0">
                <a:solidFill>
                  <a:srgbClr val="111111"/>
                </a:solidFill>
                <a:latin typeface="ui-monospace"/>
              </a:rPr>
              <a:t>$714,325</a:t>
            </a:r>
          </a:p>
        </p:txBody>
      </p:sp>
      <p:sp>
        <p:nvSpPr>
          <p:cNvPr id="26" name="TextBox 25"/>
          <p:cNvSpPr txBox="1"/>
          <p:nvPr/>
        </p:nvSpPr>
        <p:spPr>
          <a:xfrm>
            <a:off x="10056316" y="3486348"/>
            <a:ext cx="611684" cy="152400"/>
          </a:xfrm>
          <a:prstGeom prst="rect">
            <a:avLst/>
          </a:prstGeom>
          <a:noFill/>
        </p:spPr>
        <p:txBody>
          <a:bodyPr wrap="square" lIns="0" rIns="0" tIns="0" bIns="0">
            <a:spAutoFit/>
          </a:bodyPr>
          <a:lstStyle/>
          <a:p>
            <a:pPr algn="r"/>
            <a:r>
              <a:rPr sz="1500" b="1" i="0">
                <a:solidFill>
                  <a:srgbClr val="111111"/>
                </a:solidFill>
                <a:latin typeface="ui-monospace"/>
              </a:rPr>
              <a:t>$394,919</a:t>
            </a:r>
          </a:p>
        </p:txBody>
      </p:sp>
      <p:sp>
        <p:nvSpPr>
          <p:cNvPr id="27" name="TextBox 26"/>
          <p:cNvSpPr txBox="1"/>
          <p:nvPr/>
        </p:nvSpPr>
        <p:spPr>
          <a:xfrm>
            <a:off x="10056316" y="3937198"/>
            <a:ext cx="611684" cy="152400"/>
          </a:xfrm>
          <a:prstGeom prst="rect">
            <a:avLst/>
          </a:prstGeom>
          <a:noFill/>
        </p:spPr>
        <p:txBody>
          <a:bodyPr wrap="square" lIns="0" rIns="0" tIns="0" bIns="0">
            <a:spAutoFit/>
          </a:bodyPr>
          <a:lstStyle/>
          <a:p>
            <a:pPr algn="r"/>
            <a:r>
              <a:rPr sz="1500" b="1" i="0">
                <a:solidFill>
                  <a:srgbClr val="111111"/>
                </a:solidFill>
                <a:latin typeface="ui-monospace"/>
              </a:rPr>
              <a:t>$233,500</a:t>
            </a:r>
          </a:p>
        </p:txBody>
      </p:sp>
      <p:sp>
        <p:nvSpPr>
          <p:cNvPr id="28" name="TextBox 27"/>
          <p:cNvSpPr txBox="1"/>
          <p:nvPr/>
        </p:nvSpPr>
        <p:spPr>
          <a:xfrm>
            <a:off x="10056316" y="4388048"/>
            <a:ext cx="611684" cy="152400"/>
          </a:xfrm>
          <a:prstGeom prst="rect">
            <a:avLst/>
          </a:prstGeom>
          <a:noFill/>
        </p:spPr>
        <p:txBody>
          <a:bodyPr wrap="square" lIns="0" rIns="0" tIns="0" bIns="0">
            <a:spAutoFit/>
          </a:bodyPr>
          <a:lstStyle/>
          <a:p>
            <a:pPr algn="r"/>
            <a:r>
              <a:rPr sz="1500" b="1" i="0">
                <a:solidFill>
                  <a:srgbClr val="111111"/>
                </a:solidFill>
                <a:latin typeface="ui-monospace"/>
              </a:rPr>
              <a:t>$190,794</a:t>
            </a:r>
          </a:p>
        </p:txBody>
      </p:sp>
      <p:sp>
        <p:nvSpPr>
          <p:cNvPr id="29" name="TextBox 28"/>
          <p:cNvSpPr txBox="1"/>
          <p:nvPr/>
        </p:nvSpPr>
        <p:spPr>
          <a:xfrm>
            <a:off x="10056316" y="4749998"/>
            <a:ext cx="611684" cy="152400"/>
          </a:xfrm>
          <a:prstGeom prst="rect">
            <a:avLst/>
          </a:prstGeom>
          <a:noFill/>
        </p:spPr>
        <p:txBody>
          <a:bodyPr wrap="square" lIns="0" rIns="0" tIns="0" bIns="0">
            <a:spAutoFit/>
          </a:bodyPr>
          <a:lstStyle/>
          <a:p>
            <a:pPr algn="r"/>
            <a:r>
              <a:rPr sz="1500" b="1" i="0">
                <a:solidFill>
                  <a:srgbClr val="111111"/>
                </a:solidFill>
                <a:latin typeface="ui-monospace"/>
              </a:rPr>
              <a:t>$179,900</a:t>
            </a:r>
          </a:p>
        </p:txBody>
      </p:sp>
      <p:sp>
        <p:nvSpPr>
          <p:cNvPr id="30" name="TextBox 29"/>
          <p:cNvSpPr txBox="1"/>
          <p:nvPr/>
        </p:nvSpPr>
        <p:spPr>
          <a:xfrm>
            <a:off x="10056316" y="5200848"/>
            <a:ext cx="611684" cy="152400"/>
          </a:xfrm>
          <a:prstGeom prst="rect">
            <a:avLst/>
          </a:prstGeom>
          <a:noFill/>
        </p:spPr>
        <p:txBody>
          <a:bodyPr wrap="square" lIns="0" rIns="0" tIns="0" bIns="0">
            <a:spAutoFit/>
          </a:bodyPr>
          <a:lstStyle/>
          <a:p>
            <a:pPr algn="r"/>
            <a:r>
              <a:rPr sz="1500" b="1" i="0">
                <a:solidFill>
                  <a:srgbClr val="111111"/>
                </a:solidFill>
                <a:latin typeface="ui-monospace"/>
              </a:rPr>
              <a:t>$174,700</a:t>
            </a:r>
          </a:p>
        </p:txBody>
      </p:sp>
      <p:sp>
        <p:nvSpPr>
          <p:cNvPr id="31" name="TextBox 30"/>
          <p:cNvSpPr txBox="1"/>
          <p:nvPr/>
        </p:nvSpPr>
        <p:spPr>
          <a:xfrm>
            <a:off x="10729813" y="6489700"/>
            <a:ext cx="954187" cy="88900"/>
          </a:xfrm>
          <a:prstGeom prst="rect">
            <a:avLst/>
          </a:prstGeom>
          <a:noFill/>
        </p:spPr>
        <p:txBody>
          <a:bodyPr wrap="square" lIns="0" rIns="0" tIns="0" bIns="0">
            <a:spAutoFit/>
          </a:bodyPr>
          <a:lstStyle/>
          <a:p>
            <a:r>
              <a:rPr sz="900" b="0" i="0">
                <a:solidFill>
                  <a:srgbClr val="111111"/>
                </a:solidFill>
                <a:latin typeface="Arial"/>
              </a:rPr>
              <a:t>23 INVESTOR</a:t>
            </a:r>
          </a:p>
        </p:txBody>
      </p:sp>
      <p:sp>
        <p:nvSpPr>
          <p:cNvPr id="32" name="Rectangle 31"/>
          <p:cNvSpPr/>
          <p:nvPr/>
        </p:nvSpPr>
        <p:spPr>
          <a:xfrm>
            <a:off x="2921000" y="3956248"/>
            <a:ext cx="690066" cy="114300"/>
          </a:xfrm>
          <a:prstGeom prst="rect">
            <a:avLst/>
          </a:prstGeom>
          <a:solidFill>
            <a:srgbClr val="C924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2921000" y="4407098"/>
            <a:ext cx="560189" cy="114300"/>
          </a:xfrm>
          <a:prstGeom prst="rect">
            <a:avLst/>
          </a:prstGeom>
          <a:solidFill>
            <a:srgbClr val="C924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921000" y="4769048"/>
            <a:ext cx="532904" cy="114300"/>
          </a:xfrm>
          <a:prstGeom prst="rect">
            <a:avLst/>
          </a:prstGeom>
          <a:solidFill>
            <a:srgbClr val="C924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2921000" y="5219898"/>
            <a:ext cx="512366" cy="114300"/>
          </a:xfrm>
          <a:prstGeom prst="rect">
            <a:avLst/>
          </a:prstGeom>
          <a:solidFill>
            <a:srgbClr val="C924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1211024" y="1797248"/>
            <a:ext cx="371376" cy="101600"/>
          </a:xfrm>
          <a:prstGeom prst="rect">
            <a:avLst/>
          </a:prstGeom>
          <a:noFill/>
        </p:spPr>
        <p:txBody>
          <a:bodyPr wrap="square" lIns="0" rIns="0" tIns="0" bIns="0">
            <a:spAutoFit/>
          </a:bodyPr>
          <a:lstStyle/>
          <a:p>
            <a:pPr algn="r"/>
            <a:r>
              <a:rPr sz="1050" b="0" i="0">
                <a:solidFill>
                  <a:srgbClr val="111111"/>
                </a:solidFill>
                <a:latin typeface="Arial"/>
              </a:rPr>
              <a:t>38.8%</a:t>
            </a:r>
          </a:p>
        </p:txBody>
      </p:sp>
      <p:sp>
        <p:nvSpPr>
          <p:cNvPr id="37" name="TextBox 36"/>
          <p:cNvSpPr txBox="1"/>
          <p:nvPr/>
        </p:nvSpPr>
        <p:spPr>
          <a:xfrm>
            <a:off x="11211024" y="2248098"/>
            <a:ext cx="371376" cy="101600"/>
          </a:xfrm>
          <a:prstGeom prst="rect">
            <a:avLst/>
          </a:prstGeom>
          <a:noFill/>
        </p:spPr>
        <p:txBody>
          <a:bodyPr wrap="square" lIns="0" rIns="0" tIns="0" bIns="0">
            <a:spAutoFit/>
          </a:bodyPr>
          <a:lstStyle/>
          <a:p>
            <a:pPr algn="r"/>
            <a:r>
              <a:rPr sz="1050" b="0" i="0">
                <a:solidFill>
                  <a:srgbClr val="111111"/>
                </a:solidFill>
                <a:latin typeface="Arial"/>
              </a:rPr>
              <a:t>16.9%</a:t>
            </a:r>
          </a:p>
        </p:txBody>
      </p:sp>
      <p:sp>
        <p:nvSpPr>
          <p:cNvPr id="38" name="TextBox 37"/>
          <p:cNvSpPr txBox="1"/>
          <p:nvPr/>
        </p:nvSpPr>
        <p:spPr>
          <a:xfrm>
            <a:off x="11211024" y="2610048"/>
            <a:ext cx="371376" cy="101600"/>
          </a:xfrm>
          <a:prstGeom prst="rect">
            <a:avLst/>
          </a:prstGeom>
          <a:noFill/>
        </p:spPr>
        <p:txBody>
          <a:bodyPr wrap="square" lIns="0" rIns="0" tIns="0" bIns="0">
            <a:spAutoFit/>
          </a:bodyPr>
          <a:lstStyle/>
          <a:p>
            <a:pPr algn="r"/>
            <a:r>
              <a:rPr sz="1050" b="0" i="0">
                <a:solidFill>
                  <a:srgbClr val="111111"/>
                </a:solidFill>
                <a:latin typeface="Arial"/>
              </a:rPr>
              <a:t>12.6%</a:t>
            </a:r>
          </a:p>
        </p:txBody>
      </p:sp>
      <p:sp>
        <p:nvSpPr>
          <p:cNvPr id="39" name="TextBox 38"/>
          <p:cNvSpPr txBox="1"/>
          <p:nvPr/>
        </p:nvSpPr>
        <p:spPr>
          <a:xfrm>
            <a:off x="11211024" y="3060898"/>
            <a:ext cx="371376" cy="101600"/>
          </a:xfrm>
          <a:prstGeom prst="rect">
            <a:avLst/>
          </a:prstGeom>
          <a:noFill/>
        </p:spPr>
        <p:txBody>
          <a:bodyPr wrap="square" lIns="0" rIns="0" tIns="0" bIns="0">
            <a:spAutoFit/>
          </a:bodyPr>
          <a:lstStyle/>
          <a:p>
            <a:pPr algn="r"/>
            <a:r>
              <a:rPr sz="1050" b="0" i="0">
                <a:solidFill>
                  <a:srgbClr val="111111"/>
                </a:solidFill>
                <a:latin typeface="Arial"/>
              </a:rPr>
              <a:t>12.0%</a:t>
            </a:r>
          </a:p>
        </p:txBody>
      </p:sp>
      <p:sp>
        <p:nvSpPr>
          <p:cNvPr id="40" name="TextBox 39"/>
          <p:cNvSpPr txBox="1"/>
          <p:nvPr/>
        </p:nvSpPr>
        <p:spPr>
          <a:xfrm>
            <a:off x="11257062" y="5765998"/>
            <a:ext cx="325338" cy="101600"/>
          </a:xfrm>
          <a:prstGeom prst="rect">
            <a:avLst/>
          </a:prstGeom>
          <a:noFill/>
        </p:spPr>
        <p:txBody>
          <a:bodyPr wrap="square" lIns="0" rIns="0" tIns="0" bIns="0">
            <a:spAutoFit/>
          </a:bodyPr>
          <a:lstStyle/>
          <a:p>
            <a:pPr algn="r"/>
            <a:r>
              <a:rPr sz="1050" b="0" i="0">
                <a:solidFill>
                  <a:srgbClr val="111111"/>
                </a:solidFill>
                <a:latin typeface="Arial"/>
              </a:rPr>
              <a:t>100%</a:t>
            </a:r>
          </a:p>
        </p:txBody>
      </p:sp>
      <p:sp>
        <p:nvSpPr>
          <p:cNvPr id="41" name="TextBox 40"/>
          <p:cNvSpPr txBox="1"/>
          <p:nvPr/>
        </p:nvSpPr>
        <p:spPr>
          <a:xfrm>
            <a:off x="11285339" y="3511748"/>
            <a:ext cx="297061" cy="101600"/>
          </a:xfrm>
          <a:prstGeom prst="rect">
            <a:avLst/>
          </a:prstGeom>
          <a:noFill/>
        </p:spPr>
        <p:txBody>
          <a:bodyPr wrap="square" lIns="0" rIns="0" tIns="0" bIns="0">
            <a:spAutoFit/>
          </a:bodyPr>
          <a:lstStyle/>
          <a:p>
            <a:pPr algn="r"/>
            <a:r>
              <a:rPr sz="1050" b="0" i="0">
                <a:solidFill>
                  <a:srgbClr val="111111"/>
                </a:solidFill>
                <a:latin typeface="Arial"/>
              </a:rPr>
              <a:t>6.6%</a:t>
            </a:r>
          </a:p>
        </p:txBody>
      </p:sp>
      <p:sp>
        <p:nvSpPr>
          <p:cNvPr id="42" name="TextBox 41"/>
          <p:cNvSpPr txBox="1"/>
          <p:nvPr/>
        </p:nvSpPr>
        <p:spPr>
          <a:xfrm>
            <a:off x="11285339" y="3962598"/>
            <a:ext cx="297061" cy="101600"/>
          </a:xfrm>
          <a:prstGeom prst="rect">
            <a:avLst/>
          </a:prstGeom>
          <a:noFill/>
        </p:spPr>
        <p:txBody>
          <a:bodyPr wrap="square" lIns="0" rIns="0" tIns="0" bIns="0">
            <a:spAutoFit/>
          </a:bodyPr>
          <a:lstStyle/>
          <a:p>
            <a:pPr algn="r"/>
            <a:r>
              <a:rPr sz="1050" b="0" i="0">
                <a:solidFill>
                  <a:srgbClr val="111111"/>
                </a:solidFill>
                <a:latin typeface="Arial"/>
              </a:rPr>
              <a:t>3.9%</a:t>
            </a:r>
          </a:p>
        </p:txBody>
      </p:sp>
      <p:sp>
        <p:nvSpPr>
          <p:cNvPr id="43" name="TextBox 42"/>
          <p:cNvSpPr txBox="1"/>
          <p:nvPr/>
        </p:nvSpPr>
        <p:spPr>
          <a:xfrm>
            <a:off x="11285339" y="4413448"/>
            <a:ext cx="297061" cy="101600"/>
          </a:xfrm>
          <a:prstGeom prst="rect">
            <a:avLst/>
          </a:prstGeom>
          <a:noFill/>
        </p:spPr>
        <p:txBody>
          <a:bodyPr wrap="square" lIns="0" rIns="0" tIns="0" bIns="0">
            <a:spAutoFit/>
          </a:bodyPr>
          <a:lstStyle/>
          <a:p>
            <a:pPr algn="r"/>
            <a:r>
              <a:rPr sz="1050" b="0" i="0">
                <a:solidFill>
                  <a:srgbClr val="111111"/>
                </a:solidFill>
                <a:latin typeface="Arial"/>
              </a:rPr>
              <a:t>3.2%</a:t>
            </a:r>
          </a:p>
        </p:txBody>
      </p:sp>
      <p:sp>
        <p:nvSpPr>
          <p:cNvPr id="44" name="TextBox 43"/>
          <p:cNvSpPr txBox="1"/>
          <p:nvPr/>
        </p:nvSpPr>
        <p:spPr>
          <a:xfrm>
            <a:off x="11285339" y="4775398"/>
            <a:ext cx="297061" cy="101600"/>
          </a:xfrm>
          <a:prstGeom prst="rect">
            <a:avLst/>
          </a:prstGeom>
          <a:noFill/>
        </p:spPr>
        <p:txBody>
          <a:bodyPr wrap="square" lIns="0" rIns="0" tIns="0" bIns="0">
            <a:spAutoFit/>
          </a:bodyPr>
          <a:lstStyle/>
          <a:p>
            <a:pPr algn="r"/>
            <a:r>
              <a:rPr sz="1050" b="0" i="0">
                <a:solidFill>
                  <a:srgbClr val="111111"/>
                </a:solidFill>
                <a:latin typeface="Arial"/>
              </a:rPr>
              <a:t>3.0%</a:t>
            </a:r>
          </a:p>
        </p:txBody>
      </p:sp>
      <p:sp>
        <p:nvSpPr>
          <p:cNvPr id="45" name="TextBox 44"/>
          <p:cNvSpPr txBox="1"/>
          <p:nvPr/>
        </p:nvSpPr>
        <p:spPr>
          <a:xfrm>
            <a:off x="11285339" y="5226248"/>
            <a:ext cx="297061" cy="101600"/>
          </a:xfrm>
          <a:prstGeom prst="rect">
            <a:avLst/>
          </a:prstGeom>
          <a:noFill/>
        </p:spPr>
        <p:txBody>
          <a:bodyPr wrap="square" lIns="0" rIns="0" tIns="0" bIns="0">
            <a:spAutoFit/>
          </a:bodyPr>
          <a:lstStyle/>
          <a:p>
            <a:pPr algn="r"/>
            <a:r>
              <a:rPr sz="1050" b="0" i="0">
                <a:solidFill>
                  <a:srgbClr val="111111"/>
                </a:solidFill>
                <a:latin typeface="Arial"/>
              </a:rPr>
              <a:t>2.9%</a:t>
            </a:r>
          </a:p>
        </p:txBody>
      </p:sp>
      <p:sp>
        <p:nvSpPr>
          <p:cNvPr id="46" name="Rectangle 45"/>
          <p:cNvSpPr/>
          <p:nvPr/>
        </p:nvSpPr>
        <p:spPr>
          <a:xfrm>
            <a:off x="10978555" y="6511925"/>
            <a:ext cx="38100" cy="38100"/>
          </a:xfrm>
          <a:prstGeom prst="rect">
            <a:avLst/>
          </a:prstGeom>
          <a:solidFill>
            <a:srgbClr val="C924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C0C0C"/>
        </a:solidFill>
        <a:effectLst/>
      </p:bgPr>
    </p:bg>
    <p:spTree>
      <p:nvGrpSpPr>
        <p:cNvPr id="1" name=""/>
        <p:cNvGrpSpPr/>
        <p:nvPr/>
      </p:nvGrpSpPr>
      <p:grpSpPr/>
      <p:sp>
        <p:nvSpPr>
          <p:cNvPr id="2" name="TextBox 1"/>
          <p:cNvSpPr txBox="1"/>
          <p:nvPr/>
        </p:nvSpPr>
        <p:spPr>
          <a:xfrm>
            <a:off x="609600" y="577850"/>
            <a:ext cx="6004520" cy="793750"/>
          </a:xfrm>
          <a:prstGeom prst="rect">
            <a:avLst/>
          </a:prstGeom>
          <a:noFill/>
        </p:spPr>
        <p:txBody>
          <a:bodyPr wrap="square" lIns="0" rIns="0" tIns="0" bIns="0">
            <a:spAutoFit/>
          </a:bodyPr>
          <a:lstStyle/>
          <a:p>
            <a:r>
              <a:rPr sz="8400" b="1" i="0">
                <a:solidFill>
                  <a:srgbClr val="F4EFE6"/>
                </a:solidFill>
                <a:latin typeface="Impact"/>
              </a:rPr>
              <a:t>THE ECONOMICS.</a:t>
            </a:r>
          </a:p>
        </p:txBody>
      </p:sp>
      <p:sp>
        <p:nvSpPr>
          <p:cNvPr id="3" name="TextBox 2"/>
          <p:cNvSpPr txBox="1"/>
          <p:nvPr/>
        </p:nvSpPr>
        <p:spPr>
          <a:xfrm>
            <a:off x="8711009" y="727968"/>
            <a:ext cx="2871391" cy="549870"/>
          </a:xfrm>
          <a:prstGeom prst="rect">
            <a:avLst/>
          </a:prstGeom>
          <a:noFill/>
        </p:spPr>
        <p:txBody>
          <a:bodyPr wrap="square" lIns="0" rIns="0" tIns="0" bIns="0">
            <a:spAutoFit/>
          </a:bodyPr>
          <a:lstStyle/>
          <a:p>
            <a:pPr algn="r"/>
            <a:r>
              <a:rPr sz="1650" b="0" i="1">
                <a:solidFill>
                  <a:srgbClr val="F4EFE6"/>
                </a:solidFill>
                <a:latin typeface="Playfair Display"/>
              </a:rPr>
              <a:t>Every performance has a community-access tier. Accessibility is built into the pricing — not isolated to one night a week.</a:t>
            </a:r>
          </a:p>
        </p:txBody>
      </p:sp>
      <p:sp>
        <p:nvSpPr>
          <p:cNvPr id="4" name="TextBox 3"/>
          <p:cNvSpPr txBox="1"/>
          <p:nvPr/>
        </p:nvSpPr>
        <p:spPr>
          <a:xfrm>
            <a:off x="819150" y="3104059"/>
            <a:ext cx="1446907" cy="508000"/>
          </a:xfrm>
          <a:prstGeom prst="rect">
            <a:avLst/>
          </a:prstGeom>
          <a:noFill/>
        </p:spPr>
        <p:txBody>
          <a:bodyPr wrap="square" lIns="0" rIns="0" tIns="0" bIns="0">
            <a:spAutoFit/>
          </a:bodyPr>
          <a:lstStyle/>
          <a:p>
            <a:r>
              <a:rPr sz="5400" b="1" i="0">
                <a:solidFill>
                  <a:srgbClr val="F4EFE6"/>
                </a:solidFill>
                <a:latin typeface="Impact"/>
              </a:rPr>
              <a:t>$56.7K</a:t>
            </a:r>
          </a:p>
        </p:txBody>
      </p:sp>
      <p:sp>
        <p:nvSpPr>
          <p:cNvPr id="5" name="TextBox 4"/>
          <p:cNvSpPr txBox="1"/>
          <p:nvPr/>
        </p:nvSpPr>
        <p:spPr>
          <a:xfrm>
            <a:off x="819150" y="4271169"/>
            <a:ext cx="1371005" cy="508000"/>
          </a:xfrm>
          <a:prstGeom prst="rect">
            <a:avLst/>
          </a:prstGeom>
          <a:noFill/>
        </p:spPr>
        <p:txBody>
          <a:bodyPr wrap="square" lIns="0" rIns="0" tIns="0" bIns="0">
            <a:spAutoFit/>
          </a:bodyPr>
          <a:lstStyle/>
          <a:p>
            <a:r>
              <a:rPr sz="5400" b="1" i="0">
                <a:solidFill>
                  <a:srgbClr val="F4EFE6"/>
                </a:solidFill>
                <a:latin typeface="Impact"/>
              </a:rPr>
              <a:t>$90.56</a:t>
            </a:r>
          </a:p>
        </p:txBody>
      </p:sp>
      <p:sp>
        <p:nvSpPr>
          <p:cNvPr id="6" name="TextBox 5"/>
          <p:cNvSpPr txBox="1"/>
          <p:nvPr/>
        </p:nvSpPr>
        <p:spPr>
          <a:xfrm>
            <a:off x="609600" y="1936948"/>
            <a:ext cx="1324471" cy="508000"/>
          </a:xfrm>
          <a:prstGeom prst="rect">
            <a:avLst/>
          </a:prstGeom>
          <a:noFill/>
        </p:spPr>
        <p:txBody>
          <a:bodyPr wrap="square" lIns="0" rIns="0" tIns="0" bIns="0">
            <a:spAutoFit/>
          </a:bodyPr>
          <a:lstStyle/>
          <a:p>
            <a:r>
              <a:rPr sz="5400" b="1" i="0">
                <a:solidFill>
                  <a:srgbClr val="F4EFE6"/>
                </a:solidFill>
                <a:latin typeface="Impact"/>
              </a:rPr>
              <a:t>$163K</a:t>
            </a:r>
          </a:p>
        </p:txBody>
      </p:sp>
      <p:sp>
        <p:nvSpPr>
          <p:cNvPr id="7" name="TextBox 6"/>
          <p:cNvSpPr txBox="1"/>
          <p:nvPr/>
        </p:nvSpPr>
        <p:spPr>
          <a:xfrm>
            <a:off x="3586460" y="1936948"/>
            <a:ext cx="1324471" cy="508000"/>
          </a:xfrm>
          <a:prstGeom prst="rect">
            <a:avLst/>
          </a:prstGeom>
          <a:noFill/>
        </p:spPr>
        <p:txBody>
          <a:bodyPr wrap="square" lIns="0" rIns="0" tIns="0" bIns="0">
            <a:spAutoFit/>
          </a:bodyPr>
          <a:lstStyle/>
          <a:p>
            <a:r>
              <a:rPr sz="5400" b="1" i="0">
                <a:solidFill>
                  <a:srgbClr val="F4EFE6"/>
                </a:solidFill>
                <a:latin typeface="Impact"/>
              </a:rPr>
              <a:t>$106K</a:t>
            </a:r>
          </a:p>
        </p:txBody>
      </p:sp>
      <p:sp>
        <p:nvSpPr>
          <p:cNvPr id="8" name="TextBox 7"/>
          <p:cNvSpPr txBox="1"/>
          <p:nvPr/>
        </p:nvSpPr>
        <p:spPr>
          <a:xfrm>
            <a:off x="3586460" y="3104059"/>
            <a:ext cx="1055191" cy="508000"/>
          </a:xfrm>
          <a:prstGeom prst="rect">
            <a:avLst/>
          </a:prstGeom>
          <a:noFill/>
        </p:spPr>
        <p:txBody>
          <a:bodyPr wrap="square" lIns="0" rIns="0" tIns="0" bIns="0">
            <a:spAutoFit/>
          </a:bodyPr>
          <a:lstStyle/>
          <a:p>
            <a:r>
              <a:rPr sz="5400" b="1" i="0">
                <a:solidFill>
                  <a:srgbClr val="F4EFE6"/>
                </a:solidFill>
                <a:latin typeface="Impact"/>
              </a:rPr>
              <a:t>64.1 %</a:t>
            </a:r>
          </a:p>
        </p:txBody>
      </p:sp>
      <p:sp>
        <p:nvSpPr>
          <p:cNvPr id="9" name="TextBox 8"/>
          <p:cNvSpPr txBox="1"/>
          <p:nvPr/>
        </p:nvSpPr>
        <p:spPr>
          <a:xfrm>
            <a:off x="508000" y="6489700"/>
            <a:ext cx="5203130" cy="88900"/>
          </a:xfrm>
          <a:prstGeom prst="rect">
            <a:avLst/>
          </a:prstGeom>
          <a:noFill/>
        </p:spPr>
        <p:txBody>
          <a:bodyPr wrap="square" lIns="0" rIns="0" tIns="0" bIns="0">
            <a:spAutoFit/>
          </a:bodyPr>
          <a:lstStyle/>
          <a:p>
            <a:r>
              <a:rPr sz="900" b="0" i="0">
                <a:solidFill>
                  <a:srgbClr val="F4EFE6"/>
                </a:solidFill>
                <a:latin typeface="Arial"/>
              </a:rPr>
              <a:t>TIERED WITHIN EVERY PERFORMANCE · THU COMMUNITY NIGHT RESERVES 80 SEATS AT $40</a:t>
            </a:r>
          </a:p>
        </p:txBody>
      </p:sp>
      <p:sp>
        <p:nvSpPr>
          <p:cNvPr id="10" name="TextBox 9"/>
          <p:cNvSpPr txBox="1"/>
          <p:nvPr/>
        </p:nvSpPr>
        <p:spPr>
          <a:xfrm>
            <a:off x="609600" y="406400"/>
            <a:ext cx="2415183" cy="158750"/>
          </a:xfrm>
          <a:prstGeom prst="rect">
            <a:avLst/>
          </a:prstGeom>
          <a:noFill/>
        </p:spPr>
        <p:txBody>
          <a:bodyPr wrap="square" lIns="0" rIns="0" tIns="0" bIns="0">
            <a:spAutoFit/>
          </a:bodyPr>
          <a:lstStyle/>
          <a:p>
            <a:r>
              <a:rPr sz="1650" b="1" i="0">
                <a:solidFill>
                  <a:srgbClr val="C9242A"/>
                </a:solidFill>
                <a:latin typeface="Impact"/>
              </a:rPr>
              <a:t>INVESTOR APPENDIX · 03</a:t>
            </a:r>
          </a:p>
        </p:txBody>
      </p:sp>
      <p:sp>
        <p:nvSpPr>
          <p:cNvPr id="11" name="TextBox 10"/>
          <p:cNvSpPr txBox="1"/>
          <p:nvPr/>
        </p:nvSpPr>
        <p:spPr>
          <a:xfrm>
            <a:off x="3586460" y="4271169"/>
            <a:ext cx="749201" cy="508000"/>
          </a:xfrm>
          <a:prstGeom prst="rect">
            <a:avLst/>
          </a:prstGeom>
          <a:noFill/>
        </p:spPr>
        <p:txBody>
          <a:bodyPr wrap="square" lIns="0" rIns="0" tIns="0" bIns="0">
            <a:spAutoFit/>
          </a:bodyPr>
          <a:lstStyle/>
          <a:p>
            <a:r>
              <a:rPr sz="5400" b="1" i="0">
                <a:solidFill>
                  <a:srgbClr val="F4EFE6"/>
                </a:solidFill>
                <a:latin typeface="Impact"/>
              </a:rPr>
              <a:t>520</a:t>
            </a:r>
          </a:p>
        </p:txBody>
      </p:sp>
      <p:sp>
        <p:nvSpPr>
          <p:cNvPr id="12" name="TextBox 11"/>
          <p:cNvSpPr txBox="1"/>
          <p:nvPr/>
        </p:nvSpPr>
        <p:spPr>
          <a:xfrm>
            <a:off x="6550720" y="1613098"/>
            <a:ext cx="2664718" cy="95250"/>
          </a:xfrm>
          <a:prstGeom prst="rect">
            <a:avLst/>
          </a:prstGeom>
          <a:noFill/>
        </p:spPr>
        <p:txBody>
          <a:bodyPr wrap="square" lIns="0" rIns="0" tIns="0" bIns="0">
            <a:spAutoFit/>
          </a:bodyPr>
          <a:lstStyle/>
          <a:p>
            <a:r>
              <a:rPr sz="975" b="1" i="0">
                <a:solidFill>
                  <a:srgbClr val="C9242A"/>
                </a:solidFill>
                <a:latin typeface="Arial"/>
              </a:rPr>
              <a:t>TIERED PRICING · WEEKLY GROSS BUILD</a:t>
            </a:r>
          </a:p>
        </p:txBody>
      </p:sp>
      <p:sp>
        <p:nvSpPr>
          <p:cNvPr id="13" name="TextBox 12"/>
          <p:cNvSpPr txBox="1"/>
          <p:nvPr/>
        </p:nvSpPr>
        <p:spPr>
          <a:xfrm>
            <a:off x="819150" y="3656509"/>
            <a:ext cx="2008485" cy="107950"/>
          </a:xfrm>
          <a:prstGeom prst="rect">
            <a:avLst/>
          </a:prstGeom>
          <a:noFill/>
        </p:spPr>
        <p:txBody>
          <a:bodyPr wrap="square" lIns="0" rIns="0" tIns="0" bIns="0">
            <a:spAutoFit/>
          </a:bodyPr>
          <a:lstStyle/>
          <a:p>
            <a:r>
              <a:rPr sz="1200" b="0" i="1">
                <a:solidFill>
                  <a:srgbClr val="F4EFE6"/>
                </a:solidFill>
                <a:latin typeface="Playfair Display"/>
              </a:rPr>
              <a:t>Plus 15–25% upside from bar, shop, concessions.</a:t>
            </a:r>
          </a:p>
        </p:txBody>
      </p:sp>
      <p:sp>
        <p:nvSpPr>
          <p:cNvPr id="14" name="TextBox 13"/>
          <p:cNvSpPr txBox="1"/>
          <p:nvPr/>
        </p:nvSpPr>
        <p:spPr>
          <a:xfrm>
            <a:off x="3586460" y="2489398"/>
            <a:ext cx="1881188" cy="107950"/>
          </a:xfrm>
          <a:prstGeom prst="rect">
            <a:avLst/>
          </a:prstGeom>
          <a:noFill/>
        </p:spPr>
        <p:txBody>
          <a:bodyPr wrap="square" lIns="0" rIns="0" tIns="0" bIns="0">
            <a:spAutoFit/>
          </a:bodyPr>
          <a:lstStyle/>
          <a:p>
            <a:r>
              <a:rPr sz="1200" b="0" i="1">
                <a:solidFill>
                  <a:srgbClr val="F4EFE6"/>
                </a:solidFill>
                <a:latin typeface="Playfair Display"/>
              </a:rPr>
              <a:t>All-in: salaries, rent, marketing, maintenance.</a:t>
            </a:r>
          </a:p>
        </p:txBody>
      </p:sp>
      <p:sp>
        <p:nvSpPr>
          <p:cNvPr id="15" name="TextBox 14"/>
          <p:cNvSpPr txBox="1"/>
          <p:nvPr/>
        </p:nvSpPr>
        <p:spPr>
          <a:xfrm>
            <a:off x="819150" y="4823619"/>
            <a:ext cx="1821259" cy="107950"/>
          </a:xfrm>
          <a:prstGeom prst="rect">
            <a:avLst/>
          </a:prstGeom>
          <a:noFill/>
        </p:spPr>
        <p:txBody>
          <a:bodyPr wrap="square" lIns="0" rIns="0" tIns="0" bIns="0">
            <a:spAutoFit/>
          </a:bodyPr>
          <a:lstStyle/>
          <a:p>
            <a:r>
              <a:rPr sz="1200" b="0" i="1">
                <a:solidFill>
                  <a:srgbClr val="F4EFE6"/>
                </a:solidFill>
                <a:latin typeface="Playfair Display"/>
              </a:rPr>
              <a:t>Across Community, Standard, Premium, VIP.</a:t>
            </a:r>
          </a:p>
        </p:txBody>
      </p:sp>
      <p:sp>
        <p:nvSpPr>
          <p:cNvPr id="16" name="TextBox 15"/>
          <p:cNvSpPr txBox="1"/>
          <p:nvPr/>
        </p:nvSpPr>
        <p:spPr>
          <a:xfrm>
            <a:off x="3586460" y="4823619"/>
            <a:ext cx="1701304" cy="107950"/>
          </a:xfrm>
          <a:prstGeom prst="rect">
            <a:avLst/>
          </a:prstGeom>
          <a:noFill/>
        </p:spPr>
        <p:txBody>
          <a:bodyPr wrap="square" lIns="0" rIns="0" tIns="0" bIns="0">
            <a:spAutoFit/>
          </a:bodyPr>
          <a:lstStyle/>
          <a:p>
            <a:r>
              <a:rPr sz="1200" b="0" i="1">
                <a:solidFill>
                  <a:srgbClr val="F4EFE6"/>
                </a:solidFill>
                <a:latin typeface="Playfair Display"/>
              </a:rPr>
              <a:t>29% of weekly capacity at access pricing.</a:t>
            </a:r>
          </a:p>
        </p:txBody>
      </p:sp>
      <p:sp>
        <p:nvSpPr>
          <p:cNvPr id="17" name="TextBox 16"/>
          <p:cNvSpPr txBox="1"/>
          <p:nvPr/>
        </p:nvSpPr>
        <p:spPr>
          <a:xfrm>
            <a:off x="819150" y="2964359"/>
            <a:ext cx="1808162" cy="88900"/>
          </a:xfrm>
          <a:prstGeom prst="rect">
            <a:avLst/>
          </a:prstGeom>
          <a:noFill/>
        </p:spPr>
        <p:txBody>
          <a:bodyPr wrap="square" lIns="0" rIns="0" tIns="0" bIns="0">
            <a:spAutoFit/>
          </a:bodyPr>
          <a:lstStyle/>
          <a:p>
            <a:r>
              <a:rPr sz="900" b="0" i="0">
                <a:solidFill>
                  <a:srgbClr val="F4EFE6"/>
                </a:solidFill>
                <a:latin typeface="Arial"/>
              </a:rPr>
              <a:t>WEEKLY CONTRIBUTION @ 100%</a:t>
            </a:r>
          </a:p>
        </p:txBody>
      </p:sp>
      <p:sp>
        <p:nvSpPr>
          <p:cNvPr id="18" name="TextBox 17"/>
          <p:cNvSpPr txBox="1"/>
          <p:nvPr/>
        </p:nvSpPr>
        <p:spPr>
          <a:xfrm>
            <a:off x="3586460" y="3656509"/>
            <a:ext cx="1431727" cy="107950"/>
          </a:xfrm>
          <a:prstGeom prst="rect">
            <a:avLst/>
          </a:prstGeom>
          <a:noFill/>
        </p:spPr>
        <p:txBody>
          <a:bodyPr wrap="square" lIns="0" rIns="0" tIns="0" bIns="0">
            <a:spAutoFit/>
          </a:bodyPr>
          <a:lstStyle/>
          <a:p>
            <a:r>
              <a:rPr sz="1200" b="0" i="1">
                <a:solidFill>
                  <a:srgbClr val="F4EFE6"/>
                </a:solidFill>
                <a:latin typeface="Playfair Display"/>
              </a:rPr>
              <a:t>96 of 150 avg seats filled per show.</a:t>
            </a:r>
          </a:p>
        </p:txBody>
      </p:sp>
      <p:sp>
        <p:nvSpPr>
          <p:cNvPr id="19" name="TextBox 18"/>
          <p:cNvSpPr txBox="1"/>
          <p:nvPr/>
        </p:nvSpPr>
        <p:spPr>
          <a:xfrm>
            <a:off x="6550720" y="3403798"/>
            <a:ext cx="921544" cy="158750"/>
          </a:xfrm>
          <a:prstGeom prst="rect">
            <a:avLst/>
          </a:prstGeom>
          <a:noFill/>
        </p:spPr>
        <p:txBody>
          <a:bodyPr wrap="square" lIns="0" rIns="0" tIns="0" bIns="0">
            <a:spAutoFit/>
          </a:bodyPr>
          <a:lstStyle/>
          <a:p>
            <a:r>
              <a:rPr sz="1650" b="1" i="0">
                <a:solidFill>
                  <a:srgbClr val="F4EFE6"/>
                </a:solidFill>
                <a:latin typeface="Impact"/>
              </a:rPr>
              <a:t>Weekly Gross</a:t>
            </a:r>
          </a:p>
        </p:txBody>
      </p:sp>
      <p:sp>
        <p:nvSpPr>
          <p:cNvPr id="20" name="TextBox 19"/>
          <p:cNvSpPr txBox="1"/>
          <p:nvPr/>
        </p:nvSpPr>
        <p:spPr>
          <a:xfrm>
            <a:off x="6671370" y="3067248"/>
            <a:ext cx="1126530" cy="127000"/>
          </a:xfrm>
          <a:prstGeom prst="rect">
            <a:avLst/>
          </a:prstGeom>
          <a:noFill/>
        </p:spPr>
        <p:txBody>
          <a:bodyPr wrap="square" lIns="0" rIns="0" tIns="0" bIns="0">
            <a:spAutoFit/>
          </a:bodyPr>
          <a:lstStyle/>
          <a:p>
            <a:r>
              <a:rPr sz="1350" b="1" i="0">
                <a:solidFill>
                  <a:srgbClr val="F4EFE6"/>
                </a:solidFill>
                <a:latin typeface="Impact"/>
              </a:rPr>
              <a:t>VIP · Saturday only</a:t>
            </a:r>
          </a:p>
        </p:txBody>
      </p:sp>
      <p:sp>
        <p:nvSpPr>
          <p:cNvPr id="21" name="TextBox 20"/>
          <p:cNvSpPr txBox="1"/>
          <p:nvPr/>
        </p:nvSpPr>
        <p:spPr>
          <a:xfrm>
            <a:off x="609600" y="2489398"/>
            <a:ext cx="1281112" cy="107950"/>
          </a:xfrm>
          <a:prstGeom prst="rect">
            <a:avLst/>
          </a:prstGeom>
          <a:noFill/>
        </p:spPr>
        <p:txBody>
          <a:bodyPr wrap="square" lIns="0" rIns="0" tIns="0" bIns="0">
            <a:spAutoFit/>
          </a:bodyPr>
          <a:lstStyle/>
          <a:p>
            <a:r>
              <a:rPr sz="1200" b="0" i="1">
                <a:solidFill>
                  <a:srgbClr val="F4EFE6"/>
                </a:solidFill>
                <a:latin typeface="Playfair Display"/>
              </a:rPr>
              <a:t>At 100% capacity · 1,800 seats.</a:t>
            </a:r>
          </a:p>
        </p:txBody>
      </p:sp>
      <p:sp>
        <p:nvSpPr>
          <p:cNvPr id="22" name="TextBox 21"/>
          <p:cNvSpPr txBox="1"/>
          <p:nvPr/>
        </p:nvSpPr>
        <p:spPr>
          <a:xfrm>
            <a:off x="609600" y="1797248"/>
            <a:ext cx="1508323" cy="88900"/>
          </a:xfrm>
          <a:prstGeom prst="rect">
            <a:avLst/>
          </a:prstGeom>
          <a:noFill/>
        </p:spPr>
        <p:txBody>
          <a:bodyPr wrap="square" lIns="0" rIns="0" tIns="0" bIns="0">
            <a:spAutoFit/>
          </a:bodyPr>
          <a:lstStyle/>
          <a:p>
            <a:r>
              <a:rPr sz="900" b="0" i="0">
                <a:solidFill>
                  <a:srgbClr val="F4EFE6"/>
                </a:solidFill>
                <a:latin typeface="Arial"/>
              </a:rPr>
              <a:t>WEEKLY GROSS POTENTIAL</a:t>
            </a:r>
          </a:p>
        </p:txBody>
      </p:sp>
      <p:sp>
        <p:nvSpPr>
          <p:cNvPr id="23" name="TextBox 22"/>
          <p:cNvSpPr txBox="1"/>
          <p:nvPr/>
        </p:nvSpPr>
        <p:spPr>
          <a:xfrm>
            <a:off x="3586460" y="4131469"/>
            <a:ext cx="1499989" cy="88900"/>
          </a:xfrm>
          <a:prstGeom prst="rect">
            <a:avLst/>
          </a:prstGeom>
          <a:noFill/>
        </p:spPr>
        <p:txBody>
          <a:bodyPr wrap="square" lIns="0" rIns="0" tIns="0" bIns="0">
            <a:spAutoFit/>
          </a:bodyPr>
          <a:lstStyle/>
          <a:p>
            <a:r>
              <a:rPr sz="900" b="0" i="0">
                <a:solidFill>
                  <a:srgbClr val="F4EFE6"/>
                </a:solidFill>
                <a:latin typeface="Arial"/>
              </a:rPr>
              <a:t>COMMUNITY SEATS / WEEK</a:t>
            </a:r>
          </a:p>
        </p:txBody>
      </p:sp>
      <p:sp>
        <p:nvSpPr>
          <p:cNvPr id="24" name="TextBox 23"/>
          <p:cNvSpPr txBox="1"/>
          <p:nvPr/>
        </p:nvSpPr>
        <p:spPr>
          <a:xfrm>
            <a:off x="819150" y="4131469"/>
            <a:ext cx="1294904" cy="88900"/>
          </a:xfrm>
          <a:prstGeom prst="rect">
            <a:avLst/>
          </a:prstGeom>
          <a:noFill/>
        </p:spPr>
        <p:txBody>
          <a:bodyPr wrap="square" lIns="0" rIns="0" tIns="0" bIns="0">
            <a:spAutoFit/>
          </a:bodyPr>
          <a:lstStyle/>
          <a:p>
            <a:r>
              <a:rPr sz="900" b="0" i="0">
                <a:solidFill>
                  <a:srgbClr val="F4EFE6"/>
                </a:solidFill>
                <a:latin typeface="Arial"/>
              </a:rPr>
              <a:t>WEIGHTED AVG TICKET</a:t>
            </a:r>
          </a:p>
        </p:txBody>
      </p:sp>
      <p:sp>
        <p:nvSpPr>
          <p:cNvPr id="25" name="TextBox 24"/>
          <p:cNvSpPr txBox="1"/>
          <p:nvPr/>
        </p:nvSpPr>
        <p:spPr>
          <a:xfrm>
            <a:off x="3586460" y="2964359"/>
            <a:ext cx="1235174" cy="88900"/>
          </a:xfrm>
          <a:prstGeom prst="rect">
            <a:avLst/>
          </a:prstGeom>
          <a:noFill/>
        </p:spPr>
        <p:txBody>
          <a:bodyPr wrap="square" lIns="0" rIns="0" tIns="0" bIns="0">
            <a:spAutoFit/>
          </a:bodyPr>
          <a:lstStyle/>
          <a:p>
            <a:r>
              <a:rPr sz="900" b="0" i="0">
                <a:solidFill>
                  <a:srgbClr val="F4EFE6"/>
                </a:solidFill>
                <a:latin typeface="Arial"/>
              </a:rPr>
              <a:t>BREAKEVEN CAPACITY</a:t>
            </a:r>
          </a:p>
        </p:txBody>
      </p:sp>
      <p:sp>
        <p:nvSpPr>
          <p:cNvPr id="26" name="TextBox 25"/>
          <p:cNvSpPr txBox="1"/>
          <p:nvPr/>
        </p:nvSpPr>
        <p:spPr>
          <a:xfrm>
            <a:off x="3586460" y="1797248"/>
            <a:ext cx="1101328" cy="88900"/>
          </a:xfrm>
          <a:prstGeom prst="rect">
            <a:avLst/>
          </a:prstGeom>
          <a:noFill/>
        </p:spPr>
        <p:txBody>
          <a:bodyPr wrap="square" lIns="0" rIns="0" tIns="0" bIns="0">
            <a:spAutoFit/>
          </a:bodyPr>
          <a:lstStyle/>
          <a:p>
            <a:r>
              <a:rPr sz="900" b="0" i="0">
                <a:solidFill>
                  <a:srgbClr val="F4EFE6"/>
                </a:solidFill>
                <a:latin typeface="Arial"/>
              </a:rPr>
              <a:t>WEEKLY OPERATING</a:t>
            </a:r>
          </a:p>
        </p:txBody>
      </p:sp>
      <p:sp>
        <p:nvSpPr>
          <p:cNvPr id="27" name="TextBox 26"/>
          <p:cNvSpPr txBox="1"/>
          <p:nvPr/>
        </p:nvSpPr>
        <p:spPr>
          <a:xfrm>
            <a:off x="10999688" y="3403798"/>
            <a:ext cx="582712" cy="158750"/>
          </a:xfrm>
          <a:prstGeom prst="rect">
            <a:avLst/>
          </a:prstGeom>
          <a:noFill/>
        </p:spPr>
        <p:txBody>
          <a:bodyPr wrap="square" lIns="0" rIns="0" tIns="0" bIns="0">
            <a:spAutoFit/>
          </a:bodyPr>
          <a:lstStyle/>
          <a:p>
            <a:pPr algn="r"/>
            <a:r>
              <a:rPr sz="1650" b="1" i="0">
                <a:solidFill>
                  <a:srgbClr val="F4EFE6"/>
                </a:solidFill>
                <a:latin typeface="Impact"/>
              </a:rPr>
              <a:t>$163,000</a:t>
            </a:r>
          </a:p>
        </p:txBody>
      </p:sp>
      <p:sp>
        <p:nvSpPr>
          <p:cNvPr id="28" name="TextBox 27"/>
          <p:cNvSpPr txBox="1"/>
          <p:nvPr/>
        </p:nvSpPr>
        <p:spPr>
          <a:xfrm>
            <a:off x="6671370" y="2114748"/>
            <a:ext cx="669826" cy="127000"/>
          </a:xfrm>
          <a:prstGeom prst="rect">
            <a:avLst/>
          </a:prstGeom>
          <a:noFill/>
        </p:spPr>
        <p:txBody>
          <a:bodyPr wrap="square" lIns="0" rIns="0" tIns="0" bIns="0">
            <a:spAutoFit/>
          </a:bodyPr>
          <a:lstStyle/>
          <a:p>
            <a:r>
              <a:rPr sz="1350" b="1" i="0">
                <a:solidFill>
                  <a:srgbClr val="F4EFE6"/>
                </a:solidFill>
                <a:latin typeface="Impact"/>
              </a:rPr>
              <a:t>Community</a:t>
            </a:r>
          </a:p>
        </p:txBody>
      </p:sp>
      <p:sp>
        <p:nvSpPr>
          <p:cNvPr id="29" name="TextBox 28"/>
          <p:cNvSpPr txBox="1"/>
          <p:nvPr/>
        </p:nvSpPr>
        <p:spPr>
          <a:xfrm>
            <a:off x="10729813" y="6489700"/>
            <a:ext cx="954187" cy="88900"/>
          </a:xfrm>
          <a:prstGeom prst="rect">
            <a:avLst/>
          </a:prstGeom>
          <a:noFill/>
        </p:spPr>
        <p:txBody>
          <a:bodyPr wrap="square" lIns="0" rIns="0" tIns="0" bIns="0">
            <a:spAutoFit/>
          </a:bodyPr>
          <a:lstStyle/>
          <a:p>
            <a:r>
              <a:rPr sz="900" b="0" i="0">
                <a:solidFill>
                  <a:srgbClr val="F4EFE6"/>
                </a:solidFill>
                <a:latin typeface="Arial"/>
              </a:rPr>
              <a:t>24 INVESTOR</a:t>
            </a:r>
          </a:p>
        </p:txBody>
      </p:sp>
      <p:sp>
        <p:nvSpPr>
          <p:cNvPr id="30" name="TextBox 29"/>
          <p:cNvSpPr txBox="1"/>
          <p:nvPr/>
        </p:nvSpPr>
        <p:spPr>
          <a:xfrm>
            <a:off x="10092134" y="3403798"/>
            <a:ext cx="427335" cy="158750"/>
          </a:xfrm>
          <a:prstGeom prst="rect">
            <a:avLst/>
          </a:prstGeom>
          <a:noFill/>
        </p:spPr>
        <p:txBody>
          <a:bodyPr wrap="square" lIns="0" rIns="0" tIns="0" bIns="0">
            <a:spAutoFit/>
          </a:bodyPr>
          <a:lstStyle/>
          <a:p>
            <a:pPr algn="r"/>
            <a:r>
              <a:rPr sz="1650" b="1" i="0">
                <a:solidFill>
                  <a:srgbClr val="F4EFE6"/>
                </a:solidFill>
                <a:latin typeface="Impact"/>
              </a:rPr>
              <a:t>$90.56</a:t>
            </a:r>
          </a:p>
        </p:txBody>
      </p:sp>
      <p:sp>
        <p:nvSpPr>
          <p:cNvPr id="31" name="TextBox 30"/>
          <p:cNvSpPr txBox="1"/>
          <p:nvPr/>
        </p:nvSpPr>
        <p:spPr>
          <a:xfrm>
            <a:off x="6671370" y="2432248"/>
            <a:ext cx="532011" cy="127000"/>
          </a:xfrm>
          <a:prstGeom prst="rect">
            <a:avLst/>
          </a:prstGeom>
          <a:noFill/>
        </p:spPr>
        <p:txBody>
          <a:bodyPr wrap="square" lIns="0" rIns="0" tIns="0" bIns="0">
            <a:spAutoFit/>
          </a:bodyPr>
          <a:lstStyle/>
          <a:p>
            <a:r>
              <a:rPr sz="1350" b="1" i="0">
                <a:solidFill>
                  <a:srgbClr val="F4EFE6"/>
                </a:solidFill>
                <a:latin typeface="Impact"/>
              </a:rPr>
              <a:t>Standard</a:t>
            </a:r>
          </a:p>
        </p:txBody>
      </p:sp>
      <p:sp>
        <p:nvSpPr>
          <p:cNvPr id="32" name="TextBox 31"/>
          <p:cNvSpPr txBox="1"/>
          <p:nvPr/>
        </p:nvSpPr>
        <p:spPr>
          <a:xfrm>
            <a:off x="6671370" y="2749748"/>
            <a:ext cx="521196" cy="127000"/>
          </a:xfrm>
          <a:prstGeom prst="rect">
            <a:avLst/>
          </a:prstGeom>
          <a:noFill/>
        </p:spPr>
        <p:txBody>
          <a:bodyPr wrap="square" lIns="0" rIns="0" tIns="0" bIns="0">
            <a:spAutoFit/>
          </a:bodyPr>
          <a:lstStyle/>
          <a:p>
            <a:r>
              <a:rPr sz="1350" b="1" i="0">
                <a:solidFill>
                  <a:srgbClr val="F4EFE6"/>
                </a:solidFill>
                <a:latin typeface="Impact"/>
              </a:rPr>
              <a:t>Premium</a:t>
            </a:r>
          </a:p>
        </p:txBody>
      </p:sp>
      <p:sp>
        <p:nvSpPr>
          <p:cNvPr id="33" name="TextBox 32"/>
          <p:cNvSpPr txBox="1"/>
          <p:nvPr/>
        </p:nvSpPr>
        <p:spPr>
          <a:xfrm>
            <a:off x="11109722" y="2114748"/>
            <a:ext cx="472678" cy="133350"/>
          </a:xfrm>
          <a:prstGeom prst="rect">
            <a:avLst/>
          </a:prstGeom>
          <a:noFill/>
        </p:spPr>
        <p:txBody>
          <a:bodyPr wrap="square" lIns="0" rIns="0" tIns="0" bIns="0">
            <a:spAutoFit/>
          </a:bodyPr>
          <a:lstStyle/>
          <a:p>
            <a:pPr algn="r"/>
            <a:r>
              <a:rPr sz="1350" b="0" i="0">
                <a:solidFill>
                  <a:srgbClr val="F4EFE6"/>
                </a:solidFill>
                <a:latin typeface="Arial"/>
              </a:rPr>
              <a:t>$26,400</a:t>
            </a:r>
          </a:p>
        </p:txBody>
      </p:sp>
      <p:sp>
        <p:nvSpPr>
          <p:cNvPr id="34" name="TextBox 33"/>
          <p:cNvSpPr txBox="1"/>
          <p:nvPr/>
        </p:nvSpPr>
        <p:spPr>
          <a:xfrm>
            <a:off x="11109722" y="2432248"/>
            <a:ext cx="472678" cy="133350"/>
          </a:xfrm>
          <a:prstGeom prst="rect">
            <a:avLst/>
          </a:prstGeom>
          <a:noFill/>
        </p:spPr>
        <p:txBody>
          <a:bodyPr wrap="square" lIns="0" rIns="0" tIns="0" bIns="0">
            <a:spAutoFit/>
          </a:bodyPr>
          <a:lstStyle/>
          <a:p>
            <a:pPr algn="r"/>
            <a:r>
              <a:rPr sz="1350" b="0" i="0">
                <a:solidFill>
                  <a:srgbClr val="F4EFE6"/>
                </a:solidFill>
                <a:latin typeface="Arial"/>
              </a:rPr>
              <a:t>$58,800</a:t>
            </a:r>
          </a:p>
        </p:txBody>
      </p:sp>
      <p:sp>
        <p:nvSpPr>
          <p:cNvPr id="35" name="TextBox 34"/>
          <p:cNvSpPr txBox="1"/>
          <p:nvPr/>
        </p:nvSpPr>
        <p:spPr>
          <a:xfrm>
            <a:off x="11109722" y="2749748"/>
            <a:ext cx="472678" cy="133350"/>
          </a:xfrm>
          <a:prstGeom prst="rect">
            <a:avLst/>
          </a:prstGeom>
          <a:noFill/>
        </p:spPr>
        <p:txBody>
          <a:bodyPr wrap="square" lIns="0" rIns="0" tIns="0" bIns="0">
            <a:spAutoFit/>
          </a:bodyPr>
          <a:lstStyle/>
          <a:p>
            <a:pPr algn="r"/>
            <a:r>
              <a:rPr sz="1350" b="0" i="0">
                <a:solidFill>
                  <a:srgbClr val="F4EFE6"/>
                </a:solidFill>
                <a:latin typeface="Arial"/>
              </a:rPr>
              <a:t>$63,000</a:t>
            </a:r>
          </a:p>
        </p:txBody>
      </p:sp>
      <p:sp>
        <p:nvSpPr>
          <p:cNvPr id="36" name="TextBox 35"/>
          <p:cNvSpPr txBox="1"/>
          <p:nvPr/>
        </p:nvSpPr>
        <p:spPr>
          <a:xfrm>
            <a:off x="11109722" y="3067248"/>
            <a:ext cx="472678" cy="133350"/>
          </a:xfrm>
          <a:prstGeom prst="rect">
            <a:avLst/>
          </a:prstGeom>
          <a:noFill/>
        </p:spPr>
        <p:txBody>
          <a:bodyPr wrap="square" lIns="0" rIns="0" tIns="0" bIns="0">
            <a:spAutoFit/>
          </a:bodyPr>
          <a:lstStyle/>
          <a:p>
            <a:pPr algn="r"/>
            <a:r>
              <a:rPr sz="1350" b="0" i="0">
                <a:solidFill>
                  <a:srgbClr val="F4EFE6"/>
                </a:solidFill>
                <a:latin typeface="Arial"/>
              </a:rPr>
              <a:t>$14,800</a:t>
            </a:r>
          </a:p>
        </p:txBody>
      </p:sp>
      <p:sp>
        <p:nvSpPr>
          <p:cNvPr id="37" name="TextBox 36"/>
          <p:cNvSpPr txBox="1"/>
          <p:nvPr/>
        </p:nvSpPr>
        <p:spPr>
          <a:xfrm>
            <a:off x="9390459" y="3403798"/>
            <a:ext cx="349647" cy="158750"/>
          </a:xfrm>
          <a:prstGeom prst="rect">
            <a:avLst/>
          </a:prstGeom>
          <a:noFill/>
        </p:spPr>
        <p:txBody>
          <a:bodyPr wrap="square" lIns="0" rIns="0" tIns="0" bIns="0">
            <a:spAutoFit/>
          </a:bodyPr>
          <a:lstStyle/>
          <a:p>
            <a:pPr algn="r"/>
            <a:r>
              <a:rPr sz="1650" b="1" i="0">
                <a:solidFill>
                  <a:srgbClr val="F4EFE6"/>
                </a:solidFill>
                <a:latin typeface="Impact"/>
              </a:rPr>
              <a:t>1,800</a:t>
            </a:r>
          </a:p>
        </p:txBody>
      </p:sp>
      <p:sp>
        <p:nvSpPr>
          <p:cNvPr id="38" name="TextBox 37"/>
          <p:cNvSpPr txBox="1"/>
          <p:nvPr/>
        </p:nvSpPr>
        <p:spPr>
          <a:xfrm>
            <a:off x="9238555" y="1848048"/>
            <a:ext cx="501551" cy="82550"/>
          </a:xfrm>
          <a:prstGeom prst="rect">
            <a:avLst/>
          </a:prstGeom>
          <a:noFill/>
        </p:spPr>
        <p:txBody>
          <a:bodyPr wrap="square" lIns="0" rIns="0" tIns="0" bIns="0">
            <a:spAutoFit/>
          </a:bodyPr>
          <a:lstStyle/>
          <a:p>
            <a:pPr algn="r"/>
            <a:r>
              <a:rPr sz="825" b="0" i="0">
                <a:solidFill>
                  <a:srgbClr val="F4EFE6"/>
                </a:solidFill>
                <a:latin typeface="Arial"/>
              </a:rPr>
              <a:t>SEATS/WK</a:t>
            </a:r>
          </a:p>
        </p:txBody>
      </p:sp>
      <p:sp>
        <p:nvSpPr>
          <p:cNvPr id="39" name="TextBox 38"/>
          <p:cNvSpPr txBox="1"/>
          <p:nvPr/>
        </p:nvSpPr>
        <p:spPr>
          <a:xfrm>
            <a:off x="11094938" y="1848048"/>
            <a:ext cx="487462" cy="82550"/>
          </a:xfrm>
          <a:prstGeom prst="rect">
            <a:avLst/>
          </a:prstGeom>
          <a:noFill/>
        </p:spPr>
        <p:txBody>
          <a:bodyPr wrap="square" lIns="0" rIns="0" tIns="0" bIns="0">
            <a:spAutoFit/>
          </a:bodyPr>
          <a:lstStyle/>
          <a:p>
            <a:pPr algn="r"/>
            <a:r>
              <a:rPr sz="825" b="0" i="0">
                <a:solidFill>
                  <a:srgbClr val="F4EFE6"/>
                </a:solidFill>
                <a:latin typeface="Arial"/>
              </a:rPr>
              <a:t>WEEKLY $</a:t>
            </a:r>
          </a:p>
        </p:txBody>
      </p:sp>
      <p:sp>
        <p:nvSpPr>
          <p:cNvPr id="40" name="TextBox 39"/>
          <p:cNvSpPr txBox="1"/>
          <p:nvPr/>
        </p:nvSpPr>
        <p:spPr>
          <a:xfrm>
            <a:off x="10228560" y="2749748"/>
            <a:ext cx="290909" cy="133350"/>
          </a:xfrm>
          <a:prstGeom prst="rect">
            <a:avLst/>
          </a:prstGeom>
          <a:noFill/>
        </p:spPr>
        <p:txBody>
          <a:bodyPr wrap="square" lIns="0" rIns="0" tIns="0" bIns="0">
            <a:spAutoFit/>
          </a:bodyPr>
          <a:lstStyle/>
          <a:p>
            <a:pPr algn="r"/>
            <a:r>
              <a:rPr sz="1350" b="0" i="0">
                <a:solidFill>
                  <a:srgbClr val="F4EFE6"/>
                </a:solidFill>
                <a:latin typeface="Arial"/>
              </a:rPr>
              <a:t>$132</a:t>
            </a:r>
          </a:p>
        </p:txBody>
      </p:sp>
      <p:sp>
        <p:nvSpPr>
          <p:cNvPr id="41" name="TextBox 40"/>
          <p:cNvSpPr txBox="1"/>
          <p:nvPr/>
        </p:nvSpPr>
        <p:spPr>
          <a:xfrm>
            <a:off x="10228560" y="3067248"/>
            <a:ext cx="290909" cy="133350"/>
          </a:xfrm>
          <a:prstGeom prst="rect">
            <a:avLst/>
          </a:prstGeom>
          <a:noFill/>
        </p:spPr>
        <p:txBody>
          <a:bodyPr wrap="square" lIns="0" rIns="0" tIns="0" bIns="0">
            <a:spAutoFit/>
          </a:bodyPr>
          <a:lstStyle/>
          <a:p>
            <a:pPr algn="r"/>
            <a:r>
              <a:rPr sz="1350" b="0" i="0">
                <a:solidFill>
                  <a:srgbClr val="F4EFE6"/>
                </a:solidFill>
                <a:latin typeface="Arial"/>
              </a:rPr>
              <a:t>$185</a:t>
            </a:r>
          </a:p>
        </p:txBody>
      </p:sp>
      <p:sp>
        <p:nvSpPr>
          <p:cNvPr id="42" name="TextBox 41"/>
          <p:cNvSpPr txBox="1"/>
          <p:nvPr/>
        </p:nvSpPr>
        <p:spPr>
          <a:xfrm>
            <a:off x="9521924" y="2114748"/>
            <a:ext cx="218182" cy="133350"/>
          </a:xfrm>
          <a:prstGeom prst="rect">
            <a:avLst/>
          </a:prstGeom>
          <a:noFill/>
        </p:spPr>
        <p:txBody>
          <a:bodyPr wrap="square" lIns="0" rIns="0" tIns="0" bIns="0">
            <a:spAutoFit/>
          </a:bodyPr>
          <a:lstStyle/>
          <a:p>
            <a:pPr algn="r"/>
            <a:r>
              <a:rPr sz="1350" b="0" i="0">
                <a:solidFill>
                  <a:srgbClr val="F4EFE6"/>
                </a:solidFill>
                <a:latin typeface="Arial"/>
              </a:rPr>
              <a:t>520</a:t>
            </a:r>
          </a:p>
        </p:txBody>
      </p:sp>
      <p:sp>
        <p:nvSpPr>
          <p:cNvPr id="43" name="TextBox 42"/>
          <p:cNvSpPr txBox="1"/>
          <p:nvPr/>
        </p:nvSpPr>
        <p:spPr>
          <a:xfrm>
            <a:off x="10301288" y="2114748"/>
            <a:ext cx="218182" cy="133350"/>
          </a:xfrm>
          <a:prstGeom prst="rect">
            <a:avLst/>
          </a:prstGeom>
          <a:noFill/>
        </p:spPr>
        <p:txBody>
          <a:bodyPr wrap="square" lIns="0" rIns="0" tIns="0" bIns="0">
            <a:spAutoFit/>
          </a:bodyPr>
          <a:lstStyle/>
          <a:p>
            <a:pPr algn="r"/>
            <a:r>
              <a:rPr sz="1350" b="0" i="0">
                <a:solidFill>
                  <a:srgbClr val="F4EFE6"/>
                </a:solidFill>
                <a:latin typeface="Arial"/>
              </a:rPr>
              <a:t>$50</a:t>
            </a:r>
          </a:p>
        </p:txBody>
      </p:sp>
      <p:sp>
        <p:nvSpPr>
          <p:cNvPr id="44" name="TextBox 43"/>
          <p:cNvSpPr txBox="1"/>
          <p:nvPr/>
        </p:nvSpPr>
        <p:spPr>
          <a:xfrm>
            <a:off x="9521924" y="2432248"/>
            <a:ext cx="218182" cy="133350"/>
          </a:xfrm>
          <a:prstGeom prst="rect">
            <a:avLst/>
          </a:prstGeom>
          <a:noFill/>
        </p:spPr>
        <p:txBody>
          <a:bodyPr wrap="square" lIns="0" rIns="0" tIns="0" bIns="0">
            <a:spAutoFit/>
          </a:bodyPr>
          <a:lstStyle/>
          <a:p>
            <a:pPr algn="r"/>
            <a:r>
              <a:rPr sz="1350" b="0" i="0">
                <a:solidFill>
                  <a:srgbClr val="F4EFE6"/>
                </a:solidFill>
                <a:latin typeface="Arial"/>
              </a:rPr>
              <a:t>720</a:t>
            </a:r>
          </a:p>
        </p:txBody>
      </p:sp>
      <p:sp>
        <p:nvSpPr>
          <p:cNvPr id="45" name="TextBox 44"/>
          <p:cNvSpPr txBox="1"/>
          <p:nvPr/>
        </p:nvSpPr>
        <p:spPr>
          <a:xfrm>
            <a:off x="10301288" y="2432248"/>
            <a:ext cx="218182" cy="133350"/>
          </a:xfrm>
          <a:prstGeom prst="rect">
            <a:avLst/>
          </a:prstGeom>
          <a:noFill/>
        </p:spPr>
        <p:txBody>
          <a:bodyPr wrap="square" lIns="0" rIns="0" tIns="0" bIns="0">
            <a:spAutoFit/>
          </a:bodyPr>
          <a:lstStyle/>
          <a:p>
            <a:pPr algn="r"/>
            <a:r>
              <a:rPr sz="1350" b="0" i="0">
                <a:solidFill>
                  <a:srgbClr val="F4EFE6"/>
                </a:solidFill>
                <a:latin typeface="Arial"/>
              </a:rPr>
              <a:t>$83</a:t>
            </a:r>
          </a:p>
        </p:txBody>
      </p:sp>
      <p:sp>
        <p:nvSpPr>
          <p:cNvPr id="46" name="TextBox 45"/>
          <p:cNvSpPr txBox="1"/>
          <p:nvPr/>
        </p:nvSpPr>
        <p:spPr>
          <a:xfrm>
            <a:off x="9521924" y="2749748"/>
            <a:ext cx="218182" cy="133350"/>
          </a:xfrm>
          <a:prstGeom prst="rect">
            <a:avLst/>
          </a:prstGeom>
          <a:noFill/>
        </p:spPr>
        <p:txBody>
          <a:bodyPr wrap="square" lIns="0" rIns="0" tIns="0" bIns="0">
            <a:spAutoFit/>
          </a:bodyPr>
          <a:lstStyle/>
          <a:p>
            <a:pPr algn="r"/>
            <a:r>
              <a:rPr sz="1350" b="0" i="0">
                <a:solidFill>
                  <a:srgbClr val="F4EFE6"/>
                </a:solidFill>
                <a:latin typeface="Arial"/>
              </a:rPr>
              <a:t>480</a:t>
            </a:r>
          </a:p>
        </p:txBody>
      </p:sp>
      <p:sp>
        <p:nvSpPr>
          <p:cNvPr id="47" name="TextBox 46"/>
          <p:cNvSpPr txBox="1"/>
          <p:nvPr/>
        </p:nvSpPr>
        <p:spPr>
          <a:xfrm>
            <a:off x="10216753" y="1848048"/>
            <a:ext cx="302716" cy="82550"/>
          </a:xfrm>
          <a:prstGeom prst="rect">
            <a:avLst/>
          </a:prstGeom>
          <a:noFill/>
        </p:spPr>
        <p:txBody>
          <a:bodyPr wrap="square" lIns="0" rIns="0" tIns="0" bIns="0">
            <a:spAutoFit/>
          </a:bodyPr>
          <a:lstStyle/>
          <a:p>
            <a:pPr algn="r"/>
            <a:r>
              <a:rPr sz="825" b="0" i="0">
                <a:solidFill>
                  <a:srgbClr val="F4EFE6"/>
                </a:solidFill>
                <a:latin typeface="Arial"/>
              </a:rPr>
              <a:t>AVG $</a:t>
            </a:r>
          </a:p>
        </p:txBody>
      </p:sp>
      <p:sp>
        <p:nvSpPr>
          <p:cNvPr id="48" name="TextBox 47"/>
          <p:cNvSpPr txBox="1"/>
          <p:nvPr/>
        </p:nvSpPr>
        <p:spPr>
          <a:xfrm>
            <a:off x="9594652" y="3067248"/>
            <a:ext cx="145455" cy="133350"/>
          </a:xfrm>
          <a:prstGeom prst="rect">
            <a:avLst/>
          </a:prstGeom>
          <a:noFill/>
        </p:spPr>
        <p:txBody>
          <a:bodyPr wrap="square" lIns="0" rIns="0" tIns="0" bIns="0">
            <a:spAutoFit/>
          </a:bodyPr>
          <a:lstStyle/>
          <a:p>
            <a:pPr algn="r"/>
            <a:r>
              <a:rPr sz="1350" b="0" i="0">
                <a:solidFill>
                  <a:srgbClr val="F4EFE6"/>
                </a:solidFill>
                <a:latin typeface="Arial"/>
              </a:rPr>
              <a:t>80</a:t>
            </a:r>
          </a:p>
        </p:txBody>
      </p:sp>
      <p:sp>
        <p:nvSpPr>
          <p:cNvPr id="49" name="TextBox 48"/>
          <p:cNvSpPr txBox="1"/>
          <p:nvPr/>
        </p:nvSpPr>
        <p:spPr>
          <a:xfrm>
            <a:off x="6550720" y="1848048"/>
            <a:ext cx="228600" cy="82550"/>
          </a:xfrm>
          <a:prstGeom prst="rect">
            <a:avLst/>
          </a:prstGeom>
          <a:noFill/>
        </p:spPr>
        <p:txBody>
          <a:bodyPr wrap="square" lIns="0" rIns="0" tIns="0" bIns="0">
            <a:spAutoFit/>
          </a:bodyPr>
          <a:lstStyle/>
          <a:p>
            <a:r>
              <a:rPr sz="825" b="0" i="0">
                <a:solidFill>
                  <a:srgbClr val="F4EFE6"/>
                </a:solidFill>
                <a:latin typeface="Arial"/>
              </a:rPr>
              <a:t>TIER</a:t>
            </a:r>
          </a:p>
        </p:txBody>
      </p:sp>
      <p:sp>
        <p:nvSpPr>
          <p:cNvPr id="50" name="Rectangle 49"/>
          <p:cNvSpPr/>
          <p:nvPr/>
        </p:nvSpPr>
        <p:spPr>
          <a:xfrm>
            <a:off x="6550720" y="2146498"/>
            <a:ext cx="57150" cy="57150"/>
          </a:xfrm>
          <a:prstGeom prst="rect">
            <a:avLst/>
          </a:prstGeom>
          <a:solidFill>
            <a:srgbClr val="E8E1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550720" y="2463998"/>
            <a:ext cx="57150" cy="57150"/>
          </a:xfrm>
          <a:prstGeom prst="rect">
            <a:avLst/>
          </a:prstGeom>
          <a:solidFill>
            <a:srgbClr val="F4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6550720" y="2781498"/>
            <a:ext cx="57150" cy="57150"/>
          </a:xfrm>
          <a:prstGeom prst="rect">
            <a:avLst/>
          </a:prstGeom>
          <a:solidFill>
            <a:srgbClr val="C924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550720" y="3098998"/>
            <a:ext cx="57150" cy="57150"/>
          </a:xfrm>
          <a:prstGeom prst="rect">
            <a:avLst/>
          </a:prstGeom>
          <a:solidFill>
            <a:srgbClr val="C9A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10978555" y="6511925"/>
            <a:ext cx="38100" cy="38100"/>
          </a:xfrm>
          <a:prstGeom prst="rect">
            <a:avLst/>
          </a:prstGeom>
          <a:solidFill>
            <a:srgbClr val="C924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4EFE6"/>
        </a:solidFill>
        <a:effectLst/>
      </p:bgPr>
    </p:bg>
    <p:spTree>
      <p:nvGrpSpPr>
        <p:cNvPr id="1" name=""/>
        <p:cNvGrpSpPr/>
        <p:nvPr/>
      </p:nvGrpSpPr>
      <p:grpSpPr/>
      <p:sp>
        <p:nvSpPr>
          <p:cNvPr id="2" name="TextBox 1"/>
          <p:cNvSpPr txBox="1"/>
          <p:nvPr/>
        </p:nvSpPr>
        <p:spPr>
          <a:xfrm>
            <a:off x="609600" y="577850"/>
            <a:ext cx="4138612" cy="793750"/>
          </a:xfrm>
          <a:prstGeom prst="rect">
            <a:avLst/>
          </a:prstGeom>
          <a:noFill/>
        </p:spPr>
        <p:txBody>
          <a:bodyPr wrap="square" lIns="0" rIns="0" tIns="0" bIns="0">
            <a:spAutoFit/>
          </a:bodyPr>
          <a:lstStyle/>
          <a:p>
            <a:r>
              <a:rPr sz="8400" b="1" i="0">
                <a:solidFill>
                  <a:srgbClr val="111111"/>
                </a:solidFill>
                <a:latin typeface="Impact"/>
              </a:rPr>
              <a:t>CAP STACK.</a:t>
            </a:r>
          </a:p>
        </p:txBody>
      </p:sp>
      <p:sp>
        <p:nvSpPr>
          <p:cNvPr id="3" name="Rectangle 2"/>
          <p:cNvSpPr/>
          <p:nvPr/>
        </p:nvSpPr>
        <p:spPr>
          <a:xfrm>
            <a:off x="615950" y="1619448"/>
            <a:ext cx="2800548" cy="698500"/>
          </a:xfrm>
          <a:prstGeom prst="rect">
            <a:avLst/>
          </a:prstGeom>
          <a:solidFill>
            <a:srgbClr val="C924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706941" y="727968"/>
            <a:ext cx="2875459" cy="549870"/>
          </a:xfrm>
          <a:prstGeom prst="rect">
            <a:avLst/>
          </a:prstGeom>
          <a:noFill/>
        </p:spPr>
        <p:txBody>
          <a:bodyPr wrap="square" lIns="0" rIns="0" tIns="0" bIns="0">
            <a:spAutoFit/>
          </a:bodyPr>
          <a:lstStyle/>
          <a:p>
            <a:pPr algn="r"/>
            <a:r>
              <a:rPr sz="1650" b="0" i="1">
                <a:solidFill>
                  <a:srgbClr val="111111"/>
                </a:solidFill>
                <a:latin typeface="Playfair Display"/>
              </a:rPr>
              <a:t>A four-source structure. Non-recoupable capital carries 45% of the raise — so investors absorb less of the downside and keep all of the upside.</a:t>
            </a:r>
          </a:p>
        </p:txBody>
      </p:sp>
      <p:sp>
        <p:nvSpPr>
          <p:cNvPr id="5" name="TextBox 4"/>
          <p:cNvSpPr txBox="1"/>
          <p:nvPr/>
        </p:nvSpPr>
        <p:spPr>
          <a:xfrm>
            <a:off x="6222305" y="4399359"/>
            <a:ext cx="3047206" cy="422870"/>
          </a:xfrm>
          <a:prstGeom prst="rect">
            <a:avLst/>
          </a:prstGeom>
          <a:noFill/>
        </p:spPr>
        <p:txBody>
          <a:bodyPr wrap="square" lIns="0" rIns="0" tIns="0" bIns="0">
            <a:spAutoFit/>
          </a:bodyPr>
          <a:lstStyle/>
          <a:p>
            <a:r>
              <a:rPr sz="1275" b="0" i="1">
                <a:solidFill>
                  <a:srgbClr val="111111"/>
                </a:solidFill>
                <a:latin typeface="Playfair Display"/>
              </a:rPr>
              <a:t>Derrick Hodge's score composition rights are owned by the production. Director &amp; writer compensated on weekly salary in lieu of a royalty pool — lower overhead, cleaner downside.</a:t>
            </a:r>
          </a:p>
        </p:txBody>
      </p:sp>
      <p:sp>
        <p:nvSpPr>
          <p:cNvPr id="6" name="TextBox 5"/>
          <p:cNvSpPr txBox="1"/>
          <p:nvPr/>
        </p:nvSpPr>
        <p:spPr>
          <a:xfrm>
            <a:off x="6222305" y="3507879"/>
            <a:ext cx="2955528" cy="422870"/>
          </a:xfrm>
          <a:prstGeom prst="rect">
            <a:avLst/>
          </a:prstGeom>
          <a:noFill/>
        </p:spPr>
        <p:txBody>
          <a:bodyPr wrap="square" lIns="0" rIns="0" tIns="0" bIns="0">
            <a:spAutoFit/>
          </a:bodyPr>
          <a:lstStyle/>
          <a:p>
            <a:r>
              <a:rPr sz="1275" b="0" i="1">
                <a:solidFill>
                  <a:srgbClr val="111111"/>
                </a:solidFill>
                <a:latin typeface="Playfair Display"/>
              </a:rPr>
              <a:t>Grants and philanthropy carry nearly half the capitalization with no claim on returns — every dollar of upside flows to the investor tier and production.</a:t>
            </a:r>
          </a:p>
        </p:txBody>
      </p:sp>
      <p:sp>
        <p:nvSpPr>
          <p:cNvPr id="7" name="Rectangle 6"/>
          <p:cNvSpPr/>
          <p:nvPr/>
        </p:nvSpPr>
        <p:spPr>
          <a:xfrm>
            <a:off x="615950" y="2324298"/>
            <a:ext cx="1272977" cy="698500"/>
          </a:xfrm>
          <a:prstGeom prst="rect">
            <a:avLst/>
          </a:prstGeom>
          <a:solidFill>
            <a:srgbClr val="2E7D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22305" y="2767509"/>
            <a:ext cx="3031133" cy="271760"/>
          </a:xfrm>
          <a:prstGeom prst="rect">
            <a:avLst/>
          </a:prstGeom>
          <a:noFill/>
        </p:spPr>
        <p:txBody>
          <a:bodyPr wrap="square" lIns="0" rIns="0" tIns="0" bIns="0">
            <a:spAutoFit/>
          </a:bodyPr>
          <a:lstStyle/>
          <a:p>
            <a:r>
              <a:rPr sz="1275" b="0" i="1">
                <a:solidFill>
                  <a:srgbClr val="111111"/>
                </a:solidFill>
                <a:latin typeface="Playfair Display"/>
              </a:rPr>
              <a:t>Profits split evenly between investor pool and production post-recoup, for the life of the run and any downstream licensing.</a:t>
            </a:r>
          </a:p>
        </p:txBody>
      </p:sp>
      <p:sp>
        <p:nvSpPr>
          <p:cNvPr id="9" name="Rectangle 8"/>
          <p:cNvSpPr/>
          <p:nvPr/>
        </p:nvSpPr>
        <p:spPr>
          <a:xfrm>
            <a:off x="615950" y="3029148"/>
            <a:ext cx="763786" cy="698500"/>
          </a:xfrm>
          <a:prstGeom prst="rect">
            <a:avLst/>
          </a:prstGeom>
          <a:solidFill>
            <a:srgbClr val="C9A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22305" y="3291979"/>
            <a:ext cx="3222030" cy="158750"/>
          </a:xfrm>
          <a:prstGeom prst="rect">
            <a:avLst/>
          </a:prstGeom>
          <a:noFill/>
        </p:spPr>
        <p:txBody>
          <a:bodyPr wrap="square" lIns="0" rIns="0" tIns="0" bIns="0">
            <a:spAutoFit/>
          </a:bodyPr>
          <a:lstStyle/>
          <a:p>
            <a:r>
              <a:rPr sz="1650" b="1" i="0">
                <a:solidFill>
                  <a:srgbClr val="111111"/>
                </a:solidFill>
                <a:latin typeface="Impact"/>
              </a:rPr>
              <a:t>Non-recoupable capital de-risks 45% of the raise</a:t>
            </a:r>
          </a:p>
        </p:txBody>
      </p:sp>
      <p:sp>
        <p:nvSpPr>
          <p:cNvPr id="11" name="TextBox 10"/>
          <p:cNvSpPr txBox="1"/>
          <p:nvPr/>
        </p:nvSpPr>
        <p:spPr>
          <a:xfrm>
            <a:off x="6222305" y="1962348"/>
            <a:ext cx="2422128" cy="158750"/>
          </a:xfrm>
          <a:prstGeom prst="rect">
            <a:avLst/>
          </a:prstGeom>
          <a:noFill/>
        </p:spPr>
        <p:txBody>
          <a:bodyPr wrap="square" lIns="0" rIns="0" tIns="0" bIns="0">
            <a:spAutoFit/>
          </a:bodyPr>
          <a:lstStyle/>
          <a:p>
            <a:r>
              <a:rPr sz="1650" b="1" i="0">
                <a:solidFill>
                  <a:srgbClr val="111111"/>
                </a:solidFill>
                <a:latin typeface="Impact"/>
              </a:rPr>
              <a:t>120% of principal before profit share</a:t>
            </a:r>
          </a:p>
        </p:txBody>
      </p:sp>
      <p:sp>
        <p:nvSpPr>
          <p:cNvPr id="12" name="TextBox 11"/>
          <p:cNvSpPr txBox="1"/>
          <p:nvPr/>
        </p:nvSpPr>
        <p:spPr>
          <a:xfrm>
            <a:off x="609600" y="406400"/>
            <a:ext cx="2415183" cy="158750"/>
          </a:xfrm>
          <a:prstGeom prst="rect">
            <a:avLst/>
          </a:prstGeom>
          <a:noFill/>
        </p:spPr>
        <p:txBody>
          <a:bodyPr wrap="square" lIns="0" rIns="0" tIns="0" bIns="0">
            <a:spAutoFit/>
          </a:bodyPr>
          <a:lstStyle/>
          <a:p>
            <a:r>
              <a:rPr sz="1650" b="1" i="0">
                <a:solidFill>
                  <a:srgbClr val="C9242A"/>
                </a:solidFill>
                <a:latin typeface="Impact"/>
              </a:rPr>
              <a:t>INVESTOR APPENDIX · 04</a:t>
            </a:r>
          </a:p>
        </p:txBody>
      </p:sp>
      <p:sp>
        <p:nvSpPr>
          <p:cNvPr id="13" name="TextBox 12"/>
          <p:cNvSpPr txBox="1"/>
          <p:nvPr/>
        </p:nvSpPr>
        <p:spPr>
          <a:xfrm>
            <a:off x="6222305" y="2551609"/>
            <a:ext cx="2328962" cy="158750"/>
          </a:xfrm>
          <a:prstGeom prst="rect">
            <a:avLst/>
          </a:prstGeom>
          <a:noFill/>
        </p:spPr>
        <p:txBody>
          <a:bodyPr wrap="square" lIns="0" rIns="0" tIns="0" bIns="0">
            <a:spAutoFit/>
          </a:bodyPr>
          <a:lstStyle/>
          <a:p>
            <a:r>
              <a:rPr sz="1650" b="1" i="0">
                <a:solidFill>
                  <a:srgbClr val="111111"/>
                </a:solidFill>
                <a:latin typeface="Impact"/>
              </a:rPr>
              <a:t>50 / 50 profit split after recoupment</a:t>
            </a:r>
          </a:p>
        </p:txBody>
      </p:sp>
      <p:sp>
        <p:nvSpPr>
          <p:cNvPr id="14" name="TextBox 13"/>
          <p:cNvSpPr txBox="1"/>
          <p:nvPr/>
        </p:nvSpPr>
        <p:spPr>
          <a:xfrm>
            <a:off x="508000" y="6489700"/>
            <a:ext cx="3884910" cy="88900"/>
          </a:xfrm>
          <a:prstGeom prst="rect">
            <a:avLst/>
          </a:prstGeom>
          <a:noFill/>
        </p:spPr>
        <p:txBody>
          <a:bodyPr wrap="square" lIns="0" rIns="0" tIns="0" bIns="0">
            <a:spAutoFit/>
          </a:bodyPr>
          <a:lstStyle/>
          <a:p>
            <a:r>
              <a:rPr sz="900" b="0" i="0">
                <a:solidFill>
                  <a:srgbClr val="111111"/>
                </a:solidFill>
                <a:latin typeface="Arial"/>
              </a:rPr>
              <a:t>MISSION-ALIGNED CAPITAL STACK · INVESTOR PROTECTION BUILT IN</a:t>
            </a:r>
          </a:p>
        </p:txBody>
      </p:sp>
      <p:sp>
        <p:nvSpPr>
          <p:cNvPr id="15" name="TextBox 14"/>
          <p:cNvSpPr txBox="1"/>
          <p:nvPr/>
        </p:nvSpPr>
        <p:spPr>
          <a:xfrm>
            <a:off x="6222305" y="2178248"/>
            <a:ext cx="2852341" cy="120650"/>
          </a:xfrm>
          <a:prstGeom prst="rect">
            <a:avLst/>
          </a:prstGeom>
          <a:noFill/>
        </p:spPr>
        <p:txBody>
          <a:bodyPr wrap="square" lIns="0" rIns="0" tIns="0" bIns="0">
            <a:spAutoFit/>
          </a:bodyPr>
          <a:lstStyle/>
          <a:p>
            <a:r>
              <a:rPr sz="1275" b="0" i="1">
                <a:solidFill>
                  <a:srgbClr val="111111"/>
                </a:solidFill>
                <a:latin typeface="Playfair Display"/>
              </a:rPr>
              <a:t>Investor tier recoups at 1.2× before any profit distribution begins.</a:t>
            </a:r>
          </a:p>
        </p:txBody>
      </p:sp>
      <p:sp>
        <p:nvSpPr>
          <p:cNvPr id="16" name="TextBox 15"/>
          <p:cNvSpPr txBox="1"/>
          <p:nvPr/>
        </p:nvSpPr>
        <p:spPr>
          <a:xfrm>
            <a:off x="781050" y="3270448"/>
            <a:ext cx="2066330" cy="158750"/>
          </a:xfrm>
          <a:prstGeom prst="rect">
            <a:avLst/>
          </a:prstGeom>
          <a:noFill/>
        </p:spPr>
        <p:txBody>
          <a:bodyPr wrap="square" lIns="0" rIns="0" tIns="0" bIns="0">
            <a:spAutoFit/>
          </a:bodyPr>
          <a:lstStyle/>
          <a:p>
            <a:r>
              <a:rPr sz="1650" b="1" i="0">
                <a:solidFill>
                  <a:srgbClr val="111111"/>
                </a:solidFill>
                <a:latin typeface="Impact"/>
              </a:rPr>
              <a:t>INDIVIDUAL PHILANTHROPY</a:t>
            </a:r>
          </a:p>
        </p:txBody>
      </p:sp>
      <p:sp>
        <p:nvSpPr>
          <p:cNvPr id="17" name="TextBox 16"/>
          <p:cNvSpPr txBox="1"/>
          <p:nvPr/>
        </p:nvSpPr>
        <p:spPr>
          <a:xfrm>
            <a:off x="781050" y="2565598"/>
            <a:ext cx="1801118" cy="158750"/>
          </a:xfrm>
          <a:prstGeom prst="rect">
            <a:avLst/>
          </a:prstGeom>
          <a:noFill/>
        </p:spPr>
        <p:txBody>
          <a:bodyPr wrap="square" lIns="0" rIns="0" tIns="0" bIns="0">
            <a:spAutoFit/>
          </a:bodyPr>
          <a:lstStyle/>
          <a:p>
            <a:r>
              <a:rPr sz="1650" b="1" i="0">
                <a:solidFill>
                  <a:srgbClr val="111111"/>
                </a:solidFill>
                <a:latin typeface="Impact"/>
              </a:rPr>
              <a:t>INSTITUTIONAL GRANTS</a:t>
            </a:r>
          </a:p>
        </p:txBody>
      </p:sp>
      <p:sp>
        <p:nvSpPr>
          <p:cNvPr id="18" name="TextBox 17"/>
          <p:cNvSpPr txBox="1"/>
          <p:nvPr/>
        </p:nvSpPr>
        <p:spPr>
          <a:xfrm>
            <a:off x="781050" y="3975298"/>
            <a:ext cx="1727895" cy="158750"/>
          </a:xfrm>
          <a:prstGeom prst="rect">
            <a:avLst/>
          </a:prstGeom>
          <a:noFill/>
        </p:spPr>
        <p:txBody>
          <a:bodyPr wrap="square" lIns="0" rIns="0" tIns="0" bIns="0">
            <a:spAutoFit/>
          </a:bodyPr>
          <a:lstStyle/>
          <a:p>
            <a:r>
              <a:rPr sz="1650" b="1" i="0">
                <a:solidFill>
                  <a:srgbClr val="111111"/>
                </a:solidFill>
                <a:latin typeface="Impact"/>
              </a:rPr>
              <a:t>COMMUNITY &amp; EARNED</a:t>
            </a:r>
          </a:p>
        </p:txBody>
      </p:sp>
      <p:sp>
        <p:nvSpPr>
          <p:cNvPr id="19" name="TextBox 18"/>
          <p:cNvSpPr txBox="1"/>
          <p:nvPr/>
        </p:nvSpPr>
        <p:spPr>
          <a:xfrm>
            <a:off x="781050" y="1860748"/>
            <a:ext cx="1434802" cy="158750"/>
          </a:xfrm>
          <a:prstGeom prst="rect">
            <a:avLst/>
          </a:prstGeom>
          <a:noFill/>
        </p:spPr>
        <p:txBody>
          <a:bodyPr wrap="square" lIns="0" rIns="0" tIns="0" bIns="0">
            <a:spAutoFit/>
          </a:bodyPr>
          <a:lstStyle/>
          <a:p>
            <a:r>
              <a:rPr sz="1650" b="1" i="0">
                <a:solidFill>
                  <a:srgbClr val="111111"/>
                </a:solidFill>
                <a:latin typeface="Impact"/>
              </a:rPr>
              <a:t>INVESTOR CAPITAL</a:t>
            </a:r>
          </a:p>
        </p:txBody>
      </p:sp>
      <p:sp>
        <p:nvSpPr>
          <p:cNvPr id="20" name="TextBox 19"/>
          <p:cNvSpPr txBox="1"/>
          <p:nvPr/>
        </p:nvSpPr>
        <p:spPr>
          <a:xfrm>
            <a:off x="6222305" y="4183459"/>
            <a:ext cx="1389360" cy="158750"/>
          </a:xfrm>
          <a:prstGeom prst="rect">
            <a:avLst/>
          </a:prstGeom>
          <a:noFill/>
        </p:spPr>
        <p:txBody>
          <a:bodyPr wrap="square" lIns="0" rIns="0" tIns="0" bIns="0">
            <a:spAutoFit/>
          </a:bodyPr>
          <a:lstStyle/>
          <a:p>
            <a:r>
              <a:rPr sz="1650" b="1" i="0">
                <a:solidFill>
                  <a:srgbClr val="111111"/>
                </a:solidFill>
                <a:latin typeface="Impact"/>
              </a:rPr>
              <a:t>No royalty obligation</a:t>
            </a:r>
          </a:p>
        </p:txBody>
      </p:sp>
      <p:sp>
        <p:nvSpPr>
          <p:cNvPr id="21" name="Rectangle 20"/>
          <p:cNvSpPr/>
          <p:nvPr/>
        </p:nvSpPr>
        <p:spPr>
          <a:xfrm>
            <a:off x="615950" y="3733998"/>
            <a:ext cx="254595" cy="6985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1050" y="4165798"/>
            <a:ext cx="1527473" cy="101600"/>
          </a:xfrm>
          <a:prstGeom prst="rect">
            <a:avLst/>
          </a:prstGeom>
          <a:noFill/>
        </p:spPr>
        <p:txBody>
          <a:bodyPr wrap="square" lIns="0" rIns="0" tIns="0" bIns="0">
            <a:spAutoFit/>
          </a:bodyPr>
          <a:lstStyle/>
          <a:p>
            <a:r>
              <a:rPr sz="1125" b="0" i="1">
                <a:solidFill>
                  <a:srgbClr val="111111"/>
                </a:solidFill>
                <a:latin typeface="Playfair Display"/>
              </a:rPr>
              <a:t>Memberships · crowdfunding · pre-sales</a:t>
            </a:r>
          </a:p>
        </p:txBody>
      </p:sp>
      <p:sp>
        <p:nvSpPr>
          <p:cNvPr id="23" name="TextBox 22"/>
          <p:cNvSpPr txBox="1"/>
          <p:nvPr/>
        </p:nvSpPr>
        <p:spPr>
          <a:xfrm>
            <a:off x="781050" y="2756098"/>
            <a:ext cx="1509018" cy="101600"/>
          </a:xfrm>
          <a:prstGeom prst="rect">
            <a:avLst/>
          </a:prstGeom>
          <a:noFill/>
        </p:spPr>
        <p:txBody>
          <a:bodyPr wrap="square" lIns="0" rIns="0" tIns="0" bIns="0">
            <a:spAutoFit/>
          </a:bodyPr>
          <a:lstStyle/>
          <a:p>
            <a:r>
              <a:rPr sz="1125" b="0" i="1">
                <a:solidFill>
                  <a:srgbClr val="111111"/>
                </a:solidFill>
                <a:latin typeface="Playfair Display"/>
              </a:rPr>
              <a:t>NEA · Mellon · LADF · mission-aligned</a:t>
            </a:r>
          </a:p>
        </p:txBody>
      </p:sp>
      <p:sp>
        <p:nvSpPr>
          <p:cNvPr id="24" name="TextBox 23"/>
          <p:cNvSpPr txBox="1"/>
          <p:nvPr/>
        </p:nvSpPr>
        <p:spPr>
          <a:xfrm>
            <a:off x="6222305" y="1613098"/>
            <a:ext cx="1597422" cy="95250"/>
          </a:xfrm>
          <a:prstGeom prst="rect">
            <a:avLst/>
          </a:prstGeom>
          <a:noFill/>
        </p:spPr>
        <p:txBody>
          <a:bodyPr wrap="square" lIns="0" rIns="0" tIns="0" bIns="0">
            <a:spAutoFit/>
          </a:bodyPr>
          <a:lstStyle/>
          <a:p>
            <a:r>
              <a:rPr sz="975" b="1" i="0">
                <a:solidFill>
                  <a:srgbClr val="C9242A"/>
                </a:solidFill>
                <a:latin typeface="Arial"/>
              </a:rPr>
              <a:t>INVESTOR TIER · TERMS</a:t>
            </a:r>
          </a:p>
        </p:txBody>
      </p:sp>
      <p:sp>
        <p:nvSpPr>
          <p:cNvPr id="25" name="TextBox 24"/>
          <p:cNvSpPr txBox="1"/>
          <p:nvPr/>
        </p:nvSpPr>
        <p:spPr>
          <a:xfrm>
            <a:off x="5034459" y="1759148"/>
            <a:ext cx="508397" cy="279400"/>
          </a:xfrm>
          <a:prstGeom prst="rect">
            <a:avLst/>
          </a:prstGeom>
          <a:noFill/>
        </p:spPr>
        <p:txBody>
          <a:bodyPr wrap="square" lIns="0" rIns="0" tIns="0" bIns="0">
            <a:spAutoFit/>
          </a:bodyPr>
          <a:lstStyle/>
          <a:p>
            <a:pPr algn="r"/>
            <a:r>
              <a:rPr sz="3000" b="1" i="0">
                <a:solidFill>
                  <a:srgbClr val="C9242A"/>
                </a:solidFill>
                <a:latin typeface="Impact"/>
              </a:rPr>
              <a:t>55%</a:t>
            </a:r>
          </a:p>
        </p:txBody>
      </p:sp>
      <p:sp>
        <p:nvSpPr>
          <p:cNvPr id="26" name="TextBox 25"/>
          <p:cNvSpPr txBox="1"/>
          <p:nvPr/>
        </p:nvSpPr>
        <p:spPr>
          <a:xfrm>
            <a:off x="5034459" y="2463998"/>
            <a:ext cx="508397" cy="279400"/>
          </a:xfrm>
          <a:prstGeom prst="rect">
            <a:avLst/>
          </a:prstGeom>
          <a:noFill/>
        </p:spPr>
        <p:txBody>
          <a:bodyPr wrap="square" lIns="0" rIns="0" tIns="0" bIns="0">
            <a:spAutoFit/>
          </a:bodyPr>
          <a:lstStyle/>
          <a:p>
            <a:pPr algn="r"/>
            <a:r>
              <a:rPr sz="3000" b="1" i="0">
                <a:solidFill>
                  <a:srgbClr val="2E7D5F"/>
                </a:solidFill>
                <a:latin typeface="Impact"/>
              </a:rPr>
              <a:t>25%</a:t>
            </a:r>
          </a:p>
        </p:txBody>
      </p:sp>
      <p:sp>
        <p:nvSpPr>
          <p:cNvPr id="27" name="TextBox 26"/>
          <p:cNvSpPr txBox="1"/>
          <p:nvPr/>
        </p:nvSpPr>
        <p:spPr>
          <a:xfrm>
            <a:off x="5034459" y="3168848"/>
            <a:ext cx="508397" cy="279400"/>
          </a:xfrm>
          <a:prstGeom prst="rect">
            <a:avLst/>
          </a:prstGeom>
          <a:noFill/>
        </p:spPr>
        <p:txBody>
          <a:bodyPr wrap="square" lIns="0" rIns="0" tIns="0" bIns="0">
            <a:spAutoFit/>
          </a:bodyPr>
          <a:lstStyle/>
          <a:p>
            <a:pPr algn="r"/>
            <a:r>
              <a:rPr sz="3000" b="1" i="0">
                <a:solidFill>
                  <a:srgbClr val="A07B28"/>
                </a:solidFill>
                <a:latin typeface="Impact"/>
              </a:rPr>
              <a:t>15%</a:t>
            </a:r>
          </a:p>
        </p:txBody>
      </p:sp>
      <p:sp>
        <p:nvSpPr>
          <p:cNvPr id="28" name="TextBox 27"/>
          <p:cNvSpPr txBox="1"/>
          <p:nvPr/>
        </p:nvSpPr>
        <p:spPr>
          <a:xfrm>
            <a:off x="781050" y="3460948"/>
            <a:ext cx="1328440" cy="101600"/>
          </a:xfrm>
          <a:prstGeom prst="rect">
            <a:avLst/>
          </a:prstGeom>
          <a:noFill/>
        </p:spPr>
        <p:txBody>
          <a:bodyPr wrap="square" lIns="0" rIns="0" tIns="0" bIns="0">
            <a:spAutoFit/>
          </a:bodyPr>
          <a:lstStyle/>
          <a:p>
            <a:r>
              <a:rPr sz="1125" b="0" i="1">
                <a:solidFill>
                  <a:srgbClr val="111111"/>
                </a:solidFill>
                <a:latin typeface="Playfair Display"/>
              </a:rPr>
              <a:t>Named sponsorships &amp; major gifts</a:t>
            </a:r>
          </a:p>
        </p:txBody>
      </p:sp>
      <p:sp>
        <p:nvSpPr>
          <p:cNvPr id="29" name="TextBox 28"/>
          <p:cNvSpPr txBox="1"/>
          <p:nvPr/>
        </p:nvSpPr>
        <p:spPr>
          <a:xfrm>
            <a:off x="5175746" y="3873698"/>
            <a:ext cx="367109" cy="279400"/>
          </a:xfrm>
          <a:prstGeom prst="rect">
            <a:avLst/>
          </a:prstGeom>
          <a:noFill/>
        </p:spPr>
        <p:txBody>
          <a:bodyPr wrap="square" lIns="0" rIns="0" tIns="0" bIns="0">
            <a:spAutoFit/>
          </a:bodyPr>
          <a:lstStyle/>
          <a:p>
            <a:pPr algn="r"/>
            <a:r>
              <a:rPr sz="3000" b="1" i="0">
                <a:solidFill>
                  <a:srgbClr val="111111"/>
                </a:solidFill>
                <a:latin typeface="Impact"/>
              </a:rPr>
              <a:t>5%</a:t>
            </a:r>
          </a:p>
        </p:txBody>
      </p:sp>
      <p:sp>
        <p:nvSpPr>
          <p:cNvPr id="30" name="TextBox 29"/>
          <p:cNvSpPr txBox="1"/>
          <p:nvPr/>
        </p:nvSpPr>
        <p:spPr>
          <a:xfrm>
            <a:off x="781050" y="2051248"/>
            <a:ext cx="961231" cy="101600"/>
          </a:xfrm>
          <a:prstGeom prst="rect">
            <a:avLst/>
          </a:prstGeom>
          <a:noFill/>
        </p:spPr>
        <p:txBody>
          <a:bodyPr wrap="square" lIns="0" rIns="0" tIns="0" bIns="0">
            <a:spAutoFit/>
          </a:bodyPr>
          <a:lstStyle/>
          <a:p>
            <a:r>
              <a:rPr sz="1125" b="0" i="1">
                <a:solidFill>
                  <a:srgbClr val="111111"/>
                </a:solidFill>
                <a:latin typeface="Playfair Display"/>
              </a:rPr>
              <a:t>Recoupable · profit share</a:t>
            </a:r>
          </a:p>
        </p:txBody>
      </p:sp>
      <p:sp>
        <p:nvSpPr>
          <p:cNvPr id="31" name="TextBox 30"/>
          <p:cNvSpPr txBox="1"/>
          <p:nvPr/>
        </p:nvSpPr>
        <p:spPr>
          <a:xfrm>
            <a:off x="10729813" y="6489700"/>
            <a:ext cx="954187" cy="88900"/>
          </a:xfrm>
          <a:prstGeom prst="rect">
            <a:avLst/>
          </a:prstGeom>
          <a:noFill/>
        </p:spPr>
        <p:txBody>
          <a:bodyPr wrap="square" lIns="0" rIns="0" tIns="0" bIns="0">
            <a:spAutoFit/>
          </a:bodyPr>
          <a:lstStyle/>
          <a:p>
            <a:r>
              <a:rPr sz="900" b="0" i="0">
                <a:solidFill>
                  <a:srgbClr val="111111"/>
                </a:solidFill>
                <a:latin typeface="Arial"/>
              </a:rPr>
              <a:t>25 INVESTOR</a:t>
            </a:r>
          </a:p>
        </p:txBody>
      </p:sp>
      <p:sp>
        <p:nvSpPr>
          <p:cNvPr id="32" name="TextBox 31"/>
          <p:cNvSpPr txBox="1"/>
          <p:nvPr/>
        </p:nvSpPr>
        <p:spPr>
          <a:xfrm>
            <a:off x="5119390" y="2051248"/>
            <a:ext cx="423466" cy="114300"/>
          </a:xfrm>
          <a:prstGeom prst="rect">
            <a:avLst/>
          </a:prstGeom>
          <a:noFill/>
        </p:spPr>
        <p:txBody>
          <a:bodyPr wrap="square" lIns="0" rIns="0" tIns="0" bIns="0">
            <a:spAutoFit/>
          </a:bodyPr>
          <a:lstStyle/>
          <a:p>
            <a:pPr algn="r"/>
            <a:r>
              <a:rPr sz="1125" b="0" i="0">
                <a:solidFill>
                  <a:srgbClr val="111111"/>
                </a:solidFill>
                <a:latin typeface="Arial"/>
              </a:rPr>
              <a:t>$3.28M</a:t>
            </a:r>
          </a:p>
        </p:txBody>
      </p:sp>
      <p:sp>
        <p:nvSpPr>
          <p:cNvPr id="33" name="TextBox 32"/>
          <p:cNvSpPr txBox="1"/>
          <p:nvPr/>
        </p:nvSpPr>
        <p:spPr>
          <a:xfrm>
            <a:off x="5119390" y="2756098"/>
            <a:ext cx="423466" cy="114300"/>
          </a:xfrm>
          <a:prstGeom prst="rect">
            <a:avLst/>
          </a:prstGeom>
          <a:noFill/>
        </p:spPr>
        <p:txBody>
          <a:bodyPr wrap="square" lIns="0" rIns="0" tIns="0" bIns="0">
            <a:spAutoFit/>
          </a:bodyPr>
          <a:lstStyle/>
          <a:p>
            <a:pPr algn="r"/>
            <a:r>
              <a:rPr sz="1125" b="0" i="0">
                <a:solidFill>
                  <a:srgbClr val="111111"/>
                </a:solidFill>
                <a:latin typeface="Arial"/>
              </a:rPr>
              <a:t>$1.49M</a:t>
            </a:r>
          </a:p>
        </p:txBody>
      </p:sp>
      <p:sp>
        <p:nvSpPr>
          <p:cNvPr id="34" name="TextBox 33"/>
          <p:cNvSpPr txBox="1"/>
          <p:nvPr/>
        </p:nvSpPr>
        <p:spPr>
          <a:xfrm>
            <a:off x="5119390" y="3460948"/>
            <a:ext cx="423466" cy="114300"/>
          </a:xfrm>
          <a:prstGeom prst="rect">
            <a:avLst/>
          </a:prstGeom>
          <a:noFill/>
        </p:spPr>
        <p:txBody>
          <a:bodyPr wrap="square" lIns="0" rIns="0" tIns="0" bIns="0">
            <a:spAutoFit/>
          </a:bodyPr>
          <a:lstStyle/>
          <a:p>
            <a:pPr algn="r"/>
            <a:r>
              <a:rPr sz="1125" b="0" i="0">
                <a:solidFill>
                  <a:srgbClr val="111111"/>
                </a:solidFill>
                <a:latin typeface="Arial"/>
              </a:rPr>
              <a:t>$0.89M</a:t>
            </a:r>
          </a:p>
        </p:txBody>
      </p:sp>
      <p:sp>
        <p:nvSpPr>
          <p:cNvPr id="35" name="TextBox 34"/>
          <p:cNvSpPr txBox="1"/>
          <p:nvPr/>
        </p:nvSpPr>
        <p:spPr>
          <a:xfrm>
            <a:off x="5119390" y="4165798"/>
            <a:ext cx="423466" cy="114300"/>
          </a:xfrm>
          <a:prstGeom prst="rect">
            <a:avLst/>
          </a:prstGeom>
          <a:noFill/>
        </p:spPr>
        <p:txBody>
          <a:bodyPr wrap="square" lIns="0" rIns="0" tIns="0" bIns="0">
            <a:spAutoFit/>
          </a:bodyPr>
          <a:lstStyle/>
          <a:p>
            <a:pPr algn="r"/>
            <a:r>
              <a:rPr sz="1125" b="0" i="0">
                <a:solidFill>
                  <a:srgbClr val="111111"/>
                </a:solidFill>
                <a:latin typeface="Arial"/>
              </a:rPr>
              <a:t>$0.30M</a:t>
            </a:r>
          </a:p>
        </p:txBody>
      </p:sp>
      <p:sp>
        <p:nvSpPr>
          <p:cNvPr id="36" name="Rectangle 35"/>
          <p:cNvSpPr/>
          <p:nvPr/>
        </p:nvSpPr>
        <p:spPr>
          <a:xfrm>
            <a:off x="10978555" y="6511925"/>
            <a:ext cx="38100" cy="38100"/>
          </a:xfrm>
          <a:prstGeom prst="rect">
            <a:avLst/>
          </a:prstGeom>
          <a:solidFill>
            <a:srgbClr val="C924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4EFE6"/>
        </a:solidFill>
        <a:effectLst/>
      </p:bgPr>
    </p:bg>
    <p:spTree>
      <p:nvGrpSpPr>
        <p:cNvPr id="1" name=""/>
        <p:cNvGrpSpPr/>
        <p:nvPr/>
      </p:nvGrpSpPr>
      <p:grpSpPr/>
      <p:sp>
        <p:nvSpPr>
          <p:cNvPr id="2" name="TextBox 1"/>
          <p:cNvSpPr txBox="1"/>
          <p:nvPr/>
        </p:nvSpPr>
        <p:spPr>
          <a:xfrm>
            <a:off x="609600" y="577850"/>
            <a:ext cx="5545038" cy="793750"/>
          </a:xfrm>
          <a:prstGeom prst="rect">
            <a:avLst/>
          </a:prstGeom>
          <a:noFill/>
        </p:spPr>
        <p:txBody>
          <a:bodyPr wrap="square" lIns="0" rIns="0" tIns="0" bIns="0">
            <a:spAutoFit/>
          </a:bodyPr>
          <a:lstStyle/>
          <a:p>
            <a:r>
              <a:rPr sz="8400" b="1" i="0">
                <a:solidFill>
                  <a:srgbClr val="111111"/>
                </a:solidFill>
                <a:latin typeface="Impact"/>
              </a:rPr>
              <a:t>RECOUP PATHS.</a:t>
            </a:r>
          </a:p>
        </p:txBody>
      </p:sp>
      <p:sp>
        <p:nvSpPr>
          <p:cNvPr id="3" name="TextBox 2"/>
          <p:cNvSpPr txBox="1"/>
          <p:nvPr/>
        </p:nvSpPr>
        <p:spPr>
          <a:xfrm>
            <a:off x="8699698" y="727968"/>
            <a:ext cx="2882702" cy="549870"/>
          </a:xfrm>
          <a:prstGeom prst="rect">
            <a:avLst/>
          </a:prstGeom>
          <a:noFill/>
        </p:spPr>
        <p:txBody>
          <a:bodyPr wrap="square" lIns="0" rIns="0" tIns="0" bIns="0">
            <a:spAutoFit/>
          </a:bodyPr>
          <a:lstStyle/>
          <a:p>
            <a:pPr algn="r"/>
            <a:r>
              <a:rPr sz="1650" b="0" i="1">
                <a:solidFill>
                  <a:srgbClr val="111111"/>
                </a:solidFill>
                <a:latin typeface="Playfair Display"/>
              </a:rPr>
              <a:t>Weeks-to-recoup across capacity scenarios, against a 60-week run. Pilot demand suggests the upper band is achievable.</a:t>
            </a:r>
          </a:p>
        </p:txBody>
      </p:sp>
      <p:sp>
        <p:nvSpPr>
          <p:cNvPr id="4" name="TextBox 3"/>
          <p:cNvSpPr txBox="1"/>
          <p:nvPr/>
        </p:nvSpPr>
        <p:spPr>
          <a:xfrm>
            <a:off x="609600" y="5080198"/>
            <a:ext cx="5311080" cy="282575"/>
          </a:xfrm>
          <a:prstGeom prst="rect">
            <a:avLst/>
          </a:prstGeom>
          <a:noFill/>
        </p:spPr>
        <p:txBody>
          <a:bodyPr wrap="square" lIns="0" rIns="0" tIns="0" bIns="0">
            <a:spAutoFit/>
          </a:bodyPr>
          <a:lstStyle/>
          <a:p>
            <a:r>
              <a:rPr sz="1275" b="0" i="1">
                <a:solidFill>
                  <a:srgbClr val="111111"/>
                </a:solidFill>
                <a:latin typeface="Playfair Display"/>
              </a:rPr>
              <a:t>90% avg capacity ≈ 135 of 150 seats per show. Recoups the investor tier in 80 weeks — inside the 60-week LA run plus the first tour leg. Pilot at The Ford oversold a 1,000-seat house.</a:t>
            </a:r>
          </a:p>
        </p:txBody>
      </p:sp>
      <p:sp>
        <p:nvSpPr>
          <p:cNvPr id="5" name="TextBox 4"/>
          <p:cNvSpPr txBox="1"/>
          <p:nvPr/>
        </p:nvSpPr>
        <p:spPr>
          <a:xfrm>
            <a:off x="6223000" y="5080198"/>
            <a:ext cx="5138936" cy="282575"/>
          </a:xfrm>
          <a:prstGeom prst="rect">
            <a:avLst/>
          </a:prstGeom>
          <a:noFill/>
        </p:spPr>
        <p:txBody>
          <a:bodyPr wrap="square" lIns="0" rIns="0" tIns="0" bIns="0">
            <a:spAutoFit/>
          </a:bodyPr>
          <a:lstStyle/>
          <a:p>
            <a:r>
              <a:rPr sz="1275" b="0" i="1">
                <a:solidFill>
                  <a:srgbClr val="111111"/>
                </a:solidFill>
                <a:latin typeface="Playfair Display"/>
              </a:rPr>
              <a:t>Bar, gift shop, merch, group add-ons, corporate buyouts, and the "If I Awaken in…" franchise playbook (Chicago, New York, New Orleans) are conservatively excluded from these scenarios.</a:t>
            </a:r>
          </a:p>
        </p:txBody>
      </p:sp>
      <p:sp>
        <p:nvSpPr>
          <p:cNvPr id="6" name="TextBox 5"/>
          <p:cNvSpPr txBox="1"/>
          <p:nvPr/>
        </p:nvSpPr>
        <p:spPr>
          <a:xfrm>
            <a:off x="609600" y="406400"/>
            <a:ext cx="2415183" cy="158750"/>
          </a:xfrm>
          <a:prstGeom prst="rect">
            <a:avLst/>
          </a:prstGeom>
          <a:noFill/>
        </p:spPr>
        <p:txBody>
          <a:bodyPr wrap="square" lIns="0" rIns="0" tIns="0" bIns="0">
            <a:spAutoFit/>
          </a:bodyPr>
          <a:lstStyle/>
          <a:p>
            <a:r>
              <a:rPr sz="1650" b="1" i="0">
                <a:solidFill>
                  <a:srgbClr val="C9242A"/>
                </a:solidFill>
                <a:latin typeface="Impact"/>
              </a:rPr>
              <a:t>INVESTOR APPENDIX · 05</a:t>
            </a:r>
          </a:p>
        </p:txBody>
      </p:sp>
      <p:sp>
        <p:nvSpPr>
          <p:cNvPr id="7" name="TextBox 6"/>
          <p:cNvSpPr txBox="1"/>
          <p:nvPr/>
        </p:nvSpPr>
        <p:spPr>
          <a:xfrm>
            <a:off x="508000" y="6489700"/>
            <a:ext cx="3322836" cy="88900"/>
          </a:xfrm>
          <a:prstGeom prst="rect">
            <a:avLst/>
          </a:prstGeom>
          <a:noFill/>
        </p:spPr>
        <p:txBody>
          <a:bodyPr wrap="square" lIns="0" rIns="0" tIns="0" bIns="0">
            <a:spAutoFit/>
          </a:bodyPr>
          <a:lstStyle/>
          <a:p>
            <a:r>
              <a:rPr sz="900" b="0" i="0">
                <a:solidFill>
                  <a:srgbClr val="111111"/>
                </a:solidFill>
                <a:latin typeface="Arial"/>
              </a:rPr>
              <a:t>SCENARIOS EXCLUDE 15–25% ANCILLARY REVENUE UPSIDE</a:t>
            </a:r>
          </a:p>
        </p:txBody>
      </p:sp>
      <p:sp>
        <p:nvSpPr>
          <p:cNvPr id="8" name="TextBox 7"/>
          <p:cNvSpPr txBox="1"/>
          <p:nvPr/>
        </p:nvSpPr>
        <p:spPr>
          <a:xfrm>
            <a:off x="9704884" y="4238823"/>
            <a:ext cx="1877516" cy="107950"/>
          </a:xfrm>
          <a:prstGeom prst="rect">
            <a:avLst/>
          </a:prstGeom>
          <a:noFill/>
        </p:spPr>
        <p:txBody>
          <a:bodyPr wrap="square" lIns="0" rIns="0" tIns="0" bIns="0">
            <a:spAutoFit/>
          </a:bodyPr>
          <a:lstStyle/>
          <a:p>
            <a:pPr algn="r"/>
            <a:r>
              <a:rPr sz="1125" b="1" i="0">
                <a:solidFill>
                  <a:srgbClr val="111111"/>
                </a:solidFill>
                <a:latin typeface="Impact"/>
              </a:rPr>
              <a:t>OPERATING BREAKEVEN ONLY</a:t>
            </a:r>
          </a:p>
        </p:txBody>
      </p:sp>
      <p:sp>
        <p:nvSpPr>
          <p:cNvPr id="9" name="TextBox 8"/>
          <p:cNvSpPr txBox="1"/>
          <p:nvPr/>
        </p:nvSpPr>
        <p:spPr>
          <a:xfrm>
            <a:off x="9731772" y="3787973"/>
            <a:ext cx="1850628" cy="107950"/>
          </a:xfrm>
          <a:prstGeom prst="rect">
            <a:avLst/>
          </a:prstGeom>
          <a:noFill/>
        </p:spPr>
        <p:txBody>
          <a:bodyPr wrap="square" lIns="0" rIns="0" tIns="0" bIns="0">
            <a:spAutoFit/>
          </a:bodyPr>
          <a:lstStyle/>
          <a:p>
            <a:pPr algn="r"/>
            <a:r>
              <a:rPr sz="1125" b="1" i="0">
                <a:solidFill>
                  <a:srgbClr val="111111"/>
                </a:solidFill>
                <a:latin typeface="Impact"/>
              </a:rPr>
              <a:t>REQUIRES EXTENSION / TOUR</a:t>
            </a:r>
          </a:p>
        </p:txBody>
      </p:sp>
      <p:sp>
        <p:nvSpPr>
          <p:cNvPr id="10" name="TextBox 9"/>
          <p:cNvSpPr txBox="1"/>
          <p:nvPr/>
        </p:nvSpPr>
        <p:spPr>
          <a:xfrm>
            <a:off x="9806980" y="1981398"/>
            <a:ext cx="1775420" cy="107950"/>
          </a:xfrm>
          <a:prstGeom prst="rect">
            <a:avLst/>
          </a:prstGeom>
          <a:noFill/>
        </p:spPr>
        <p:txBody>
          <a:bodyPr wrap="square" lIns="0" rIns="0" tIns="0" bIns="0">
            <a:spAutoFit/>
          </a:bodyPr>
          <a:lstStyle/>
          <a:p>
            <a:pPr algn="r"/>
            <a:r>
              <a:rPr sz="1125" b="1" i="0">
                <a:solidFill>
                  <a:srgbClr val="2E7D5F"/>
                </a:solidFill>
                <a:latin typeface="Impact"/>
              </a:rPr>
              <a:t>✓ YES · + BAR/SHOP UPSIDE</a:t>
            </a:r>
          </a:p>
        </p:txBody>
      </p:sp>
      <p:sp>
        <p:nvSpPr>
          <p:cNvPr id="11" name="TextBox 10"/>
          <p:cNvSpPr txBox="1"/>
          <p:nvPr/>
        </p:nvSpPr>
        <p:spPr>
          <a:xfrm>
            <a:off x="10111383" y="3337123"/>
            <a:ext cx="1471017" cy="107950"/>
          </a:xfrm>
          <a:prstGeom prst="rect">
            <a:avLst/>
          </a:prstGeom>
          <a:noFill/>
        </p:spPr>
        <p:txBody>
          <a:bodyPr wrap="square" lIns="0" rIns="0" tIns="0" bIns="0">
            <a:spAutoFit/>
          </a:bodyPr>
          <a:lstStyle/>
          <a:p>
            <a:pPr algn="r"/>
            <a:r>
              <a:rPr sz="1125" b="1" i="0">
                <a:solidFill>
                  <a:srgbClr val="111111"/>
                </a:solidFill>
                <a:latin typeface="Impact"/>
              </a:rPr>
              <a:t>RUN + TOUR LICENSING</a:t>
            </a:r>
          </a:p>
        </p:txBody>
      </p:sp>
      <p:sp>
        <p:nvSpPr>
          <p:cNvPr id="12" name="TextBox 11"/>
          <p:cNvSpPr txBox="1"/>
          <p:nvPr/>
        </p:nvSpPr>
        <p:spPr>
          <a:xfrm>
            <a:off x="10342761" y="2886273"/>
            <a:ext cx="1239639" cy="107950"/>
          </a:xfrm>
          <a:prstGeom prst="rect">
            <a:avLst/>
          </a:prstGeom>
          <a:noFill/>
        </p:spPr>
        <p:txBody>
          <a:bodyPr wrap="square" lIns="0" rIns="0" tIns="0" bIns="0">
            <a:spAutoFit/>
          </a:bodyPr>
          <a:lstStyle/>
          <a:p>
            <a:pPr algn="r"/>
            <a:r>
              <a:rPr sz="1125" b="1" i="0">
                <a:solidFill>
                  <a:srgbClr val="111111"/>
                </a:solidFill>
                <a:latin typeface="Impact"/>
              </a:rPr>
              <a:t>WITHIN RUN + TOUR</a:t>
            </a:r>
          </a:p>
        </p:txBody>
      </p:sp>
      <p:sp>
        <p:nvSpPr>
          <p:cNvPr id="13" name="TextBox 12"/>
          <p:cNvSpPr txBox="1"/>
          <p:nvPr/>
        </p:nvSpPr>
        <p:spPr>
          <a:xfrm>
            <a:off x="6223000" y="4908748"/>
            <a:ext cx="1353741" cy="88900"/>
          </a:xfrm>
          <a:prstGeom prst="rect">
            <a:avLst/>
          </a:prstGeom>
          <a:noFill/>
        </p:spPr>
        <p:txBody>
          <a:bodyPr wrap="square" lIns="0" rIns="0" tIns="0" bIns="0">
            <a:spAutoFit/>
          </a:bodyPr>
          <a:lstStyle/>
          <a:p>
            <a:r>
              <a:rPr sz="900" b="1" i="0">
                <a:solidFill>
                  <a:srgbClr val="C9242A"/>
                </a:solidFill>
                <a:latin typeface="Arial"/>
              </a:rPr>
              <a:t>UPSIDE NOT MODELED</a:t>
            </a:r>
          </a:p>
        </p:txBody>
      </p:sp>
      <p:sp>
        <p:nvSpPr>
          <p:cNvPr id="14" name="TextBox 13"/>
          <p:cNvSpPr txBox="1"/>
          <p:nvPr/>
        </p:nvSpPr>
        <p:spPr>
          <a:xfrm>
            <a:off x="6737945" y="1613098"/>
            <a:ext cx="1348879" cy="88900"/>
          </a:xfrm>
          <a:prstGeom prst="rect">
            <a:avLst/>
          </a:prstGeom>
          <a:noFill/>
        </p:spPr>
        <p:txBody>
          <a:bodyPr wrap="square" lIns="0" rIns="0" tIns="0" bIns="0">
            <a:spAutoFit/>
          </a:bodyPr>
          <a:lstStyle/>
          <a:p>
            <a:pPr algn="r"/>
            <a:r>
              <a:rPr sz="900" b="0" i="0">
                <a:solidFill>
                  <a:srgbClr val="111111"/>
                </a:solidFill>
                <a:latin typeface="Arial"/>
              </a:rPr>
              <a:t>INVESTOR TIER RECOUP</a:t>
            </a:r>
          </a:p>
        </p:txBody>
      </p:sp>
      <p:sp>
        <p:nvSpPr>
          <p:cNvPr id="15" name="TextBox 14"/>
          <p:cNvSpPr txBox="1"/>
          <p:nvPr/>
        </p:nvSpPr>
        <p:spPr>
          <a:xfrm>
            <a:off x="609600" y="4184848"/>
            <a:ext cx="540246" cy="209550"/>
          </a:xfrm>
          <a:prstGeom prst="rect">
            <a:avLst/>
          </a:prstGeom>
          <a:noFill/>
        </p:spPr>
        <p:txBody>
          <a:bodyPr wrap="square" lIns="0" rIns="0" tIns="0" bIns="0">
            <a:spAutoFit/>
          </a:bodyPr>
          <a:lstStyle/>
          <a:p>
            <a:r>
              <a:rPr sz="2250" b="1" i="0">
                <a:solidFill>
                  <a:srgbClr val="111111"/>
                </a:solidFill>
                <a:latin typeface="Impact"/>
              </a:rPr>
              <a:t>64.1%</a:t>
            </a:r>
          </a:p>
        </p:txBody>
      </p:sp>
      <p:sp>
        <p:nvSpPr>
          <p:cNvPr id="16" name="TextBox 15"/>
          <p:cNvSpPr txBox="1"/>
          <p:nvPr/>
        </p:nvSpPr>
        <p:spPr>
          <a:xfrm>
            <a:off x="4902200" y="4216598"/>
            <a:ext cx="673497" cy="152400"/>
          </a:xfrm>
          <a:prstGeom prst="rect">
            <a:avLst/>
          </a:prstGeom>
          <a:noFill/>
        </p:spPr>
        <p:txBody>
          <a:bodyPr wrap="square" lIns="0" rIns="0" tIns="0" bIns="0">
            <a:spAutoFit/>
          </a:bodyPr>
          <a:lstStyle/>
          <a:p>
            <a:pPr algn="r"/>
            <a:r>
              <a:rPr sz="1500" b="0" i="0">
                <a:solidFill>
                  <a:srgbClr val="111111"/>
                </a:solidFill>
                <a:latin typeface="Arial"/>
              </a:rPr>
              <a:t>Breakeven</a:t>
            </a:r>
          </a:p>
        </p:txBody>
      </p:sp>
      <p:sp>
        <p:nvSpPr>
          <p:cNvPr id="17" name="TextBox 16"/>
          <p:cNvSpPr txBox="1"/>
          <p:nvPr/>
        </p:nvSpPr>
        <p:spPr>
          <a:xfrm>
            <a:off x="609600" y="2381448"/>
            <a:ext cx="487263" cy="209550"/>
          </a:xfrm>
          <a:prstGeom prst="rect">
            <a:avLst/>
          </a:prstGeom>
          <a:noFill/>
        </p:spPr>
        <p:txBody>
          <a:bodyPr wrap="square" lIns="0" rIns="0" tIns="0" bIns="0">
            <a:spAutoFit/>
          </a:bodyPr>
          <a:lstStyle/>
          <a:p>
            <a:r>
              <a:rPr sz="2250" b="1" i="0">
                <a:solidFill>
                  <a:srgbClr val="111111"/>
                </a:solidFill>
                <a:latin typeface="Impact"/>
              </a:rPr>
              <a:t>100%</a:t>
            </a:r>
          </a:p>
        </p:txBody>
      </p:sp>
      <p:sp>
        <p:nvSpPr>
          <p:cNvPr id="18" name="TextBox 17"/>
          <p:cNvSpPr txBox="1"/>
          <p:nvPr/>
        </p:nvSpPr>
        <p:spPr>
          <a:xfrm>
            <a:off x="609600" y="1930598"/>
            <a:ext cx="476746" cy="209550"/>
          </a:xfrm>
          <a:prstGeom prst="rect">
            <a:avLst/>
          </a:prstGeom>
          <a:noFill/>
        </p:spPr>
        <p:txBody>
          <a:bodyPr wrap="square" lIns="0" rIns="0" tIns="0" bIns="0">
            <a:spAutoFit/>
          </a:bodyPr>
          <a:lstStyle/>
          <a:p>
            <a:r>
              <a:rPr sz="2250" b="1" i="0">
                <a:solidFill>
                  <a:srgbClr val="111111"/>
                </a:solidFill>
                <a:latin typeface="Impact"/>
              </a:rPr>
              <a:t>110%</a:t>
            </a:r>
          </a:p>
        </p:txBody>
      </p:sp>
      <p:sp>
        <p:nvSpPr>
          <p:cNvPr id="19" name="TextBox 18"/>
          <p:cNvSpPr txBox="1"/>
          <p:nvPr/>
        </p:nvSpPr>
        <p:spPr>
          <a:xfrm>
            <a:off x="10499030" y="1613098"/>
            <a:ext cx="1083370" cy="88900"/>
          </a:xfrm>
          <a:prstGeom prst="rect">
            <a:avLst/>
          </a:prstGeom>
          <a:noFill/>
        </p:spPr>
        <p:txBody>
          <a:bodyPr wrap="square" lIns="0" rIns="0" tIns="0" bIns="0">
            <a:spAutoFit/>
          </a:bodyPr>
          <a:lstStyle/>
          <a:p>
            <a:pPr algn="r"/>
            <a:r>
              <a:rPr sz="900" b="0" i="0">
                <a:solidFill>
                  <a:srgbClr val="111111"/>
                </a:solidFill>
                <a:latin typeface="Arial"/>
              </a:rPr>
              <a:t>WITHIN 60-WK RUN</a:t>
            </a:r>
          </a:p>
        </p:txBody>
      </p:sp>
      <p:sp>
        <p:nvSpPr>
          <p:cNvPr id="20" name="TextBox 19"/>
          <p:cNvSpPr txBox="1"/>
          <p:nvPr/>
        </p:nvSpPr>
        <p:spPr>
          <a:xfrm>
            <a:off x="3083024" y="1962348"/>
            <a:ext cx="606028" cy="152400"/>
          </a:xfrm>
          <a:prstGeom prst="rect">
            <a:avLst/>
          </a:prstGeom>
          <a:noFill/>
        </p:spPr>
        <p:txBody>
          <a:bodyPr wrap="square" lIns="0" rIns="0" tIns="0" bIns="0">
            <a:spAutoFit/>
          </a:bodyPr>
          <a:lstStyle/>
          <a:p>
            <a:pPr algn="r"/>
            <a:r>
              <a:rPr sz="1500" b="0" i="0">
                <a:solidFill>
                  <a:srgbClr val="111111"/>
                </a:solidFill>
                <a:latin typeface="Arial"/>
              </a:rPr>
              <a:t>$179,300</a:t>
            </a:r>
          </a:p>
        </p:txBody>
      </p:sp>
      <p:sp>
        <p:nvSpPr>
          <p:cNvPr id="21" name="TextBox 20"/>
          <p:cNvSpPr txBox="1"/>
          <p:nvPr/>
        </p:nvSpPr>
        <p:spPr>
          <a:xfrm>
            <a:off x="3083024" y="2413198"/>
            <a:ext cx="606028" cy="152400"/>
          </a:xfrm>
          <a:prstGeom prst="rect">
            <a:avLst/>
          </a:prstGeom>
          <a:noFill/>
        </p:spPr>
        <p:txBody>
          <a:bodyPr wrap="square" lIns="0" rIns="0" tIns="0" bIns="0">
            <a:spAutoFit/>
          </a:bodyPr>
          <a:lstStyle/>
          <a:p>
            <a:pPr algn="r"/>
            <a:r>
              <a:rPr sz="1500" b="0" i="0">
                <a:solidFill>
                  <a:srgbClr val="111111"/>
                </a:solidFill>
                <a:latin typeface="Arial"/>
              </a:rPr>
              <a:t>$163,000</a:t>
            </a:r>
          </a:p>
        </p:txBody>
      </p:sp>
      <p:sp>
        <p:nvSpPr>
          <p:cNvPr id="22" name="TextBox 21"/>
          <p:cNvSpPr txBox="1"/>
          <p:nvPr/>
        </p:nvSpPr>
        <p:spPr>
          <a:xfrm>
            <a:off x="3083024" y="2864048"/>
            <a:ext cx="606028" cy="152400"/>
          </a:xfrm>
          <a:prstGeom prst="rect">
            <a:avLst/>
          </a:prstGeom>
          <a:noFill/>
        </p:spPr>
        <p:txBody>
          <a:bodyPr wrap="square" lIns="0" rIns="0" tIns="0" bIns="0">
            <a:spAutoFit/>
          </a:bodyPr>
          <a:lstStyle/>
          <a:p>
            <a:pPr algn="r"/>
            <a:r>
              <a:rPr sz="1500" b="0" i="0">
                <a:solidFill>
                  <a:srgbClr val="111111"/>
                </a:solidFill>
                <a:latin typeface="Arial"/>
              </a:rPr>
              <a:t>$146,700</a:t>
            </a:r>
          </a:p>
        </p:txBody>
      </p:sp>
      <p:sp>
        <p:nvSpPr>
          <p:cNvPr id="23" name="TextBox 22"/>
          <p:cNvSpPr txBox="1"/>
          <p:nvPr/>
        </p:nvSpPr>
        <p:spPr>
          <a:xfrm>
            <a:off x="3083024" y="3314898"/>
            <a:ext cx="606028" cy="152400"/>
          </a:xfrm>
          <a:prstGeom prst="rect">
            <a:avLst/>
          </a:prstGeom>
          <a:noFill/>
        </p:spPr>
        <p:txBody>
          <a:bodyPr wrap="square" lIns="0" rIns="0" tIns="0" bIns="0">
            <a:spAutoFit/>
          </a:bodyPr>
          <a:lstStyle/>
          <a:p>
            <a:pPr algn="r"/>
            <a:r>
              <a:rPr sz="1500" b="0" i="0">
                <a:solidFill>
                  <a:srgbClr val="111111"/>
                </a:solidFill>
                <a:latin typeface="Arial"/>
              </a:rPr>
              <a:t>$138,550</a:t>
            </a:r>
          </a:p>
        </p:txBody>
      </p:sp>
      <p:sp>
        <p:nvSpPr>
          <p:cNvPr id="24" name="TextBox 23"/>
          <p:cNvSpPr txBox="1"/>
          <p:nvPr/>
        </p:nvSpPr>
        <p:spPr>
          <a:xfrm>
            <a:off x="3083024" y="3765748"/>
            <a:ext cx="606028" cy="152400"/>
          </a:xfrm>
          <a:prstGeom prst="rect">
            <a:avLst/>
          </a:prstGeom>
          <a:noFill/>
        </p:spPr>
        <p:txBody>
          <a:bodyPr wrap="square" lIns="0" rIns="0" tIns="0" bIns="0">
            <a:spAutoFit/>
          </a:bodyPr>
          <a:lstStyle/>
          <a:p>
            <a:pPr algn="r"/>
            <a:r>
              <a:rPr sz="1500" b="0" i="0">
                <a:solidFill>
                  <a:srgbClr val="111111"/>
                </a:solidFill>
                <a:latin typeface="Arial"/>
              </a:rPr>
              <a:t>$130,400</a:t>
            </a:r>
          </a:p>
        </p:txBody>
      </p:sp>
      <p:sp>
        <p:nvSpPr>
          <p:cNvPr id="25" name="TextBox 24"/>
          <p:cNvSpPr txBox="1"/>
          <p:nvPr/>
        </p:nvSpPr>
        <p:spPr>
          <a:xfrm>
            <a:off x="3083024" y="4216598"/>
            <a:ext cx="606028" cy="152400"/>
          </a:xfrm>
          <a:prstGeom prst="rect">
            <a:avLst/>
          </a:prstGeom>
          <a:noFill/>
        </p:spPr>
        <p:txBody>
          <a:bodyPr wrap="square" lIns="0" rIns="0" tIns="0" bIns="0">
            <a:spAutoFit/>
          </a:bodyPr>
          <a:lstStyle/>
          <a:p>
            <a:pPr algn="r"/>
            <a:r>
              <a:rPr sz="1500" b="0" i="0">
                <a:solidFill>
                  <a:srgbClr val="111111"/>
                </a:solidFill>
                <a:latin typeface="Arial"/>
              </a:rPr>
              <a:t>$104,511</a:t>
            </a:r>
          </a:p>
        </p:txBody>
      </p:sp>
      <p:sp>
        <p:nvSpPr>
          <p:cNvPr id="26" name="TextBox 25"/>
          <p:cNvSpPr txBox="1"/>
          <p:nvPr/>
        </p:nvSpPr>
        <p:spPr>
          <a:xfrm>
            <a:off x="4562277" y="1613098"/>
            <a:ext cx="1013420" cy="88900"/>
          </a:xfrm>
          <a:prstGeom prst="rect">
            <a:avLst/>
          </a:prstGeom>
          <a:noFill/>
        </p:spPr>
        <p:txBody>
          <a:bodyPr wrap="square" lIns="0" rIns="0" tIns="0" bIns="0">
            <a:spAutoFit/>
          </a:bodyPr>
          <a:lstStyle/>
          <a:p>
            <a:pPr algn="r"/>
            <a:r>
              <a:rPr sz="900" b="0" i="0">
                <a:solidFill>
                  <a:srgbClr val="111111"/>
                </a:solidFill>
                <a:latin typeface="Arial"/>
              </a:rPr>
              <a:t>WEEKLY CONTRIB.</a:t>
            </a:r>
          </a:p>
        </p:txBody>
      </p:sp>
      <p:sp>
        <p:nvSpPr>
          <p:cNvPr id="27" name="TextBox 26"/>
          <p:cNvSpPr txBox="1"/>
          <p:nvPr/>
        </p:nvSpPr>
        <p:spPr>
          <a:xfrm>
            <a:off x="10729813" y="6489700"/>
            <a:ext cx="954187" cy="88900"/>
          </a:xfrm>
          <a:prstGeom prst="rect">
            <a:avLst/>
          </a:prstGeom>
          <a:noFill/>
        </p:spPr>
        <p:txBody>
          <a:bodyPr wrap="square" lIns="0" rIns="0" tIns="0" bIns="0">
            <a:spAutoFit/>
          </a:bodyPr>
          <a:lstStyle/>
          <a:p>
            <a:r>
              <a:rPr sz="900" b="0" i="0">
                <a:solidFill>
                  <a:srgbClr val="111111"/>
                </a:solidFill>
                <a:latin typeface="Arial"/>
              </a:rPr>
              <a:t>26 INVESTOR</a:t>
            </a:r>
          </a:p>
        </p:txBody>
      </p:sp>
      <p:sp>
        <p:nvSpPr>
          <p:cNvPr id="28" name="TextBox 27"/>
          <p:cNvSpPr txBox="1"/>
          <p:nvPr/>
        </p:nvSpPr>
        <p:spPr>
          <a:xfrm>
            <a:off x="7560469" y="3765748"/>
            <a:ext cx="526355" cy="152400"/>
          </a:xfrm>
          <a:prstGeom prst="rect">
            <a:avLst/>
          </a:prstGeom>
          <a:noFill/>
        </p:spPr>
        <p:txBody>
          <a:bodyPr wrap="square" lIns="0" rIns="0" tIns="0" bIns="0">
            <a:spAutoFit/>
          </a:bodyPr>
          <a:lstStyle/>
          <a:p>
            <a:pPr algn="r"/>
            <a:r>
              <a:rPr sz="1500" b="0" i="0">
                <a:solidFill>
                  <a:srgbClr val="111111"/>
                </a:solidFill>
                <a:latin typeface="Arial"/>
              </a:rPr>
              <a:t>131 wks</a:t>
            </a:r>
          </a:p>
        </p:txBody>
      </p:sp>
      <p:sp>
        <p:nvSpPr>
          <p:cNvPr id="29" name="TextBox 28"/>
          <p:cNvSpPr txBox="1"/>
          <p:nvPr/>
        </p:nvSpPr>
        <p:spPr>
          <a:xfrm>
            <a:off x="5050433" y="1962348"/>
            <a:ext cx="525264" cy="152400"/>
          </a:xfrm>
          <a:prstGeom prst="rect">
            <a:avLst/>
          </a:prstGeom>
          <a:noFill/>
        </p:spPr>
        <p:txBody>
          <a:bodyPr wrap="square" lIns="0" rIns="0" tIns="0" bIns="0">
            <a:spAutoFit/>
          </a:bodyPr>
          <a:lstStyle/>
          <a:p>
            <a:pPr algn="r"/>
            <a:r>
              <a:rPr sz="1500" b="0" i="0">
                <a:solidFill>
                  <a:srgbClr val="111111"/>
                </a:solidFill>
                <a:latin typeface="Arial"/>
              </a:rPr>
              <a:t>$72,546</a:t>
            </a:r>
          </a:p>
        </p:txBody>
      </p:sp>
      <p:sp>
        <p:nvSpPr>
          <p:cNvPr id="30" name="TextBox 29"/>
          <p:cNvSpPr txBox="1"/>
          <p:nvPr/>
        </p:nvSpPr>
        <p:spPr>
          <a:xfrm>
            <a:off x="5050433" y="2413198"/>
            <a:ext cx="525264" cy="152400"/>
          </a:xfrm>
          <a:prstGeom prst="rect">
            <a:avLst/>
          </a:prstGeom>
          <a:noFill/>
        </p:spPr>
        <p:txBody>
          <a:bodyPr wrap="square" lIns="0" rIns="0" tIns="0" bIns="0">
            <a:spAutoFit/>
          </a:bodyPr>
          <a:lstStyle/>
          <a:p>
            <a:pPr algn="r"/>
            <a:r>
              <a:rPr sz="1500" b="0" i="0">
                <a:solidFill>
                  <a:srgbClr val="111111"/>
                </a:solidFill>
                <a:latin typeface="Arial"/>
              </a:rPr>
              <a:t>$56,734</a:t>
            </a:r>
          </a:p>
        </p:txBody>
      </p:sp>
      <p:sp>
        <p:nvSpPr>
          <p:cNvPr id="31" name="TextBox 30"/>
          <p:cNvSpPr txBox="1"/>
          <p:nvPr/>
        </p:nvSpPr>
        <p:spPr>
          <a:xfrm>
            <a:off x="5050433" y="2864048"/>
            <a:ext cx="525264" cy="152400"/>
          </a:xfrm>
          <a:prstGeom prst="rect">
            <a:avLst/>
          </a:prstGeom>
          <a:noFill/>
        </p:spPr>
        <p:txBody>
          <a:bodyPr wrap="square" lIns="0" rIns="0" tIns="0" bIns="0">
            <a:spAutoFit/>
          </a:bodyPr>
          <a:lstStyle/>
          <a:p>
            <a:pPr algn="r"/>
            <a:r>
              <a:rPr sz="1500" b="0" i="0">
                <a:solidFill>
                  <a:srgbClr val="111111"/>
                </a:solidFill>
                <a:latin typeface="Arial"/>
              </a:rPr>
              <a:t>$40,924</a:t>
            </a:r>
          </a:p>
        </p:txBody>
      </p:sp>
      <p:sp>
        <p:nvSpPr>
          <p:cNvPr id="32" name="TextBox 31"/>
          <p:cNvSpPr txBox="1"/>
          <p:nvPr/>
        </p:nvSpPr>
        <p:spPr>
          <a:xfrm>
            <a:off x="5050433" y="3314898"/>
            <a:ext cx="525264" cy="152400"/>
          </a:xfrm>
          <a:prstGeom prst="rect">
            <a:avLst/>
          </a:prstGeom>
          <a:noFill/>
        </p:spPr>
        <p:txBody>
          <a:bodyPr wrap="square" lIns="0" rIns="0" tIns="0" bIns="0">
            <a:spAutoFit/>
          </a:bodyPr>
          <a:lstStyle/>
          <a:p>
            <a:pPr algn="r"/>
            <a:r>
              <a:rPr sz="1500" b="0" i="0">
                <a:solidFill>
                  <a:srgbClr val="111111"/>
                </a:solidFill>
                <a:latin typeface="Arial"/>
              </a:rPr>
              <a:t>$33,018</a:t>
            </a:r>
          </a:p>
        </p:txBody>
      </p:sp>
      <p:sp>
        <p:nvSpPr>
          <p:cNvPr id="33" name="TextBox 32"/>
          <p:cNvSpPr txBox="1"/>
          <p:nvPr/>
        </p:nvSpPr>
        <p:spPr>
          <a:xfrm>
            <a:off x="5050433" y="3765748"/>
            <a:ext cx="525264" cy="152400"/>
          </a:xfrm>
          <a:prstGeom prst="rect">
            <a:avLst/>
          </a:prstGeom>
          <a:noFill/>
        </p:spPr>
        <p:txBody>
          <a:bodyPr wrap="square" lIns="0" rIns="0" tIns="0" bIns="0">
            <a:spAutoFit/>
          </a:bodyPr>
          <a:lstStyle/>
          <a:p>
            <a:pPr algn="r"/>
            <a:r>
              <a:rPr sz="1500" b="0" i="0">
                <a:solidFill>
                  <a:srgbClr val="111111"/>
                </a:solidFill>
                <a:latin typeface="Arial"/>
              </a:rPr>
              <a:t>$25,113</a:t>
            </a:r>
          </a:p>
        </p:txBody>
      </p:sp>
      <p:sp>
        <p:nvSpPr>
          <p:cNvPr id="34" name="TextBox 33"/>
          <p:cNvSpPr txBox="1"/>
          <p:nvPr/>
        </p:nvSpPr>
        <p:spPr>
          <a:xfrm>
            <a:off x="711200" y="2832298"/>
            <a:ext cx="381298" cy="209550"/>
          </a:xfrm>
          <a:prstGeom prst="rect">
            <a:avLst/>
          </a:prstGeom>
          <a:noFill/>
        </p:spPr>
        <p:txBody>
          <a:bodyPr wrap="square" lIns="0" rIns="0" tIns="0" bIns="0">
            <a:spAutoFit/>
          </a:bodyPr>
          <a:lstStyle/>
          <a:p>
            <a:r>
              <a:rPr sz="2250" b="1" i="0">
                <a:solidFill>
                  <a:srgbClr val="C9242A"/>
                </a:solidFill>
                <a:latin typeface="Impact"/>
              </a:rPr>
              <a:t>90%</a:t>
            </a:r>
          </a:p>
        </p:txBody>
      </p:sp>
      <p:sp>
        <p:nvSpPr>
          <p:cNvPr id="35" name="TextBox 34"/>
          <p:cNvSpPr txBox="1"/>
          <p:nvPr/>
        </p:nvSpPr>
        <p:spPr>
          <a:xfrm>
            <a:off x="609600" y="3283148"/>
            <a:ext cx="381298" cy="209550"/>
          </a:xfrm>
          <a:prstGeom prst="rect">
            <a:avLst/>
          </a:prstGeom>
          <a:noFill/>
        </p:spPr>
        <p:txBody>
          <a:bodyPr wrap="square" lIns="0" rIns="0" tIns="0" bIns="0">
            <a:spAutoFit/>
          </a:bodyPr>
          <a:lstStyle/>
          <a:p>
            <a:r>
              <a:rPr sz="2250" b="1" i="0">
                <a:solidFill>
                  <a:srgbClr val="111111"/>
                </a:solidFill>
                <a:latin typeface="Impact"/>
              </a:rPr>
              <a:t>85%</a:t>
            </a:r>
          </a:p>
        </p:txBody>
      </p:sp>
      <p:sp>
        <p:nvSpPr>
          <p:cNvPr id="36" name="TextBox 35"/>
          <p:cNvSpPr txBox="1"/>
          <p:nvPr/>
        </p:nvSpPr>
        <p:spPr>
          <a:xfrm>
            <a:off x="609600" y="3733998"/>
            <a:ext cx="381298" cy="209550"/>
          </a:xfrm>
          <a:prstGeom prst="rect">
            <a:avLst/>
          </a:prstGeom>
          <a:noFill/>
        </p:spPr>
        <p:txBody>
          <a:bodyPr wrap="square" lIns="0" rIns="0" tIns="0" bIns="0">
            <a:spAutoFit/>
          </a:bodyPr>
          <a:lstStyle/>
          <a:p>
            <a:r>
              <a:rPr sz="2250" b="1" i="0">
                <a:solidFill>
                  <a:srgbClr val="111111"/>
                </a:solidFill>
                <a:latin typeface="Impact"/>
              </a:rPr>
              <a:t>80%</a:t>
            </a:r>
          </a:p>
        </p:txBody>
      </p:sp>
      <p:sp>
        <p:nvSpPr>
          <p:cNvPr id="37" name="TextBox 36"/>
          <p:cNvSpPr txBox="1"/>
          <p:nvPr/>
        </p:nvSpPr>
        <p:spPr>
          <a:xfrm>
            <a:off x="2839541" y="1613098"/>
            <a:ext cx="849511" cy="88900"/>
          </a:xfrm>
          <a:prstGeom prst="rect">
            <a:avLst/>
          </a:prstGeom>
          <a:noFill/>
        </p:spPr>
        <p:txBody>
          <a:bodyPr wrap="square" lIns="0" rIns="0" tIns="0" bIns="0">
            <a:spAutoFit/>
          </a:bodyPr>
          <a:lstStyle/>
          <a:p>
            <a:pPr algn="r"/>
            <a:r>
              <a:rPr sz="900" b="0" i="0">
                <a:solidFill>
                  <a:srgbClr val="111111"/>
                </a:solidFill>
                <a:latin typeface="Arial"/>
              </a:rPr>
              <a:t>WEEKLY GROSS</a:t>
            </a:r>
          </a:p>
        </p:txBody>
      </p:sp>
      <p:sp>
        <p:nvSpPr>
          <p:cNvPr id="38" name="TextBox 37"/>
          <p:cNvSpPr txBox="1"/>
          <p:nvPr/>
        </p:nvSpPr>
        <p:spPr>
          <a:xfrm>
            <a:off x="609600" y="1613098"/>
            <a:ext cx="804664" cy="88900"/>
          </a:xfrm>
          <a:prstGeom prst="rect">
            <a:avLst/>
          </a:prstGeom>
          <a:noFill/>
        </p:spPr>
        <p:txBody>
          <a:bodyPr wrap="square" lIns="0" rIns="0" tIns="0" bIns="0">
            <a:spAutoFit/>
          </a:bodyPr>
          <a:lstStyle/>
          <a:p>
            <a:r>
              <a:rPr sz="900" b="0" i="0">
                <a:solidFill>
                  <a:srgbClr val="111111"/>
                </a:solidFill>
                <a:latin typeface="Arial"/>
              </a:rPr>
              <a:t>AVG CAPACITY</a:t>
            </a:r>
          </a:p>
        </p:txBody>
      </p:sp>
      <p:sp>
        <p:nvSpPr>
          <p:cNvPr id="39" name="TextBox 38"/>
          <p:cNvSpPr txBox="1"/>
          <p:nvPr/>
        </p:nvSpPr>
        <p:spPr>
          <a:xfrm>
            <a:off x="7641233" y="1962348"/>
            <a:ext cx="445591" cy="152400"/>
          </a:xfrm>
          <a:prstGeom prst="rect">
            <a:avLst/>
          </a:prstGeom>
          <a:noFill/>
        </p:spPr>
        <p:txBody>
          <a:bodyPr wrap="square" lIns="0" rIns="0" tIns="0" bIns="0">
            <a:spAutoFit/>
          </a:bodyPr>
          <a:lstStyle/>
          <a:p>
            <a:pPr algn="r"/>
            <a:r>
              <a:rPr sz="1500" b="0" i="0">
                <a:solidFill>
                  <a:srgbClr val="111111"/>
                </a:solidFill>
                <a:latin typeface="Arial"/>
              </a:rPr>
              <a:t>45 wks</a:t>
            </a:r>
          </a:p>
        </p:txBody>
      </p:sp>
      <p:sp>
        <p:nvSpPr>
          <p:cNvPr id="40" name="TextBox 39"/>
          <p:cNvSpPr txBox="1"/>
          <p:nvPr/>
        </p:nvSpPr>
        <p:spPr>
          <a:xfrm>
            <a:off x="7641233" y="2413198"/>
            <a:ext cx="445591" cy="152400"/>
          </a:xfrm>
          <a:prstGeom prst="rect">
            <a:avLst/>
          </a:prstGeom>
          <a:noFill/>
        </p:spPr>
        <p:txBody>
          <a:bodyPr wrap="square" lIns="0" rIns="0" tIns="0" bIns="0">
            <a:spAutoFit/>
          </a:bodyPr>
          <a:lstStyle/>
          <a:p>
            <a:pPr algn="r"/>
            <a:r>
              <a:rPr sz="1500" b="0" i="0">
                <a:solidFill>
                  <a:srgbClr val="111111"/>
                </a:solidFill>
                <a:latin typeface="Arial"/>
              </a:rPr>
              <a:t>58 wks</a:t>
            </a:r>
          </a:p>
        </p:txBody>
      </p:sp>
      <p:sp>
        <p:nvSpPr>
          <p:cNvPr id="41" name="TextBox 40"/>
          <p:cNvSpPr txBox="1"/>
          <p:nvPr/>
        </p:nvSpPr>
        <p:spPr>
          <a:xfrm>
            <a:off x="7641233" y="2864048"/>
            <a:ext cx="445591" cy="152400"/>
          </a:xfrm>
          <a:prstGeom prst="rect">
            <a:avLst/>
          </a:prstGeom>
          <a:noFill/>
        </p:spPr>
        <p:txBody>
          <a:bodyPr wrap="square" lIns="0" rIns="0" tIns="0" bIns="0">
            <a:spAutoFit/>
          </a:bodyPr>
          <a:lstStyle/>
          <a:p>
            <a:pPr algn="r"/>
            <a:r>
              <a:rPr sz="1500" b="0" i="0">
                <a:solidFill>
                  <a:srgbClr val="111111"/>
                </a:solidFill>
                <a:latin typeface="Arial"/>
              </a:rPr>
              <a:t>80 wks</a:t>
            </a:r>
          </a:p>
        </p:txBody>
      </p:sp>
      <p:sp>
        <p:nvSpPr>
          <p:cNvPr id="42" name="TextBox 41"/>
          <p:cNvSpPr txBox="1"/>
          <p:nvPr/>
        </p:nvSpPr>
        <p:spPr>
          <a:xfrm>
            <a:off x="7641233" y="3314898"/>
            <a:ext cx="445591" cy="152400"/>
          </a:xfrm>
          <a:prstGeom prst="rect">
            <a:avLst/>
          </a:prstGeom>
          <a:noFill/>
        </p:spPr>
        <p:txBody>
          <a:bodyPr wrap="square" lIns="0" rIns="0" tIns="0" bIns="0">
            <a:spAutoFit/>
          </a:bodyPr>
          <a:lstStyle/>
          <a:p>
            <a:pPr algn="r"/>
            <a:r>
              <a:rPr sz="1500" b="0" i="0">
                <a:solidFill>
                  <a:srgbClr val="111111"/>
                </a:solidFill>
                <a:latin typeface="Arial"/>
              </a:rPr>
              <a:t>99 wks</a:t>
            </a:r>
          </a:p>
        </p:txBody>
      </p:sp>
      <p:sp>
        <p:nvSpPr>
          <p:cNvPr id="43" name="TextBox 42"/>
          <p:cNvSpPr txBox="1"/>
          <p:nvPr/>
        </p:nvSpPr>
        <p:spPr>
          <a:xfrm>
            <a:off x="609600" y="4908748"/>
            <a:ext cx="664369" cy="88900"/>
          </a:xfrm>
          <a:prstGeom prst="rect">
            <a:avLst/>
          </a:prstGeom>
          <a:noFill/>
        </p:spPr>
        <p:txBody>
          <a:bodyPr wrap="square" lIns="0" rIns="0" tIns="0" bIns="0">
            <a:spAutoFit/>
          </a:bodyPr>
          <a:lstStyle/>
          <a:p>
            <a:r>
              <a:rPr sz="900" b="1" i="0">
                <a:solidFill>
                  <a:srgbClr val="C9242A"/>
                </a:solidFill>
                <a:latin typeface="Arial"/>
              </a:rPr>
              <a:t>BASE CASE</a:t>
            </a:r>
          </a:p>
        </p:txBody>
      </p:sp>
      <p:sp>
        <p:nvSpPr>
          <p:cNvPr id="44" name="TextBox 43"/>
          <p:cNvSpPr txBox="1"/>
          <p:nvPr/>
        </p:nvSpPr>
        <p:spPr>
          <a:xfrm>
            <a:off x="11198721" y="2432248"/>
            <a:ext cx="383679" cy="107950"/>
          </a:xfrm>
          <a:prstGeom prst="rect">
            <a:avLst/>
          </a:prstGeom>
          <a:noFill/>
        </p:spPr>
        <p:txBody>
          <a:bodyPr wrap="square" lIns="0" rIns="0" tIns="0" bIns="0">
            <a:spAutoFit/>
          </a:bodyPr>
          <a:lstStyle/>
          <a:p>
            <a:pPr algn="r"/>
            <a:r>
              <a:rPr sz="1125" b="1" i="0">
                <a:solidFill>
                  <a:srgbClr val="2E7D5F"/>
                </a:solidFill>
                <a:latin typeface="Impact"/>
              </a:rPr>
              <a:t>✓ YES</a:t>
            </a:r>
          </a:p>
        </p:txBody>
      </p:sp>
      <p:sp>
        <p:nvSpPr>
          <p:cNvPr id="45" name="TextBox 44"/>
          <p:cNvSpPr txBox="1"/>
          <p:nvPr/>
        </p:nvSpPr>
        <p:spPr>
          <a:xfrm>
            <a:off x="7959824" y="4216598"/>
            <a:ext cx="127000" cy="152400"/>
          </a:xfrm>
          <a:prstGeom prst="rect">
            <a:avLst/>
          </a:prstGeom>
          <a:noFill/>
        </p:spPr>
        <p:txBody>
          <a:bodyPr wrap="square" lIns="0" rIns="0" tIns="0" bIns="0">
            <a:spAutoFit/>
          </a:bodyPr>
          <a:lstStyle/>
          <a:p>
            <a:pPr algn="r"/>
            <a:r>
              <a:rPr sz="1500" b="0" i="0">
                <a:solidFill>
                  <a:srgbClr val="111111"/>
                </a:solidFill>
                <a:latin typeface="Arial"/>
              </a:rPr>
              <a:t>—</a:t>
            </a:r>
          </a:p>
        </p:txBody>
      </p:sp>
      <p:sp>
        <p:nvSpPr>
          <p:cNvPr id="46" name="Rectangle 45"/>
          <p:cNvSpPr/>
          <p:nvPr/>
        </p:nvSpPr>
        <p:spPr>
          <a:xfrm>
            <a:off x="10978555" y="6511925"/>
            <a:ext cx="38100" cy="38100"/>
          </a:xfrm>
          <a:prstGeom prst="rect">
            <a:avLst/>
          </a:prstGeom>
          <a:solidFill>
            <a:srgbClr val="C924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C0C0C"/>
        </a:solidFill>
        <a:effectLst/>
      </p:bgPr>
    </p:bg>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762000" y="1732459"/>
            <a:ext cx="5686723" cy="3306961"/>
          </a:xfrm>
          <a:prstGeom prst="rect">
            <a:avLst/>
          </a:prstGeom>
          <a:noFill/>
        </p:spPr>
        <p:txBody>
          <a:bodyPr wrap="square" lIns="0" rIns="0" tIns="0" bIns="0">
            <a:spAutoFit/>
          </a:bodyPr>
          <a:lstStyle/>
          <a:p>
            <a:r>
              <a:rPr sz="13500" b="1" i="0">
                <a:solidFill>
                  <a:srgbClr val="F4EFE6"/>
                </a:solidFill>
                <a:latin typeface="Impact"/>
              </a:rPr>
              <a:t>THE LAND REMEMBERS US.</a:t>
            </a:r>
          </a:p>
        </p:txBody>
      </p:sp>
      <p:sp>
        <p:nvSpPr>
          <p:cNvPr id="4" name="TextBox 3"/>
          <p:cNvSpPr txBox="1"/>
          <p:nvPr/>
        </p:nvSpPr>
        <p:spPr>
          <a:xfrm>
            <a:off x="762000" y="5137150"/>
            <a:ext cx="4921548" cy="457200"/>
          </a:xfrm>
          <a:prstGeom prst="rect">
            <a:avLst/>
          </a:prstGeom>
          <a:noFill/>
        </p:spPr>
        <p:txBody>
          <a:bodyPr wrap="square" lIns="0" rIns="0" tIns="0" bIns="0">
            <a:spAutoFit/>
          </a:bodyPr>
          <a:lstStyle/>
          <a:p>
            <a:r>
              <a:rPr sz="2250" b="0" i="1">
                <a:solidFill>
                  <a:srgbClr val="F4EFE6"/>
                </a:solidFill>
                <a:latin typeface="Playfair Display"/>
              </a:rPr>
              <a:t>Join us at 539 S Mission Road — for the most honest tour of Los Angeles you will ever take.</a:t>
            </a:r>
          </a:p>
        </p:txBody>
      </p:sp>
      <p:sp>
        <p:nvSpPr>
          <p:cNvPr id="5" name="TextBox 4"/>
          <p:cNvSpPr txBox="1"/>
          <p:nvPr/>
        </p:nvSpPr>
        <p:spPr>
          <a:xfrm>
            <a:off x="762000" y="1573709"/>
            <a:ext cx="3781623" cy="139700"/>
          </a:xfrm>
          <a:prstGeom prst="rect">
            <a:avLst/>
          </a:prstGeom>
          <a:noFill/>
        </p:spPr>
        <p:txBody>
          <a:bodyPr wrap="square" lIns="0" rIns="0" tIns="0" bIns="0">
            <a:spAutoFit/>
          </a:bodyPr>
          <a:lstStyle/>
          <a:p>
            <a:r>
              <a:rPr sz="1500" b="1" i="0">
                <a:solidFill>
                  <a:srgbClr val="C9242A"/>
                </a:solidFill>
                <a:latin typeface="Impact"/>
              </a:rPr>
              <a:t>RESERVE YOUR NIGHT · OPENS JUNE 2027</a:t>
            </a:r>
          </a:p>
        </p:txBody>
      </p:sp>
      <p:sp>
        <p:nvSpPr>
          <p:cNvPr id="6" name="TextBox 5"/>
          <p:cNvSpPr txBox="1"/>
          <p:nvPr/>
        </p:nvSpPr>
        <p:spPr>
          <a:xfrm>
            <a:off x="8041283" y="4675188"/>
            <a:ext cx="792659" cy="506611"/>
          </a:xfrm>
          <a:prstGeom prst="rect">
            <a:avLst/>
          </a:prstGeom>
          <a:noFill/>
        </p:spPr>
        <p:txBody>
          <a:bodyPr wrap="square" lIns="0" rIns="0" tIns="0" bIns="0">
            <a:spAutoFit/>
          </a:bodyPr>
          <a:lstStyle/>
          <a:p>
            <a:r>
              <a:rPr sz="1800" b="1" i="0">
                <a:solidFill>
                  <a:srgbClr val="F4EFE6"/>
                </a:solidFill>
                <a:latin typeface="Impact"/>
              </a:rPr>
              <a:t>GET LIT — WORDS IGNITE</a:t>
            </a:r>
          </a:p>
        </p:txBody>
      </p:sp>
      <p:sp>
        <p:nvSpPr>
          <p:cNvPr id="7" name="Rectangle 6"/>
          <p:cNvSpPr/>
          <p:nvPr/>
        </p:nvSpPr>
        <p:spPr>
          <a:xfrm>
            <a:off x="762000" y="5892800"/>
            <a:ext cx="1183084" cy="330200"/>
          </a:xfrm>
          <a:prstGeom prst="rect">
            <a:avLst/>
          </a:prstGeom>
          <a:solidFill>
            <a:srgbClr val="C924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1283" y="3796506"/>
            <a:ext cx="921246" cy="339030"/>
          </a:xfrm>
          <a:prstGeom prst="rect">
            <a:avLst/>
          </a:prstGeom>
          <a:noFill/>
        </p:spPr>
        <p:txBody>
          <a:bodyPr wrap="square" lIns="0" rIns="0" tIns="0" bIns="0">
            <a:spAutoFit/>
          </a:bodyPr>
          <a:lstStyle/>
          <a:p>
            <a:r>
              <a:rPr sz="1800" b="1" i="0">
                <a:solidFill>
                  <a:srgbClr val="F4EFE6"/>
                </a:solidFill>
                <a:latin typeface="Impact"/>
              </a:rPr>
              <a:t>539 S MISSION RD</a:t>
            </a:r>
          </a:p>
        </p:txBody>
      </p:sp>
      <p:sp>
        <p:nvSpPr>
          <p:cNvPr id="9" name="TextBox 8"/>
          <p:cNvSpPr txBox="1"/>
          <p:nvPr/>
        </p:nvSpPr>
        <p:spPr>
          <a:xfrm>
            <a:off x="508000" y="6489700"/>
            <a:ext cx="3335933" cy="88900"/>
          </a:xfrm>
          <a:prstGeom prst="rect">
            <a:avLst/>
          </a:prstGeom>
          <a:noFill/>
        </p:spPr>
        <p:txBody>
          <a:bodyPr wrap="square" lIns="0" rIns="0" tIns="0" bIns="0">
            <a:spAutoFit/>
          </a:bodyPr>
          <a:lstStyle/>
          <a:p>
            <a:r>
              <a:rPr sz="900" b="0" i="0">
                <a:solidFill>
                  <a:srgbClr val="F4EFE6"/>
                </a:solidFill>
                <a:latin typeface="Arial"/>
              </a:rPr>
              <a:t>© 2026 · THE AWAKEN COMPANY · MADE ON TONGVA LAND</a:t>
            </a:r>
          </a:p>
        </p:txBody>
      </p:sp>
      <p:sp>
        <p:nvSpPr>
          <p:cNvPr id="10" name="TextBox 9"/>
          <p:cNvSpPr txBox="1"/>
          <p:nvPr/>
        </p:nvSpPr>
        <p:spPr>
          <a:xfrm>
            <a:off x="10319345" y="3796506"/>
            <a:ext cx="774303" cy="339030"/>
          </a:xfrm>
          <a:prstGeom prst="rect">
            <a:avLst/>
          </a:prstGeom>
          <a:noFill/>
        </p:spPr>
        <p:txBody>
          <a:bodyPr wrap="square" lIns="0" rIns="0" tIns="0" bIns="0">
            <a:spAutoFit/>
          </a:bodyPr>
          <a:lstStyle/>
          <a:p>
            <a:r>
              <a:rPr sz="1800" b="1" i="0">
                <a:solidFill>
                  <a:srgbClr val="F4EFE6"/>
                </a:solidFill>
                <a:latin typeface="Impact"/>
              </a:rPr>
              <a:t>ANDREW SCOVILLE</a:t>
            </a:r>
          </a:p>
        </p:txBody>
      </p:sp>
      <p:sp>
        <p:nvSpPr>
          <p:cNvPr id="11" name="TextBox 10"/>
          <p:cNvSpPr txBox="1"/>
          <p:nvPr/>
        </p:nvSpPr>
        <p:spPr>
          <a:xfrm>
            <a:off x="10319345" y="4675188"/>
            <a:ext cx="705048" cy="339030"/>
          </a:xfrm>
          <a:prstGeom prst="rect">
            <a:avLst/>
          </a:prstGeom>
          <a:noFill/>
        </p:spPr>
        <p:txBody>
          <a:bodyPr wrap="square" lIns="0" rIns="0" tIns="0" bIns="0">
            <a:spAutoFit/>
          </a:bodyPr>
          <a:lstStyle/>
          <a:p>
            <a:r>
              <a:rPr sz="1800" b="1" i="0">
                <a:solidFill>
                  <a:srgbClr val="F4EFE6"/>
                </a:solidFill>
                <a:latin typeface="Impact"/>
              </a:rPr>
              <a:t>DERRICK HODGE</a:t>
            </a:r>
          </a:p>
        </p:txBody>
      </p:sp>
      <p:sp>
        <p:nvSpPr>
          <p:cNvPr id="12" name="TextBox 11"/>
          <p:cNvSpPr txBox="1"/>
          <p:nvPr/>
        </p:nvSpPr>
        <p:spPr>
          <a:xfrm>
            <a:off x="10319345" y="4157067"/>
            <a:ext cx="1045270" cy="186035"/>
          </a:xfrm>
          <a:prstGeom prst="rect">
            <a:avLst/>
          </a:prstGeom>
          <a:noFill/>
        </p:spPr>
        <p:txBody>
          <a:bodyPr wrap="square" lIns="0" rIns="0" tIns="0" bIns="0">
            <a:spAutoFit/>
          </a:bodyPr>
          <a:lstStyle/>
          <a:p>
            <a:r>
              <a:rPr sz="975" b="0" i="0">
                <a:solidFill>
                  <a:srgbClr val="F4EFE6"/>
                </a:solidFill>
                <a:latin typeface="Arial"/>
              </a:rPr>
              <a:t>Here Lies Love · Theater of the Mind</a:t>
            </a:r>
          </a:p>
        </p:txBody>
      </p:sp>
      <p:sp>
        <p:nvSpPr>
          <p:cNvPr id="13" name="TextBox 12"/>
          <p:cNvSpPr txBox="1"/>
          <p:nvPr/>
        </p:nvSpPr>
        <p:spPr>
          <a:xfrm>
            <a:off x="10319345" y="5721449"/>
            <a:ext cx="1110555" cy="171450"/>
          </a:xfrm>
          <a:prstGeom prst="rect">
            <a:avLst/>
          </a:prstGeom>
          <a:noFill/>
        </p:spPr>
        <p:txBody>
          <a:bodyPr wrap="square" lIns="0" rIns="0" tIns="0" bIns="0">
            <a:spAutoFit/>
          </a:bodyPr>
          <a:lstStyle/>
          <a:p>
            <a:r>
              <a:rPr sz="1800" b="1" i="0">
                <a:solidFill>
                  <a:srgbClr val="F4EFE6"/>
                </a:solidFill>
                <a:latin typeface="Impact"/>
              </a:rPr>
              <a:t>IFIAWAKEN.LA</a:t>
            </a:r>
          </a:p>
        </p:txBody>
      </p:sp>
      <p:sp>
        <p:nvSpPr>
          <p:cNvPr id="14" name="TextBox 13"/>
          <p:cNvSpPr txBox="1"/>
          <p:nvPr/>
        </p:nvSpPr>
        <p:spPr>
          <a:xfrm>
            <a:off x="10319345" y="5035748"/>
            <a:ext cx="968177" cy="186035"/>
          </a:xfrm>
          <a:prstGeom prst="rect">
            <a:avLst/>
          </a:prstGeom>
          <a:noFill/>
        </p:spPr>
        <p:txBody>
          <a:bodyPr wrap="square" lIns="0" rIns="0" tIns="0" bIns="0">
            <a:spAutoFit/>
          </a:bodyPr>
          <a:lstStyle/>
          <a:p>
            <a:r>
              <a:rPr sz="975" b="0" i="0">
                <a:solidFill>
                  <a:srgbClr val="F4EFE6"/>
                </a:solidFill>
                <a:latin typeface="Arial"/>
              </a:rPr>
              <a:t>Grammy-winning · live album out now</a:t>
            </a:r>
          </a:p>
        </p:txBody>
      </p:sp>
      <p:sp>
        <p:nvSpPr>
          <p:cNvPr id="15" name="TextBox 14"/>
          <p:cNvSpPr txBox="1"/>
          <p:nvPr/>
        </p:nvSpPr>
        <p:spPr>
          <a:xfrm>
            <a:off x="8041283" y="5914430"/>
            <a:ext cx="944066" cy="186035"/>
          </a:xfrm>
          <a:prstGeom prst="rect">
            <a:avLst/>
          </a:prstGeom>
          <a:noFill/>
        </p:spPr>
        <p:txBody>
          <a:bodyPr wrap="square" lIns="0" rIns="0" tIns="0" bIns="0">
            <a:spAutoFit/>
          </a:bodyPr>
          <a:lstStyle/>
          <a:p>
            <a:r>
              <a:rPr sz="975" b="0" i="0">
                <a:solidFill>
                  <a:srgbClr val="F4EFE6"/>
                </a:solidFill>
                <a:latin typeface="Arial"/>
              </a:rPr>
              <a:t>No intermission in the final movement</a:t>
            </a:r>
          </a:p>
        </p:txBody>
      </p:sp>
      <p:sp>
        <p:nvSpPr>
          <p:cNvPr id="16" name="TextBox 15"/>
          <p:cNvSpPr txBox="1"/>
          <p:nvPr/>
        </p:nvSpPr>
        <p:spPr>
          <a:xfrm>
            <a:off x="10319345" y="5914430"/>
            <a:ext cx="745530" cy="186035"/>
          </a:xfrm>
          <a:prstGeom prst="rect">
            <a:avLst/>
          </a:prstGeom>
          <a:noFill/>
        </p:spPr>
        <p:txBody>
          <a:bodyPr wrap="square" lIns="0" rIns="0" tIns="0" bIns="0">
            <a:spAutoFit/>
          </a:bodyPr>
          <a:lstStyle/>
          <a:p>
            <a:r>
              <a:rPr sz="975" b="0" i="0">
                <a:solidFill>
                  <a:srgbClr val="F4EFE6"/>
                </a:solidFill>
                <a:latin typeface="Arial"/>
              </a:rPr>
              <a:t>@ifiawaken · [email protected]</a:t>
            </a:r>
          </a:p>
        </p:txBody>
      </p:sp>
      <p:sp>
        <p:nvSpPr>
          <p:cNvPr id="17" name="TextBox 16"/>
          <p:cNvSpPr txBox="1"/>
          <p:nvPr/>
        </p:nvSpPr>
        <p:spPr>
          <a:xfrm>
            <a:off x="8041283" y="5203329"/>
            <a:ext cx="743148" cy="186035"/>
          </a:xfrm>
          <a:prstGeom prst="rect">
            <a:avLst/>
          </a:prstGeom>
          <a:noFill/>
        </p:spPr>
        <p:txBody>
          <a:bodyPr wrap="square" lIns="0" rIns="0" tIns="0" bIns="0">
            <a:spAutoFit/>
          </a:bodyPr>
          <a:lstStyle/>
          <a:p>
            <a:r>
              <a:rPr sz="975" b="0" i="0">
                <a:solidFill>
                  <a:srgbClr val="F4EFE6"/>
                </a:solidFill>
                <a:latin typeface="Arial"/>
              </a:rPr>
              <a:t>Diane Luby Lane, founder</a:t>
            </a:r>
          </a:p>
        </p:txBody>
      </p:sp>
      <p:sp>
        <p:nvSpPr>
          <p:cNvPr id="18" name="TextBox 17"/>
          <p:cNvSpPr txBox="1"/>
          <p:nvPr/>
        </p:nvSpPr>
        <p:spPr>
          <a:xfrm>
            <a:off x="8041283" y="5721449"/>
            <a:ext cx="668834" cy="171450"/>
          </a:xfrm>
          <a:prstGeom prst="rect">
            <a:avLst/>
          </a:prstGeom>
          <a:noFill/>
        </p:spPr>
        <p:txBody>
          <a:bodyPr wrap="square" lIns="0" rIns="0" tIns="0" bIns="0">
            <a:spAutoFit/>
          </a:bodyPr>
          <a:lstStyle/>
          <a:p>
            <a:r>
              <a:rPr sz="1800" b="1" i="0">
                <a:solidFill>
                  <a:srgbClr val="F4EFE6"/>
                </a:solidFill>
                <a:latin typeface="Impact"/>
              </a:rPr>
              <a:t>~110 MIN</a:t>
            </a:r>
          </a:p>
        </p:txBody>
      </p:sp>
      <p:sp>
        <p:nvSpPr>
          <p:cNvPr id="19" name="TextBox 18"/>
          <p:cNvSpPr txBox="1"/>
          <p:nvPr/>
        </p:nvSpPr>
        <p:spPr>
          <a:xfrm>
            <a:off x="2230834" y="6000750"/>
            <a:ext cx="945555" cy="107950"/>
          </a:xfrm>
          <a:prstGeom prst="rect">
            <a:avLst/>
          </a:prstGeom>
          <a:noFill/>
        </p:spPr>
        <p:txBody>
          <a:bodyPr wrap="square" lIns="0" rIns="0" tIns="0" bIns="0">
            <a:spAutoFit/>
          </a:bodyPr>
          <a:lstStyle/>
          <a:p>
            <a:pPr algn="ctr"/>
            <a:r>
              <a:rPr sz="1200" b="1" i="0">
                <a:solidFill>
                  <a:srgbClr val="F4EFE6"/>
                </a:solidFill>
                <a:latin typeface="Impact"/>
              </a:rPr>
              <a:t>MAILING LIST</a:t>
            </a:r>
          </a:p>
        </p:txBody>
      </p:sp>
      <p:sp>
        <p:nvSpPr>
          <p:cNvPr id="20" name="TextBox 19"/>
          <p:cNvSpPr txBox="1"/>
          <p:nvPr/>
        </p:nvSpPr>
        <p:spPr>
          <a:xfrm>
            <a:off x="946150" y="6000750"/>
            <a:ext cx="814784" cy="107950"/>
          </a:xfrm>
          <a:prstGeom prst="rect">
            <a:avLst/>
          </a:prstGeom>
          <a:noFill/>
        </p:spPr>
        <p:txBody>
          <a:bodyPr wrap="square" lIns="0" rIns="0" tIns="0" bIns="0">
            <a:spAutoFit/>
          </a:bodyPr>
          <a:lstStyle/>
          <a:p>
            <a:pPr algn="ctr"/>
            <a:r>
              <a:rPr sz="1200" b="1" i="0">
                <a:solidFill>
                  <a:srgbClr val="FFFFFF"/>
                </a:solidFill>
                <a:latin typeface="Impact"/>
              </a:rPr>
              <a:t>RESERVE →</a:t>
            </a:r>
          </a:p>
        </p:txBody>
      </p:sp>
      <p:sp>
        <p:nvSpPr>
          <p:cNvPr id="21" name="TextBox 20"/>
          <p:cNvSpPr txBox="1"/>
          <p:nvPr/>
        </p:nvSpPr>
        <p:spPr>
          <a:xfrm>
            <a:off x="3646289" y="6000750"/>
            <a:ext cx="737592" cy="107950"/>
          </a:xfrm>
          <a:prstGeom prst="rect">
            <a:avLst/>
          </a:prstGeom>
          <a:noFill/>
        </p:spPr>
        <p:txBody>
          <a:bodyPr wrap="square" lIns="0" rIns="0" tIns="0" bIns="0">
            <a:spAutoFit/>
          </a:bodyPr>
          <a:lstStyle/>
          <a:p>
            <a:pPr algn="ctr"/>
            <a:r>
              <a:rPr sz="1200" b="1" i="0">
                <a:solidFill>
                  <a:srgbClr val="F4EFE6"/>
                </a:solidFill>
                <a:latin typeface="Impact"/>
              </a:rPr>
              <a:t>PRESS KIT</a:t>
            </a:r>
          </a:p>
        </p:txBody>
      </p:sp>
      <p:sp>
        <p:nvSpPr>
          <p:cNvPr id="22" name="TextBox 21"/>
          <p:cNvSpPr txBox="1"/>
          <p:nvPr/>
        </p:nvSpPr>
        <p:spPr>
          <a:xfrm>
            <a:off x="10792023" y="6489700"/>
            <a:ext cx="891977" cy="88900"/>
          </a:xfrm>
          <a:prstGeom prst="rect">
            <a:avLst/>
          </a:prstGeom>
          <a:noFill/>
        </p:spPr>
        <p:txBody>
          <a:bodyPr wrap="square" lIns="0" rIns="0" tIns="0" bIns="0">
            <a:spAutoFit/>
          </a:bodyPr>
          <a:lstStyle/>
          <a:p>
            <a:r>
              <a:rPr sz="900" b="0" i="0">
                <a:solidFill>
                  <a:srgbClr val="F4EFE6"/>
                </a:solidFill>
                <a:latin typeface="Arial"/>
              </a:rPr>
              <a:t>27 RESERVE</a:t>
            </a:r>
          </a:p>
        </p:txBody>
      </p:sp>
      <p:sp>
        <p:nvSpPr>
          <p:cNvPr id="23" name="TextBox 22"/>
          <p:cNvSpPr txBox="1"/>
          <p:nvPr/>
        </p:nvSpPr>
        <p:spPr>
          <a:xfrm>
            <a:off x="8041283" y="4157067"/>
            <a:ext cx="730647" cy="95250"/>
          </a:xfrm>
          <a:prstGeom prst="rect">
            <a:avLst/>
          </a:prstGeom>
          <a:noFill/>
        </p:spPr>
        <p:txBody>
          <a:bodyPr wrap="square" lIns="0" rIns="0" tIns="0" bIns="0">
            <a:spAutoFit/>
          </a:bodyPr>
          <a:lstStyle/>
          <a:p>
            <a:r>
              <a:rPr sz="975" b="0" i="0">
                <a:solidFill>
                  <a:srgbClr val="F4EFE6"/>
                </a:solidFill>
                <a:latin typeface="Arial"/>
              </a:rPr>
              <a:t>Opens June 2027</a:t>
            </a:r>
          </a:p>
        </p:txBody>
      </p:sp>
      <p:sp>
        <p:nvSpPr>
          <p:cNvPr id="24" name="TextBox 23"/>
          <p:cNvSpPr txBox="1"/>
          <p:nvPr/>
        </p:nvSpPr>
        <p:spPr>
          <a:xfrm>
            <a:off x="9290645" y="5797649"/>
            <a:ext cx="625872" cy="82550"/>
          </a:xfrm>
          <a:prstGeom prst="rect">
            <a:avLst/>
          </a:prstGeom>
          <a:noFill/>
        </p:spPr>
        <p:txBody>
          <a:bodyPr wrap="square" lIns="0" rIns="0" tIns="0" bIns="0">
            <a:spAutoFit/>
          </a:bodyPr>
          <a:lstStyle/>
          <a:p>
            <a:r>
              <a:rPr sz="825" b="1" i="0">
                <a:solidFill>
                  <a:srgbClr val="F4EFE6"/>
                </a:solidFill>
                <a:latin typeface="Arial"/>
              </a:rPr>
              <a:t>ELSEWHERE</a:t>
            </a:r>
          </a:p>
        </p:txBody>
      </p:sp>
      <p:sp>
        <p:nvSpPr>
          <p:cNvPr id="25" name="TextBox 24"/>
          <p:cNvSpPr txBox="1"/>
          <p:nvPr/>
        </p:nvSpPr>
        <p:spPr>
          <a:xfrm>
            <a:off x="7012583" y="3872706"/>
            <a:ext cx="576759" cy="82550"/>
          </a:xfrm>
          <a:prstGeom prst="rect">
            <a:avLst/>
          </a:prstGeom>
          <a:noFill/>
        </p:spPr>
        <p:txBody>
          <a:bodyPr wrap="square" lIns="0" rIns="0" tIns="0" bIns="0">
            <a:spAutoFit/>
          </a:bodyPr>
          <a:lstStyle/>
          <a:p>
            <a:r>
              <a:rPr sz="825" b="1" i="0">
                <a:solidFill>
                  <a:srgbClr val="F4EFE6"/>
                </a:solidFill>
                <a:latin typeface="Arial"/>
              </a:rPr>
              <a:t>NEW HOME</a:t>
            </a:r>
          </a:p>
        </p:txBody>
      </p:sp>
      <p:sp>
        <p:nvSpPr>
          <p:cNvPr id="26" name="TextBox 25"/>
          <p:cNvSpPr txBox="1"/>
          <p:nvPr/>
        </p:nvSpPr>
        <p:spPr>
          <a:xfrm>
            <a:off x="9290645" y="4751388"/>
            <a:ext cx="576659" cy="82550"/>
          </a:xfrm>
          <a:prstGeom prst="rect">
            <a:avLst/>
          </a:prstGeom>
          <a:noFill/>
        </p:spPr>
        <p:txBody>
          <a:bodyPr wrap="square" lIns="0" rIns="0" tIns="0" bIns="0">
            <a:spAutoFit/>
          </a:bodyPr>
          <a:lstStyle/>
          <a:p>
            <a:r>
              <a:rPr sz="825" b="1" i="0">
                <a:solidFill>
                  <a:srgbClr val="F4EFE6"/>
                </a:solidFill>
                <a:latin typeface="Arial"/>
              </a:rPr>
              <a:t>COMPOSER</a:t>
            </a:r>
          </a:p>
        </p:txBody>
      </p:sp>
      <p:sp>
        <p:nvSpPr>
          <p:cNvPr id="27" name="TextBox 26"/>
          <p:cNvSpPr txBox="1"/>
          <p:nvPr/>
        </p:nvSpPr>
        <p:spPr>
          <a:xfrm>
            <a:off x="7012583" y="4751388"/>
            <a:ext cx="565944" cy="82550"/>
          </a:xfrm>
          <a:prstGeom prst="rect">
            <a:avLst/>
          </a:prstGeom>
          <a:noFill/>
        </p:spPr>
        <p:txBody>
          <a:bodyPr wrap="square" lIns="0" rIns="0" tIns="0" bIns="0">
            <a:spAutoFit/>
          </a:bodyPr>
          <a:lstStyle/>
          <a:p>
            <a:r>
              <a:rPr sz="825" b="1" i="0">
                <a:solidFill>
                  <a:srgbClr val="F4EFE6"/>
                </a:solidFill>
                <a:latin typeface="Arial"/>
              </a:rPr>
              <a:t>PRODUCER</a:t>
            </a:r>
          </a:p>
        </p:txBody>
      </p:sp>
      <p:sp>
        <p:nvSpPr>
          <p:cNvPr id="28" name="TextBox 27"/>
          <p:cNvSpPr txBox="1"/>
          <p:nvPr/>
        </p:nvSpPr>
        <p:spPr>
          <a:xfrm>
            <a:off x="9290645" y="3872706"/>
            <a:ext cx="531713" cy="82550"/>
          </a:xfrm>
          <a:prstGeom prst="rect">
            <a:avLst/>
          </a:prstGeom>
          <a:noFill/>
        </p:spPr>
        <p:txBody>
          <a:bodyPr wrap="square" lIns="0" rIns="0" tIns="0" bIns="0">
            <a:spAutoFit/>
          </a:bodyPr>
          <a:lstStyle/>
          <a:p>
            <a:r>
              <a:rPr sz="825" b="1" i="0">
                <a:solidFill>
                  <a:srgbClr val="F4EFE6"/>
                </a:solidFill>
                <a:latin typeface="Arial"/>
              </a:rPr>
              <a:t>DIRECTOR</a:t>
            </a:r>
          </a:p>
        </p:txBody>
      </p:sp>
      <p:sp>
        <p:nvSpPr>
          <p:cNvPr id="29" name="TextBox 28"/>
          <p:cNvSpPr txBox="1"/>
          <p:nvPr/>
        </p:nvSpPr>
        <p:spPr>
          <a:xfrm>
            <a:off x="7012583" y="5797649"/>
            <a:ext cx="219273" cy="82550"/>
          </a:xfrm>
          <a:prstGeom prst="rect">
            <a:avLst/>
          </a:prstGeom>
          <a:noFill/>
        </p:spPr>
        <p:txBody>
          <a:bodyPr wrap="square" lIns="0" rIns="0" tIns="0" bIns="0">
            <a:spAutoFit/>
          </a:bodyPr>
          <a:lstStyle/>
          <a:p>
            <a:r>
              <a:rPr sz="825" b="1" i="0">
                <a:solidFill>
                  <a:srgbClr val="F4EFE6"/>
                </a:solidFill>
                <a:latin typeface="Arial"/>
              </a:rPr>
              <a:t>RUN</a:t>
            </a:r>
          </a:p>
        </p:txBody>
      </p:sp>
      <p:sp>
        <p:nvSpPr>
          <p:cNvPr id="30" name="Rectangle 29"/>
          <p:cNvSpPr/>
          <p:nvPr/>
        </p:nvSpPr>
        <p:spPr>
          <a:xfrm>
            <a:off x="11040765" y="6511925"/>
            <a:ext cx="38100" cy="38100"/>
          </a:xfrm>
          <a:prstGeom prst="rect">
            <a:avLst/>
          </a:prstGeom>
          <a:solidFill>
            <a:srgbClr val="C924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